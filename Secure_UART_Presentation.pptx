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Our project is a secure UART communication system: a UART link with a hardware AES-128 encryption engine and a CRC-16/XMODEM error-detection engine, all written as RTL. Today we will walk through why we built it, what exists in the literature, how we designed and verified each block, the problems we hit, what we achieved and where it goes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agenda follows the six points we were asked to cover: motivation, literature review, the development journey from architecture to verification, problems and solutions, the outcome, and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goes in as plaintext, is encrypted by AES-128, a CRC-16 is computed over the ciphertext, and the 18-byte result is sent byte by byte through the UART. The dashed box on the right, decrypting and CRC-checking at the receiver, is what we list as future work; the UART receiver itself is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Reasons for choosing the project. A plain UART link has no confidentiality and no real error detection. We wanted to close both gaps directly in hardware, and at the same time practice coordinating three very different blocks: a serial protocol, a block cipher and an error-detection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 matters. Putting the cipher and the checksum in hardware means the link is protected without involving a CPU. The design is modular and parameterized, so each block can be reused or ported to an FPGA or an ASIC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papers embed or evaluate AES on serial links, and prior UART-plus-CRC work shows that a CRC is far better than parity for burst errors. We took the idea of putting the cipher in the serial path, the iterative area-saving AES architecture, the ciphertext-plus-CRC frame convention, and the CRC-16/XMODEM parameter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edge is the coordination: three blocks that can each be verified alone, joined by a clear start/busy/done protocol and a top-level FSM. The honest trade-offs: it is encryption-only for now, the frame format is minimal, CRC is not authentication, and we have not yet run post-synthesis timing, area or power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workflow was the same for every block: write the RTL, build a testbench, check the waveforms, and only then integrate. The following slides follow this order: architecture, UART, AES, CRC,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a transmit pipeline: AES, then CRC, then framing, then UART. The protected payload is 18 bytes: 16 bytes of ciphertext sent most-significant byte first, followed by the two CRC bytes, high byte then low byte. The top-level controller does the width conversion between 128-bit, 16-bit and 8-bit worlds.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UART is byte oriented, while AES works on 128 bits and the CRC returns 16 bits, so the top-level controller has to serialize everything into bytes. The UART uses the standard 8-N-1 frame at 9600 baud from a 50 MHz clock. busy stops a new byte from overwriting the one being sent; done lets the controller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Transmitter: two states, IDLE and ON. It builds a 10-bit frame and shifts one bit out per baud tick. Receiver: it detects the falling edge of the start bit, waits one and a half bit periods so it samples in the middle of the first data bit, then samples every bit period. If the stop bit is not high, it flags a framing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UART testbench loops the transmitter back into the receiver and sends three byte patterns: A5, 55 and FF. In the waveform you can see tx data and rx data both equal A5, done_rx asserted, and err_rx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AES-128 takes a 128-bit block and a 128-bit key. The key schedule expands the master key into eleven round keys. There is an initial AddRoundKey, nine full rounds of SubBytes, ShiftRows, MixColumns and AddRoundKey, and a final round without MixColumns.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AES core is an FSM: IDLE, LOAD, KEY_EXPANSION, INITIAL_ADD_KEY, rounds one to nine, round ten without MixColumns, and DONE. The important design choice is an iterative datapath: one round of hardware reused ten times, trading extra cycles for a much smaller area than an unrolled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AES testbench has four phases: reset, latching the plaintext and key with non-blocking assignments, a one-cycle start pulse, and waiting for done. The waveform shows the round counter stepping through the rounds and the intermediate SubBytes, ShiftRows, MixColumns and AddRoundKey signals.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CRC engine implements CRC-16/XMODEM: polynomial 0x1021, initial value zero, no reflection, no final XOR. It is bit-serial: one bit per clock, so a 128-bit block takes 128 cycles and produces a 144-bit output made of the data followed by the 16-bit CRC. It is a single clocked process with no dedicated FSM.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128-bit vectors are used. The first ends with the ASCII string 1-2-3-4-5-6-7-8-9, whose standard CRC-16/XMODEM check value is 0x31C3. The waveforms show the counter running to 128, then done rising, busy falling, and the 16-bit CRC appended to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integration challenge is not the algorithms but moving data between blocks with different widths and different latencies. A nine-state top-level FSM launches AES, waits for done, launches CRC, waits for done, then feeds the 18 bytes to the UART one at a time, only when the UART is not busy. Three simple handshake rules keep this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integration testbench for the AES-to-CRC wrapper. The handshake works as designed: when the AES asserts done, the CRC engine starts automatically, and when the CRC asserts done, the 144-bit output holds the ciphertext followed by the 16-bit CRC.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integration and protocol problems. First, data widths: 128, 16 and 8 bits. Second, blocks that take many cycles. Third, the UART receiver, which has to sample in the middle of each bit. Each was solved with a specific mechanism, and each has evidence in the waveforms.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design and verification problems. The CRC variant confusion is solved by checking the standard 123456789 vector. The CRC auto-start behavior is handled in the testbench by waiting for idle and done. For AES we chose area over latency with an iterative FSM.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outcome: three RTL blocks and an integrated datapath. The protected frame is 18 bytes. The CRC engine matches all three reference vectors, including the standard 0x31C3. The biggest lessons: integration is harder than the algorithms, handshakes make multi-cycle blocks safe, and reference vectors give an objective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work falls in three groups. Functionality: add AES decryption for a two-way link, define a formal frame with sync, length and sequence number, and add CRC error reporting with retransmission. Implementation: optimize the S-box and run post-synthesis timing, area and power analysis. Verification: add assertions and formal checks, plus randomized and coverage-driven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Arial"/>
                <a:ea typeface="Arial"/>
                <a:cs typeface="Arial"/>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slideLayout" Target="../slideLayouts/slideLayout1.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slideLayout" Target="../slideLayouts/slideLayout1.xml"/><Relationship Id="rI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image" Target="../media/image-20-11.png"/><Relationship Id="rId12" Type="http://schemas.openxmlformats.org/officeDocument/2006/relationships/image" Target="../media/image-20-12.png"/><Relationship Id="rId13" Type="http://schemas.openxmlformats.org/officeDocument/2006/relationships/image" Target="../media/image-20-13.png"/><Relationship Id="rId14" Type="http://schemas.openxmlformats.org/officeDocument/2006/relationships/slideLayout" Target="../slideLayouts/slideLayout1.xml"/><Relationship Id="rId1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image" Target="../media/image-21-10.png"/><Relationship Id="rId11" Type="http://schemas.openxmlformats.org/officeDocument/2006/relationships/image" Target="../media/image-21-11.png"/><Relationship Id="rId12" Type="http://schemas.openxmlformats.org/officeDocument/2006/relationships/image" Target="../media/image-21-12.png"/><Relationship Id="rId13" Type="http://schemas.openxmlformats.org/officeDocument/2006/relationships/image" Target="../media/image-21-13.png"/><Relationship Id="rId14" Type="http://schemas.openxmlformats.org/officeDocument/2006/relationships/slideLayout" Target="../slideLayouts/slideLayout1.xml"/><Relationship Id="rId1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44"/>
        </a:solidFill>
      </p:bgPr>
    </p:bg>
    <p:spTree>
      <p:nvGrpSpPr>
        <p:cNvPr id="1" name=""/>
        <p:cNvGrpSpPr/>
        <p:nvPr/>
      </p:nvGrpSpPr>
      <p:grpSpPr>
        <a:xfrm>
          <a:off x="0" y="0"/>
          <a:ext cx="0" cy="0"/>
          <a:chOff x="0" y="0"/>
          <a:chExt cx="0" cy="0"/>
        </a:xfrm>
      </p:grpSpPr>
      <p:sp>
        <p:nvSpPr>
          <p:cNvPr id="2" name="Text 0"/>
          <p:cNvSpPr txBox="1"/>
          <p:nvPr/>
        </p:nvSpPr>
        <p:spPr>
          <a:xfrm>
            <a:off x="731520" y="777240"/>
            <a:ext cx="6858000" cy="274320"/>
          </a:xfrm>
          <a:prstGeom prst="rect">
            <a:avLst/>
          </a:prstGeom>
          <a:noFill/>
          <a:ln/>
        </p:spPr>
        <p:txBody>
          <a:bodyPr wrap="square" lIns="0" tIns="0" rIns="0" bIns="0" rtlCol="0" anchor="t"/>
          <a:lstStyle/>
          <a:p>
            <a:pPr indent="0" marL="0">
              <a:buNone/>
            </a:pPr>
            <a:r>
              <a:rPr lang="en-US" sz="1300" b="1" spc="300" kern="0" dirty="0">
                <a:solidFill>
                  <a:srgbClr val="FF5757"/>
                </a:solidFill>
                <a:latin typeface="Arial" pitchFamily="34" charset="0"/>
                <a:ea typeface="Arial" pitchFamily="34" charset="-122"/>
                <a:cs typeface="Arial" pitchFamily="34" charset="-120"/>
              </a:rPr>
              <a:t>DIGITAL DESIGN PHASE  ·  NTI</a:t>
            </a:r>
            <a:endParaRPr lang="en-US" sz="1300" dirty="0"/>
          </a:p>
        </p:txBody>
      </p:sp>
      <p:sp>
        <p:nvSpPr>
          <p:cNvPr id="3" name="Text 1"/>
          <p:cNvSpPr txBox="1"/>
          <p:nvPr/>
        </p:nvSpPr>
        <p:spPr>
          <a:xfrm>
            <a:off x="731520" y="1325880"/>
            <a:ext cx="6766560" cy="1828800"/>
          </a:xfrm>
          <a:prstGeom prst="rect">
            <a:avLst/>
          </a:prstGeom>
          <a:noFill/>
          <a:ln/>
        </p:spPr>
        <p:txBody>
          <a:bodyPr wrap="square" lIns="0" tIns="0" rIns="0" bIns="0" rtlCol="0" anchor="t"/>
          <a:lstStyle/>
          <a:p>
            <a:pPr indent="0" marL="0">
              <a:buNone/>
            </a:pPr>
            <a:r>
              <a:rPr lang="en-US" sz="4600" b="1" dirty="0">
                <a:solidFill>
                  <a:srgbClr val="FFFFFF"/>
                </a:solidFill>
                <a:latin typeface="Arial" pitchFamily="34" charset="0"/>
                <a:ea typeface="Arial" pitchFamily="34" charset="-122"/>
                <a:cs typeface="Arial" pitchFamily="34" charset="-120"/>
              </a:rPr>
              <a:t>Secure UART Communication System</a:t>
            </a:r>
            <a:endParaRPr lang="en-US" sz="4600" dirty="0"/>
          </a:p>
        </p:txBody>
      </p:sp>
      <p:sp>
        <p:nvSpPr>
          <p:cNvPr id="4" name="Text 2"/>
          <p:cNvSpPr txBox="1"/>
          <p:nvPr/>
        </p:nvSpPr>
        <p:spPr>
          <a:xfrm>
            <a:off x="731520" y="3291840"/>
            <a:ext cx="6583680" cy="868680"/>
          </a:xfrm>
          <a:prstGeom prst="rect">
            <a:avLst/>
          </a:prstGeom>
          <a:noFill/>
          <a:ln/>
        </p:spPr>
        <p:txBody>
          <a:bodyPr wrap="square" lIns="0" tIns="0" rIns="0" bIns="0" rtlCol="0" anchor="t"/>
          <a:lstStyle/>
          <a:p>
            <a:pPr indent="0" marL="0">
              <a:buNone/>
            </a:pPr>
            <a:r>
              <a:rPr lang="en-US" sz="1800" dirty="0">
                <a:solidFill>
                  <a:srgbClr val="CADCFC"/>
                </a:solidFill>
                <a:latin typeface="Arial" pitchFamily="34" charset="0"/>
                <a:ea typeface="Arial" pitchFamily="34" charset="-122"/>
                <a:cs typeface="Arial" pitchFamily="34" charset="-120"/>
              </a:rPr>
              <a:t>UART communication with hardware AES-128 encryption and CRC-16/XMODEM integrity checking</a:t>
            </a:r>
            <a:endParaRPr lang="en-US" sz="1800" dirty="0"/>
          </a:p>
        </p:txBody>
      </p:sp>
      <p:sp>
        <p:nvSpPr>
          <p:cNvPr id="5" name="Text 3"/>
          <p:cNvSpPr txBox="1"/>
          <p:nvPr/>
        </p:nvSpPr>
        <p:spPr>
          <a:xfrm>
            <a:off x="731520" y="4617720"/>
            <a:ext cx="6766560" cy="640080"/>
          </a:xfrm>
          <a:prstGeom prst="rect">
            <a:avLst/>
          </a:prstGeom>
          <a:noFill/>
          <a:ln/>
        </p:spPr>
        <p:txBody>
          <a:bodyPr wrap="square" lIns="0" tIns="0" rIns="0" bIns="0" rtlCol="0" anchor="t"/>
          <a:lstStyle/>
          <a:p>
            <a:pPr indent="0" marL="0">
              <a:buNone/>
            </a:pPr>
            <a:r>
              <a:rPr lang="en-US" sz="1200" dirty="0">
                <a:solidFill>
                  <a:srgbClr val="CADCFC"/>
                </a:solidFill>
                <a:latin typeface="Arial" pitchFamily="34" charset="0"/>
                <a:ea typeface="Arial" pitchFamily="34" charset="-122"/>
                <a:cs typeface="Arial" pitchFamily="34" charset="-120"/>
              </a:rPr>
              <a:t>Prepared by</a:t>
            </a:r>
            <a:endParaRPr lang="en-US" sz="1400" dirty="0"/>
          </a:p>
          <a:p>
            <a:pPr indent="0" marL="0">
              <a:buNone/>
            </a:pPr>
            <a:r>
              <a:rPr lang="en-US" sz="1600" b="1" dirty="0">
                <a:solidFill>
                  <a:srgbClr val="FFFFFF"/>
                </a:solidFill>
                <a:latin typeface="Arial" pitchFamily="34" charset="0"/>
                <a:ea typeface="Arial" pitchFamily="34" charset="-122"/>
                <a:cs typeface="Arial" pitchFamily="34" charset="-120"/>
              </a:rPr>
              <a:t>Mina Moawad  ·  Mohammed Afifi  ·  Hoda Ayman</a:t>
            </a:r>
            <a:endParaRPr lang="en-US" sz="1400" dirty="0"/>
          </a:p>
        </p:txBody>
      </p:sp>
      <p:sp>
        <p:nvSpPr>
          <p:cNvPr id="6" name="Text 4"/>
          <p:cNvSpPr txBox="1"/>
          <p:nvPr/>
        </p:nvSpPr>
        <p:spPr>
          <a:xfrm>
            <a:off x="731520" y="5440680"/>
            <a:ext cx="6766560" cy="640080"/>
          </a:xfrm>
          <a:prstGeom prst="rect">
            <a:avLst/>
          </a:prstGeom>
          <a:noFill/>
          <a:ln/>
        </p:spPr>
        <p:txBody>
          <a:bodyPr wrap="square" lIns="0" tIns="0" rIns="0" bIns="0" rtlCol="0" anchor="t"/>
          <a:lstStyle/>
          <a:p>
            <a:pPr indent="0" marL="0">
              <a:buNone/>
            </a:pPr>
            <a:r>
              <a:rPr lang="en-US" sz="1200" dirty="0">
                <a:solidFill>
                  <a:srgbClr val="CADCFC"/>
                </a:solidFill>
                <a:latin typeface="Arial" pitchFamily="34" charset="0"/>
                <a:ea typeface="Arial" pitchFamily="34" charset="-122"/>
                <a:cs typeface="Arial" pitchFamily="34" charset="-120"/>
              </a:rPr>
              <a:t>Presented to</a:t>
            </a:r>
            <a:endParaRPr lang="en-US" sz="1400" dirty="0"/>
          </a:p>
          <a:p>
            <a:pPr indent="0" marL="0">
              <a:buNone/>
            </a:pPr>
            <a:r>
              <a:rPr lang="en-US" sz="1600" b="1" dirty="0">
                <a:solidFill>
                  <a:srgbClr val="FFFFFF"/>
                </a:solidFill>
                <a:latin typeface="Arial" pitchFamily="34" charset="0"/>
                <a:ea typeface="Arial" pitchFamily="34" charset="-122"/>
                <a:cs typeface="Arial" pitchFamily="34" charset="-120"/>
              </a:rPr>
              <a:t>Eng. Muhammed Salah</a:t>
            </a:r>
            <a:endParaRPr lang="en-US" sz="1400" dirty="0"/>
          </a:p>
        </p:txBody>
      </p:sp>
      <p:sp>
        <p:nvSpPr>
          <p:cNvPr id="7" name="Shape 5"/>
          <p:cNvSpPr/>
          <p:nvPr/>
        </p:nvSpPr>
        <p:spPr>
          <a:xfrm>
            <a:off x="8092440" y="640080"/>
            <a:ext cx="3566160" cy="5577840"/>
          </a:xfrm>
          <a:prstGeom prst="roundRect">
            <a:avLst>
              <a:gd name="adj" fmla="val 3077"/>
            </a:avLst>
          </a:prstGeom>
          <a:solidFill>
            <a:srgbClr val="FFFFFF"/>
          </a:solidFill>
          <a:ln w="12700">
            <a:solidFill>
              <a:srgbClr val="FFFFFF"/>
            </a:solidFill>
            <a:prstDash val="solid"/>
          </a:ln>
        </p:spPr>
      </p:sp>
      <p:pic>
        <p:nvPicPr>
          <p:cNvPr id="8" name="Image 0" descr="/home/claude/assets/logo.png">    </p:cNvPr>
          <p:cNvPicPr>
            <a:picLocks noChangeAspect="1"/>
          </p:cNvPicPr>
          <p:nvPr/>
        </p:nvPicPr>
        <p:blipFill>
          <a:blip r:embed="rId1"/>
          <a:stretch>
            <a:fillRect/>
          </a:stretch>
        </p:blipFill>
        <p:spPr>
          <a:xfrm>
            <a:off x="8641080" y="868680"/>
            <a:ext cx="2468880" cy="1195864"/>
          </a:xfrm>
          <a:prstGeom prst="rect">
            <a:avLst/>
          </a:prstGeom>
        </p:spPr>
      </p:pic>
      <p:sp>
        <p:nvSpPr>
          <p:cNvPr id="9" name="Shape 6"/>
          <p:cNvSpPr/>
          <p:nvPr/>
        </p:nvSpPr>
        <p:spPr>
          <a:xfrm>
            <a:off x="8412480" y="2514600"/>
            <a:ext cx="777240" cy="777240"/>
          </a:xfrm>
          <a:prstGeom prst="ellipse">
            <a:avLst/>
          </a:prstGeom>
          <a:solidFill>
            <a:srgbClr val="004AAD"/>
          </a:solidFill>
          <a:ln w="12700">
            <a:solidFill>
              <a:srgbClr val="004AAD"/>
            </a:solidFill>
            <a:prstDash val="solid"/>
          </a:ln>
        </p:spPr>
      </p:sp>
      <p:pic>
        <p:nvPicPr>
          <p:cNvPr id="10" name="Image 1" descr="preencoded.png">    </p:cNvPr>
          <p:cNvPicPr>
            <a:picLocks noChangeAspect="1"/>
          </p:cNvPicPr>
          <p:nvPr/>
        </p:nvPicPr>
        <p:blipFill>
          <a:blip r:embed="rId2"/>
          <a:stretch>
            <a:fillRect/>
          </a:stretch>
        </p:blipFill>
        <p:spPr>
          <a:xfrm>
            <a:off x="8614562" y="2716682"/>
            <a:ext cx="373075" cy="373075"/>
          </a:xfrm>
          <a:prstGeom prst="rect">
            <a:avLst/>
          </a:prstGeom>
        </p:spPr>
      </p:pic>
      <p:sp>
        <p:nvSpPr>
          <p:cNvPr id="11" name="Text 7"/>
          <p:cNvSpPr txBox="1"/>
          <p:nvPr/>
        </p:nvSpPr>
        <p:spPr>
          <a:xfrm>
            <a:off x="9326880" y="2514600"/>
            <a:ext cx="2194560" cy="411480"/>
          </a:xfrm>
          <a:prstGeom prst="rect">
            <a:avLst/>
          </a:prstGeom>
          <a:noFill/>
          <a:ln/>
        </p:spPr>
        <p:txBody>
          <a:bodyPr wrap="square" lIns="0" tIns="0" rIns="0" bIns="0" rtlCol="0" anchor="b"/>
          <a:lstStyle/>
          <a:p>
            <a:pPr indent="0" marL="0">
              <a:buNone/>
            </a:pPr>
            <a:r>
              <a:rPr lang="en-US" sz="1600" b="1" dirty="0">
                <a:solidFill>
                  <a:srgbClr val="0B1F44"/>
                </a:solidFill>
                <a:latin typeface="Arial" pitchFamily="34" charset="0"/>
                <a:ea typeface="Arial" pitchFamily="34" charset="-122"/>
                <a:cs typeface="Arial" pitchFamily="34" charset="-120"/>
              </a:rPr>
              <a:t>AES-128</a:t>
            </a:r>
            <a:endParaRPr lang="en-US" sz="1600" dirty="0"/>
          </a:p>
        </p:txBody>
      </p:sp>
      <p:sp>
        <p:nvSpPr>
          <p:cNvPr id="12" name="Text 8"/>
          <p:cNvSpPr txBox="1"/>
          <p:nvPr/>
        </p:nvSpPr>
        <p:spPr>
          <a:xfrm>
            <a:off x="9326880" y="2944368"/>
            <a:ext cx="2194560" cy="320040"/>
          </a:xfrm>
          <a:prstGeom prst="rect">
            <a:avLst/>
          </a:prstGeom>
          <a:noFill/>
          <a:ln/>
        </p:spPr>
        <p:txBody>
          <a:bodyPr wrap="square" lIns="0" tIns="0" rIns="0" bIns="0" rtlCol="0" anchor="t"/>
          <a:lstStyle/>
          <a:p>
            <a:pPr indent="0" marL="0">
              <a:buNone/>
            </a:pPr>
            <a:r>
              <a:rPr lang="en-US" sz="1300" dirty="0">
                <a:solidFill>
                  <a:srgbClr val="5B6472"/>
                </a:solidFill>
                <a:latin typeface="Arial" pitchFamily="34" charset="0"/>
                <a:ea typeface="Arial" pitchFamily="34" charset="-122"/>
                <a:cs typeface="Arial" pitchFamily="34" charset="-120"/>
              </a:rPr>
              <a:t>Confidentiality</a:t>
            </a:r>
            <a:endParaRPr lang="en-US" sz="1300" dirty="0"/>
          </a:p>
        </p:txBody>
      </p:sp>
      <p:sp>
        <p:nvSpPr>
          <p:cNvPr id="13" name="Shape 9"/>
          <p:cNvSpPr/>
          <p:nvPr/>
        </p:nvSpPr>
        <p:spPr>
          <a:xfrm>
            <a:off x="8412480" y="3721608"/>
            <a:ext cx="777240" cy="777240"/>
          </a:xfrm>
          <a:prstGeom prst="ellipse">
            <a:avLst/>
          </a:prstGeom>
          <a:solidFill>
            <a:srgbClr val="1B75BB"/>
          </a:solidFill>
          <a:ln w="12700">
            <a:solidFill>
              <a:srgbClr val="1B75BB"/>
            </a:solidFill>
            <a:prstDash val="solid"/>
          </a:ln>
        </p:spPr>
      </p:sp>
      <p:pic>
        <p:nvPicPr>
          <p:cNvPr id="14" name="Image 2" descr="preencoded.png">    </p:cNvPr>
          <p:cNvPicPr>
            <a:picLocks noChangeAspect="1"/>
          </p:cNvPicPr>
          <p:nvPr/>
        </p:nvPicPr>
        <p:blipFill>
          <a:blip r:embed="rId3"/>
          <a:stretch>
            <a:fillRect/>
          </a:stretch>
        </p:blipFill>
        <p:spPr>
          <a:xfrm>
            <a:off x="8614562" y="3923690"/>
            <a:ext cx="373075" cy="373075"/>
          </a:xfrm>
          <a:prstGeom prst="rect">
            <a:avLst/>
          </a:prstGeom>
        </p:spPr>
      </p:pic>
      <p:sp>
        <p:nvSpPr>
          <p:cNvPr id="15" name="Text 10"/>
          <p:cNvSpPr txBox="1"/>
          <p:nvPr/>
        </p:nvSpPr>
        <p:spPr>
          <a:xfrm>
            <a:off x="9326880" y="3721608"/>
            <a:ext cx="2194560" cy="411480"/>
          </a:xfrm>
          <a:prstGeom prst="rect">
            <a:avLst/>
          </a:prstGeom>
          <a:noFill/>
          <a:ln/>
        </p:spPr>
        <p:txBody>
          <a:bodyPr wrap="square" lIns="0" tIns="0" rIns="0" bIns="0" rtlCol="0" anchor="b"/>
          <a:lstStyle/>
          <a:p>
            <a:pPr indent="0" marL="0">
              <a:buNone/>
            </a:pPr>
            <a:r>
              <a:rPr lang="en-US" sz="1600" b="1" dirty="0">
                <a:solidFill>
                  <a:srgbClr val="0B1F44"/>
                </a:solidFill>
                <a:latin typeface="Arial" pitchFamily="34" charset="0"/>
                <a:ea typeface="Arial" pitchFamily="34" charset="-122"/>
                <a:cs typeface="Arial" pitchFamily="34" charset="-120"/>
              </a:rPr>
              <a:t>CRC-16/XMODEM</a:t>
            </a:r>
            <a:endParaRPr lang="en-US" sz="1600" dirty="0"/>
          </a:p>
        </p:txBody>
      </p:sp>
      <p:sp>
        <p:nvSpPr>
          <p:cNvPr id="16" name="Text 11"/>
          <p:cNvSpPr txBox="1"/>
          <p:nvPr/>
        </p:nvSpPr>
        <p:spPr>
          <a:xfrm>
            <a:off x="9326880" y="4151376"/>
            <a:ext cx="2194560" cy="320040"/>
          </a:xfrm>
          <a:prstGeom prst="rect">
            <a:avLst/>
          </a:prstGeom>
          <a:noFill/>
          <a:ln/>
        </p:spPr>
        <p:txBody>
          <a:bodyPr wrap="square" lIns="0" tIns="0" rIns="0" bIns="0" rtlCol="0" anchor="t"/>
          <a:lstStyle/>
          <a:p>
            <a:pPr indent="0" marL="0">
              <a:buNone/>
            </a:pPr>
            <a:r>
              <a:rPr lang="en-US" sz="1300" dirty="0">
                <a:solidFill>
                  <a:srgbClr val="5B6472"/>
                </a:solidFill>
                <a:latin typeface="Arial" pitchFamily="34" charset="0"/>
                <a:ea typeface="Arial" pitchFamily="34" charset="-122"/>
                <a:cs typeface="Arial" pitchFamily="34" charset="-120"/>
              </a:rPr>
              <a:t>Data integrity</a:t>
            </a:r>
            <a:endParaRPr lang="en-US" sz="1300" dirty="0"/>
          </a:p>
        </p:txBody>
      </p:sp>
      <p:sp>
        <p:nvSpPr>
          <p:cNvPr id="17" name="Shape 12"/>
          <p:cNvSpPr/>
          <p:nvPr/>
        </p:nvSpPr>
        <p:spPr>
          <a:xfrm>
            <a:off x="8412480" y="4928616"/>
            <a:ext cx="777240" cy="777240"/>
          </a:xfrm>
          <a:prstGeom prst="ellipse">
            <a:avLst/>
          </a:prstGeom>
          <a:solidFill>
            <a:srgbClr val="FF5757"/>
          </a:solidFill>
          <a:ln w="12700">
            <a:solidFill>
              <a:srgbClr val="FF5757"/>
            </a:solidFill>
            <a:prstDash val="solid"/>
          </a:ln>
        </p:spPr>
      </p:sp>
      <p:pic>
        <p:nvPicPr>
          <p:cNvPr id="18" name="Image 3" descr="preencoded.png">    </p:cNvPr>
          <p:cNvPicPr>
            <a:picLocks noChangeAspect="1"/>
          </p:cNvPicPr>
          <p:nvPr/>
        </p:nvPicPr>
        <p:blipFill>
          <a:blip r:embed="rId4"/>
          <a:stretch>
            <a:fillRect/>
          </a:stretch>
        </p:blipFill>
        <p:spPr>
          <a:xfrm>
            <a:off x="8614562" y="5130698"/>
            <a:ext cx="373075" cy="373075"/>
          </a:xfrm>
          <a:prstGeom prst="rect">
            <a:avLst/>
          </a:prstGeom>
        </p:spPr>
      </p:pic>
      <p:sp>
        <p:nvSpPr>
          <p:cNvPr id="19" name="Text 13"/>
          <p:cNvSpPr txBox="1"/>
          <p:nvPr/>
        </p:nvSpPr>
        <p:spPr>
          <a:xfrm>
            <a:off x="9326880" y="4928616"/>
            <a:ext cx="2194560" cy="411480"/>
          </a:xfrm>
          <a:prstGeom prst="rect">
            <a:avLst/>
          </a:prstGeom>
          <a:noFill/>
          <a:ln/>
        </p:spPr>
        <p:txBody>
          <a:bodyPr wrap="square" lIns="0" tIns="0" rIns="0" bIns="0" rtlCol="0" anchor="b"/>
          <a:lstStyle/>
          <a:p>
            <a:pPr indent="0" marL="0">
              <a:buNone/>
            </a:pPr>
            <a:r>
              <a:rPr lang="en-US" sz="1600" b="1" dirty="0">
                <a:solidFill>
                  <a:srgbClr val="0B1F44"/>
                </a:solidFill>
                <a:latin typeface="Arial" pitchFamily="34" charset="0"/>
                <a:ea typeface="Arial" pitchFamily="34" charset="-122"/>
                <a:cs typeface="Arial" pitchFamily="34" charset="-120"/>
              </a:rPr>
              <a:t>UART</a:t>
            </a:r>
            <a:endParaRPr lang="en-US" sz="1600" dirty="0"/>
          </a:p>
        </p:txBody>
      </p:sp>
      <p:sp>
        <p:nvSpPr>
          <p:cNvPr id="20" name="Text 14"/>
          <p:cNvSpPr txBox="1"/>
          <p:nvPr/>
        </p:nvSpPr>
        <p:spPr>
          <a:xfrm>
            <a:off x="9326880" y="5358384"/>
            <a:ext cx="2194560" cy="320040"/>
          </a:xfrm>
          <a:prstGeom prst="rect">
            <a:avLst/>
          </a:prstGeom>
          <a:noFill/>
          <a:ln/>
        </p:spPr>
        <p:txBody>
          <a:bodyPr wrap="square" lIns="0" tIns="0" rIns="0" bIns="0" rtlCol="0" anchor="t"/>
          <a:lstStyle/>
          <a:p>
            <a:pPr indent="0" marL="0">
              <a:buNone/>
            </a:pPr>
            <a:r>
              <a:rPr lang="en-US" sz="1300" dirty="0">
                <a:solidFill>
                  <a:srgbClr val="5B6472"/>
                </a:solidFill>
                <a:latin typeface="Arial" pitchFamily="34" charset="0"/>
                <a:ea typeface="Arial" pitchFamily="34" charset="-122"/>
                <a:cs typeface="Arial" pitchFamily="34" charset="-120"/>
              </a:rPr>
              <a:t>Serial communication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47472"/>
            <a:ext cx="7315200" cy="228600"/>
          </a:xfrm>
          <a:prstGeom prst="rect">
            <a:avLst/>
          </a:prstGeom>
          <a:noFill/>
          <a:ln/>
        </p:spPr>
        <p:txBody>
          <a:bodyPr wrap="square" lIns="0" tIns="0" rIns="0" bIns="0" rtlCol="0" anchor="t"/>
          <a:lstStyle/>
          <a:p>
            <a:pPr indent="0" marL="0">
              <a:buNone/>
            </a:pPr>
            <a:r>
              <a:rPr lang="en-US" sz="1200" b="1" spc="300" kern="0" dirty="0">
                <a:solidFill>
                  <a:srgbClr val="FF5757"/>
                </a:solidFill>
                <a:latin typeface="Arial" pitchFamily="34" charset="0"/>
                <a:ea typeface="Arial" pitchFamily="34" charset="-122"/>
                <a:cs typeface="Arial" pitchFamily="34" charset="-120"/>
              </a:rPr>
              <a:t>ROADMAP</a:t>
            </a:r>
            <a:endParaRPr lang="en-US" sz="1200" dirty="0"/>
          </a:p>
        </p:txBody>
      </p:sp>
      <p:sp>
        <p:nvSpPr>
          <p:cNvPr id="3" name="Text 1"/>
          <p:cNvSpPr txBox="1"/>
          <p:nvPr/>
        </p:nvSpPr>
        <p:spPr>
          <a:xfrm>
            <a:off x="548640" y="603504"/>
            <a:ext cx="9966960" cy="685800"/>
          </a:xfrm>
          <a:prstGeom prst="rect">
            <a:avLst/>
          </a:prstGeom>
          <a:noFill/>
          <a:ln/>
        </p:spPr>
        <p:txBody>
          <a:bodyPr wrap="square" lIns="0" tIns="0" rIns="0" bIns="0" rtlCol="0" anchor="ctr"/>
          <a:lstStyle/>
          <a:p>
            <a:pPr indent="0" marL="0">
              <a:buNone/>
            </a:pPr>
            <a:r>
              <a:rPr lang="en-US" sz="3200" b="1" dirty="0">
                <a:solidFill>
                  <a:srgbClr val="0B1F44"/>
                </a:solidFill>
                <a:latin typeface="Arial" pitchFamily="34" charset="0"/>
                <a:ea typeface="Arial" pitchFamily="34" charset="-122"/>
                <a:cs typeface="Arial" pitchFamily="34" charset="-120"/>
              </a:rPr>
              <a:t>What we will cover</a:t>
            </a:r>
            <a:endParaRPr lang="en-US" sz="3200" dirty="0"/>
          </a:p>
        </p:txBody>
      </p:sp>
      <p:pic>
        <p:nvPicPr>
          <p:cNvPr id="4" name="Image 0" descr="/home/claude/assets/logo.png">    </p:cNvPr>
          <p:cNvPicPr>
            <a:picLocks noChangeAspect="1"/>
          </p:cNvPicPr>
          <p:nvPr/>
        </p:nvPicPr>
        <p:blipFill>
          <a:blip r:embed="rId1"/>
          <a:stretch>
            <a:fillRect/>
          </a:stretch>
        </p:blipFill>
        <p:spPr>
          <a:xfrm>
            <a:off x="10744200" y="365760"/>
            <a:ext cx="896112" cy="434340"/>
          </a:xfrm>
          <a:prstGeom prst="rect">
            <a:avLst/>
          </a:prstGeom>
        </p:spPr>
      </p:pic>
      <p:sp>
        <p:nvSpPr>
          <p:cNvPr id="5" name="Text 2"/>
          <p:cNvSpPr txBox="1"/>
          <p:nvPr/>
        </p:nvSpPr>
        <p:spPr>
          <a:xfrm>
            <a:off x="548640" y="6428232"/>
            <a:ext cx="6400800" cy="228600"/>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Secure UART Communication System  ·  NTI Digital Design Project</a:t>
            </a:r>
            <a:endParaRPr lang="en-US" sz="1000" dirty="0"/>
          </a:p>
        </p:txBody>
      </p:sp>
      <p:sp>
        <p:nvSpPr>
          <p:cNvPr id="6" name="Shape 3"/>
          <p:cNvSpPr/>
          <p:nvPr/>
        </p:nvSpPr>
        <p:spPr>
          <a:xfrm>
            <a:off x="548640" y="1600200"/>
            <a:ext cx="3520440" cy="2103120"/>
          </a:xfrm>
          <a:prstGeom prst="roundRect">
            <a:avLst>
              <a:gd name="adj" fmla="val 5217"/>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7" name="Shape 4"/>
          <p:cNvSpPr/>
          <p:nvPr/>
        </p:nvSpPr>
        <p:spPr>
          <a:xfrm>
            <a:off x="822960" y="1874520"/>
            <a:ext cx="685800" cy="685800"/>
          </a:xfrm>
          <a:prstGeom prst="ellipse">
            <a:avLst/>
          </a:prstGeom>
          <a:solidFill>
            <a:srgbClr val="004AAD"/>
          </a:solidFill>
          <a:ln w="12700">
            <a:solidFill>
              <a:srgbClr val="004AAD"/>
            </a:solidFill>
            <a:prstDash val="solid"/>
          </a:ln>
        </p:spPr>
      </p:sp>
      <p:pic>
        <p:nvPicPr>
          <p:cNvPr id="8" name="Image 1" descr="preencoded.png">    </p:cNvPr>
          <p:cNvPicPr>
            <a:picLocks noChangeAspect="1"/>
          </p:cNvPicPr>
          <p:nvPr/>
        </p:nvPicPr>
        <p:blipFill>
          <a:blip r:embed="rId2"/>
          <a:stretch>
            <a:fillRect/>
          </a:stretch>
        </p:blipFill>
        <p:spPr>
          <a:xfrm>
            <a:off x="1001268" y="2052828"/>
            <a:ext cx="329184" cy="329184"/>
          </a:xfrm>
          <a:prstGeom prst="rect">
            <a:avLst/>
          </a:prstGeom>
        </p:spPr>
      </p:pic>
      <p:sp>
        <p:nvSpPr>
          <p:cNvPr id="9" name="Text 5"/>
          <p:cNvSpPr txBox="1"/>
          <p:nvPr/>
        </p:nvSpPr>
        <p:spPr>
          <a:xfrm>
            <a:off x="3063240" y="1828800"/>
            <a:ext cx="731520" cy="548640"/>
          </a:xfrm>
          <a:prstGeom prst="rect">
            <a:avLst/>
          </a:prstGeom>
          <a:noFill/>
          <a:ln/>
        </p:spPr>
        <p:txBody>
          <a:bodyPr wrap="square" lIns="0" tIns="0" rIns="0" bIns="0" rtlCol="0" anchor="t"/>
          <a:lstStyle/>
          <a:p>
            <a:pPr algn="r" indent="0" marL="0">
              <a:buNone/>
            </a:pPr>
            <a:r>
              <a:rPr lang="en-US" sz="3000" b="1" dirty="0">
                <a:solidFill>
                  <a:srgbClr val="D5DEEC"/>
                </a:solidFill>
                <a:latin typeface="Arial" pitchFamily="34" charset="0"/>
                <a:ea typeface="Arial" pitchFamily="34" charset="-122"/>
                <a:cs typeface="Arial" pitchFamily="34" charset="-120"/>
              </a:rPr>
              <a:t>01</a:t>
            </a:r>
            <a:endParaRPr lang="en-US" sz="3000" dirty="0"/>
          </a:p>
        </p:txBody>
      </p:sp>
      <p:sp>
        <p:nvSpPr>
          <p:cNvPr id="10" name="Text 6"/>
          <p:cNvSpPr txBox="1"/>
          <p:nvPr/>
        </p:nvSpPr>
        <p:spPr>
          <a:xfrm>
            <a:off x="822960" y="2697480"/>
            <a:ext cx="2971800" cy="365760"/>
          </a:xfrm>
          <a:prstGeom prst="rect">
            <a:avLst/>
          </a:prstGeom>
          <a:noFill/>
          <a:ln/>
        </p:spPr>
        <p:txBody>
          <a:bodyPr wrap="square" lIns="0" tIns="0" rIns="0" bIns="0" rtlCol="0" anchor="t"/>
          <a:lstStyle/>
          <a:p>
            <a:pPr indent="0" marL="0">
              <a:buNone/>
            </a:pPr>
            <a:r>
              <a:rPr lang="en-US" sz="1800" b="1" dirty="0">
                <a:solidFill>
                  <a:srgbClr val="0B1F44"/>
                </a:solidFill>
                <a:latin typeface="Arial" pitchFamily="34" charset="0"/>
                <a:ea typeface="Arial" pitchFamily="34" charset="-122"/>
                <a:cs typeface="Arial" pitchFamily="34" charset="-120"/>
              </a:rPr>
              <a:t>Motivation</a:t>
            </a:r>
            <a:endParaRPr lang="en-US" sz="1800" dirty="0"/>
          </a:p>
        </p:txBody>
      </p:sp>
      <p:sp>
        <p:nvSpPr>
          <p:cNvPr id="11" name="Text 7"/>
          <p:cNvSpPr txBox="1"/>
          <p:nvPr/>
        </p:nvSpPr>
        <p:spPr>
          <a:xfrm>
            <a:off x="822960" y="3081528"/>
            <a:ext cx="2971800" cy="548640"/>
          </a:xfrm>
          <a:prstGeom prst="rect">
            <a:avLst/>
          </a:prstGeom>
          <a:noFill/>
          <a:ln/>
        </p:spPr>
        <p:txBody>
          <a:bodyPr wrap="square" lIns="0" tIns="0" rIns="0" bIns="0" rtlCol="0" anchor="t"/>
          <a:lstStyle/>
          <a:p>
            <a:pPr indent="0" marL="0">
              <a:buNone/>
            </a:pPr>
            <a:r>
              <a:rPr lang="en-US" sz="1300" dirty="0">
                <a:solidFill>
                  <a:srgbClr val="5B6472"/>
                </a:solidFill>
                <a:latin typeface="Arial" pitchFamily="34" charset="0"/>
                <a:ea typeface="Arial" pitchFamily="34" charset="-122"/>
                <a:cs typeface="Arial" pitchFamily="34" charset="-120"/>
              </a:rPr>
              <a:t>Why we chose this project, and why it matters</a:t>
            </a:r>
            <a:endParaRPr lang="en-US" sz="1300" dirty="0"/>
          </a:p>
        </p:txBody>
      </p:sp>
      <p:sp>
        <p:nvSpPr>
          <p:cNvPr id="12" name="Shape 8"/>
          <p:cNvSpPr/>
          <p:nvPr/>
        </p:nvSpPr>
        <p:spPr>
          <a:xfrm>
            <a:off x="4334256" y="1600200"/>
            <a:ext cx="3520440" cy="2103120"/>
          </a:xfrm>
          <a:prstGeom prst="roundRect">
            <a:avLst>
              <a:gd name="adj" fmla="val 5217"/>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13" name="Shape 9"/>
          <p:cNvSpPr/>
          <p:nvPr/>
        </p:nvSpPr>
        <p:spPr>
          <a:xfrm>
            <a:off x="4608576" y="1874520"/>
            <a:ext cx="685800" cy="685800"/>
          </a:xfrm>
          <a:prstGeom prst="ellipse">
            <a:avLst/>
          </a:prstGeom>
          <a:solidFill>
            <a:srgbClr val="1B75BB"/>
          </a:solidFill>
          <a:ln w="12700">
            <a:solidFill>
              <a:srgbClr val="1B75BB"/>
            </a:solidFill>
            <a:prstDash val="solid"/>
          </a:ln>
        </p:spPr>
      </p:sp>
      <p:pic>
        <p:nvPicPr>
          <p:cNvPr id="14" name="Image 2" descr="preencoded.png">    </p:cNvPr>
          <p:cNvPicPr>
            <a:picLocks noChangeAspect="1"/>
          </p:cNvPicPr>
          <p:nvPr/>
        </p:nvPicPr>
        <p:blipFill>
          <a:blip r:embed="rId3"/>
          <a:stretch>
            <a:fillRect/>
          </a:stretch>
        </p:blipFill>
        <p:spPr>
          <a:xfrm>
            <a:off x="4786884" y="2052828"/>
            <a:ext cx="329184" cy="329184"/>
          </a:xfrm>
          <a:prstGeom prst="rect">
            <a:avLst/>
          </a:prstGeom>
        </p:spPr>
      </p:pic>
      <p:sp>
        <p:nvSpPr>
          <p:cNvPr id="15" name="Text 10"/>
          <p:cNvSpPr txBox="1"/>
          <p:nvPr/>
        </p:nvSpPr>
        <p:spPr>
          <a:xfrm>
            <a:off x="6848856" y="1828800"/>
            <a:ext cx="731520" cy="548640"/>
          </a:xfrm>
          <a:prstGeom prst="rect">
            <a:avLst/>
          </a:prstGeom>
          <a:noFill/>
          <a:ln/>
        </p:spPr>
        <p:txBody>
          <a:bodyPr wrap="square" lIns="0" tIns="0" rIns="0" bIns="0" rtlCol="0" anchor="t"/>
          <a:lstStyle/>
          <a:p>
            <a:pPr algn="r" indent="0" marL="0">
              <a:buNone/>
            </a:pPr>
            <a:r>
              <a:rPr lang="en-US" sz="3000" b="1" dirty="0">
                <a:solidFill>
                  <a:srgbClr val="D5DEEC"/>
                </a:solidFill>
                <a:latin typeface="Arial" pitchFamily="34" charset="0"/>
                <a:ea typeface="Arial" pitchFamily="34" charset="-122"/>
                <a:cs typeface="Arial" pitchFamily="34" charset="-120"/>
              </a:rPr>
              <a:t>02</a:t>
            </a:r>
            <a:endParaRPr lang="en-US" sz="3000" dirty="0"/>
          </a:p>
        </p:txBody>
      </p:sp>
      <p:sp>
        <p:nvSpPr>
          <p:cNvPr id="16" name="Text 11"/>
          <p:cNvSpPr txBox="1"/>
          <p:nvPr/>
        </p:nvSpPr>
        <p:spPr>
          <a:xfrm>
            <a:off x="4608576" y="2697480"/>
            <a:ext cx="2971800" cy="365760"/>
          </a:xfrm>
          <a:prstGeom prst="rect">
            <a:avLst/>
          </a:prstGeom>
          <a:noFill/>
          <a:ln/>
        </p:spPr>
        <p:txBody>
          <a:bodyPr wrap="square" lIns="0" tIns="0" rIns="0" bIns="0" rtlCol="0" anchor="t"/>
          <a:lstStyle/>
          <a:p>
            <a:pPr indent="0" marL="0">
              <a:buNone/>
            </a:pPr>
            <a:r>
              <a:rPr lang="en-US" sz="1800" b="1" dirty="0">
                <a:solidFill>
                  <a:srgbClr val="0B1F44"/>
                </a:solidFill>
                <a:latin typeface="Arial" pitchFamily="34" charset="0"/>
                <a:ea typeface="Arial" pitchFamily="34" charset="-122"/>
                <a:cs typeface="Arial" pitchFamily="34" charset="-120"/>
              </a:rPr>
              <a:t>Literature review</a:t>
            </a:r>
            <a:endParaRPr lang="en-US" sz="1800" dirty="0"/>
          </a:p>
        </p:txBody>
      </p:sp>
      <p:sp>
        <p:nvSpPr>
          <p:cNvPr id="17" name="Text 12"/>
          <p:cNvSpPr txBox="1"/>
          <p:nvPr/>
        </p:nvSpPr>
        <p:spPr>
          <a:xfrm>
            <a:off x="4608576" y="3081528"/>
            <a:ext cx="2971800" cy="548640"/>
          </a:xfrm>
          <a:prstGeom prst="rect">
            <a:avLst/>
          </a:prstGeom>
          <a:noFill/>
          <a:ln/>
        </p:spPr>
        <p:txBody>
          <a:bodyPr wrap="square" lIns="0" tIns="0" rIns="0" bIns="0" rtlCol="0" anchor="t"/>
          <a:lstStyle/>
          <a:p>
            <a:pPr indent="0" marL="0">
              <a:buNone/>
            </a:pPr>
            <a:r>
              <a:rPr lang="en-US" sz="1300" dirty="0">
                <a:solidFill>
                  <a:srgbClr val="5B6472"/>
                </a:solidFill>
                <a:latin typeface="Arial" pitchFamily="34" charset="0"/>
                <a:ea typeface="Arial" pitchFamily="34" charset="-122"/>
                <a:cs typeface="Arial" pitchFamily="34" charset="-120"/>
              </a:rPr>
              <a:t>Related work, and our edge with pros and cons</a:t>
            </a:r>
            <a:endParaRPr lang="en-US" sz="1300" dirty="0"/>
          </a:p>
        </p:txBody>
      </p:sp>
      <p:sp>
        <p:nvSpPr>
          <p:cNvPr id="18" name="Shape 13"/>
          <p:cNvSpPr/>
          <p:nvPr/>
        </p:nvSpPr>
        <p:spPr>
          <a:xfrm>
            <a:off x="8119872" y="1600200"/>
            <a:ext cx="3520440" cy="2103120"/>
          </a:xfrm>
          <a:prstGeom prst="roundRect">
            <a:avLst>
              <a:gd name="adj" fmla="val 5217"/>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19" name="Shape 14"/>
          <p:cNvSpPr/>
          <p:nvPr/>
        </p:nvSpPr>
        <p:spPr>
          <a:xfrm>
            <a:off x="8394192" y="1874520"/>
            <a:ext cx="685800" cy="685800"/>
          </a:xfrm>
          <a:prstGeom prst="ellipse">
            <a:avLst/>
          </a:prstGeom>
          <a:solidFill>
            <a:srgbClr val="004AAD"/>
          </a:solidFill>
          <a:ln w="12700">
            <a:solidFill>
              <a:srgbClr val="004AAD"/>
            </a:solidFill>
            <a:prstDash val="solid"/>
          </a:ln>
        </p:spPr>
      </p:sp>
      <p:pic>
        <p:nvPicPr>
          <p:cNvPr id="20" name="Image 3" descr="preencoded.png">    </p:cNvPr>
          <p:cNvPicPr>
            <a:picLocks noChangeAspect="1"/>
          </p:cNvPicPr>
          <p:nvPr/>
        </p:nvPicPr>
        <p:blipFill>
          <a:blip r:embed="rId4"/>
          <a:stretch>
            <a:fillRect/>
          </a:stretch>
        </p:blipFill>
        <p:spPr>
          <a:xfrm>
            <a:off x="8572500" y="2052828"/>
            <a:ext cx="329184" cy="329184"/>
          </a:xfrm>
          <a:prstGeom prst="rect">
            <a:avLst/>
          </a:prstGeom>
        </p:spPr>
      </p:pic>
      <p:sp>
        <p:nvSpPr>
          <p:cNvPr id="21" name="Text 15"/>
          <p:cNvSpPr txBox="1"/>
          <p:nvPr/>
        </p:nvSpPr>
        <p:spPr>
          <a:xfrm>
            <a:off x="10634472" y="1828800"/>
            <a:ext cx="731520" cy="548640"/>
          </a:xfrm>
          <a:prstGeom prst="rect">
            <a:avLst/>
          </a:prstGeom>
          <a:noFill/>
          <a:ln/>
        </p:spPr>
        <p:txBody>
          <a:bodyPr wrap="square" lIns="0" tIns="0" rIns="0" bIns="0" rtlCol="0" anchor="t"/>
          <a:lstStyle/>
          <a:p>
            <a:pPr algn="r" indent="0" marL="0">
              <a:buNone/>
            </a:pPr>
            <a:r>
              <a:rPr lang="en-US" sz="3000" b="1" dirty="0">
                <a:solidFill>
                  <a:srgbClr val="D5DEEC"/>
                </a:solidFill>
                <a:latin typeface="Arial" pitchFamily="34" charset="0"/>
                <a:ea typeface="Arial" pitchFamily="34" charset="-122"/>
                <a:cs typeface="Arial" pitchFamily="34" charset="-120"/>
              </a:rPr>
              <a:t>03</a:t>
            </a:r>
            <a:endParaRPr lang="en-US" sz="3000" dirty="0"/>
          </a:p>
        </p:txBody>
      </p:sp>
      <p:sp>
        <p:nvSpPr>
          <p:cNvPr id="22" name="Text 16"/>
          <p:cNvSpPr txBox="1"/>
          <p:nvPr/>
        </p:nvSpPr>
        <p:spPr>
          <a:xfrm>
            <a:off x="8394192" y="2697480"/>
            <a:ext cx="2971800" cy="365760"/>
          </a:xfrm>
          <a:prstGeom prst="rect">
            <a:avLst/>
          </a:prstGeom>
          <a:noFill/>
          <a:ln/>
        </p:spPr>
        <p:txBody>
          <a:bodyPr wrap="square" lIns="0" tIns="0" rIns="0" bIns="0" rtlCol="0" anchor="t"/>
          <a:lstStyle/>
          <a:p>
            <a:pPr indent="0" marL="0">
              <a:buNone/>
            </a:pPr>
            <a:r>
              <a:rPr lang="en-US" sz="1800" b="1" dirty="0">
                <a:solidFill>
                  <a:srgbClr val="0B1F44"/>
                </a:solidFill>
                <a:latin typeface="Arial" pitchFamily="34" charset="0"/>
                <a:ea typeface="Arial" pitchFamily="34" charset="-122"/>
                <a:cs typeface="Arial" pitchFamily="34" charset="-120"/>
              </a:rPr>
              <a:t>Development journey</a:t>
            </a:r>
            <a:endParaRPr lang="en-US" sz="1800" dirty="0"/>
          </a:p>
        </p:txBody>
      </p:sp>
      <p:sp>
        <p:nvSpPr>
          <p:cNvPr id="23" name="Text 17"/>
          <p:cNvSpPr txBox="1"/>
          <p:nvPr/>
        </p:nvSpPr>
        <p:spPr>
          <a:xfrm>
            <a:off x="8394192" y="3081528"/>
            <a:ext cx="2971800" cy="548640"/>
          </a:xfrm>
          <a:prstGeom prst="rect">
            <a:avLst/>
          </a:prstGeom>
          <a:noFill/>
          <a:ln/>
        </p:spPr>
        <p:txBody>
          <a:bodyPr wrap="square" lIns="0" tIns="0" rIns="0" bIns="0" rtlCol="0" anchor="t"/>
          <a:lstStyle/>
          <a:p>
            <a:pPr indent="0" marL="0">
              <a:buNone/>
            </a:pPr>
            <a:r>
              <a:rPr lang="en-US" sz="1300" dirty="0">
                <a:solidFill>
                  <a:srgbClr val="5B6472"/>
                </a:solidFill>
                <a:latin typeface="Arial" pitchFamily="34" charset="0"/>
                <a:ea typeface="Arial" pitchFamily="34" charset="-122"/>
                <a:cs typeface="Arial" pitchFamily="34" charset="-120"/>
              </a:rPr>
              <a:t>From architecture to verification with testbenches</a:t>
            </a:r>
            <a:endParaRPr lang="en-US" sz="1300" dirty="0"/>
          </a:p>
        </p:txBody>
      </p:sp>
      <p:sp>
        <p:nvSpPr>
          <p:cNvPr id="24" name="Shape 18"/>
          <p:cNvSpPr/>
          <p:nvPr/>
        </p:nvSpPr>
        <p:spPr>
          <a:xfrm>
            <a:off x="548640" y="3977640"/>
            <a:ext cx="3520440" cy="2103120"/>
          </a:xfrm>
          <a:prstGeom prst="roundRect">
            <a:avLst>
              <a:gd name="adj" fmla="val 5217"/>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25" name="Shape 19"/>
          <p:cNvSpPr/>
          <p:nvPr/>
        </p:nvSpPr>
        <p:spPr>
          <a:xfrm>
            <a:off x="822960" y="4251960"/>
            <a:ext cx="685800" cy="685800"/>
          </a:xfrm>
          <a:prstGeom prst="ellipse">
            <a:avLst/>
          </a:prstGeom>
          <a:solidFill>
            <a:srgbClr val="FF5757"/>
          </a:solidFill>
          <a:ln w="12700">
            <a:solidFill>
              <a:srgbClr val="FF5757"/>
            </a:solidFill>
            <a:prstDash val="solid"/>
          </a:ln>
        </p:spPr>
      </p:sp>
      <p:pic>
        <p:nvPicPr>
          <p:cNvPr id="26" name="Image 4" descr="preencoded.png">    </p:cNvPr>
          <p:cNvPicPr>
            <a:picLocks noChangeAspect="1"/>
          </p:cNvPicPr>
          <p:nvPr/>
        </p:nvPicPr>
        <p:blipFill>
          <a:blip r:embed="rId5"/>
          <a:stretch>
            <a:fillRect/>
          </a:stretch>
        </p:blipFill>
        <p:spPr>
          <a:xfrm>
            <a:off x="1001268" y="4430268"/>
            <a:ext cx="329184" cy="329184"/>
          </a:xfrm>
          <a:prstGeom prst="rect">
            <a:avLst/>
          </a:prstGeom>
        </p:spPr>
      </p:pic>
      <p:sp>
        <p:nvSpPr>
          <p:cNvPr id="27" name="Text 20"/>
          <p:cNvSpPr txBox="1"/>
          <p:nvPr/>
        </p:nvSpPr>
        <p:spPr>
          <a:xfrm>
            <a:off x="3063240" y="4206240"/>
            <a:ext cx="731520" cy="548640"/>
          </a:xfrm>
          <a:prstGeom prst="rect">
            <a:avLst/>
          </a:prstGeom>
          <a:noFill/>
          <a:ln/>
        </p:spPr>
        <p:txBody>
          <a:bodyPr wrap="square" lIns="0" tIns="0" rIns="0" bIns="0" rtlCol="0" anchor="t"/>
          <a:lstStyle/>
          <a:p>
            <a:pPr algn="r" indent="0" marL="0">
              <a:buNone/>
            </a:pPr>
            <a:r>
              <a:rPr lang="en-US" sz="3000" b="1" dirty="0">
                <a:solidFill>
                  <a:srgbClr val="D5DEEC"/>
                </a:solidFill>
                <a:latin typeface="Arial" pitchFamily="34" charset="0"/>
                <a:ea typeface="Arial" pitchFamily="34" charset="-122"/>
                <a:cs typeface="Arial" pitchFamily="34" charset="-120"/>
              </a:rPr>
              <a:t>04</a:t>
            </a:r>
            <a:endParaRPr lang="en-US" sz="3000" dirty="0"/>
          </a:p>
        </p:txBody>
      </p:sp>
      <p:sp>
        <p:nvSpPr>
          <p:cNvPr id="28" name="Text 21"/>
          <p:cNvSpPr txBox="1"/>
          <p:nvPr/>
        </p:nvSpPr>
        <p:spPr>
          <a:xfrm>
            <a:off x="822960" y="5074920"/>
            <a:ext cx="2971800" cy="365760"/>
          </a:xfrm>
          <a:prstGeom prst="rect">
            <a:avLst/>
          </a:prstGeom>
          <a:noFill/>
          <a:ln/>
        </p:spPr>
        <p:txBody>
          <a:bodyPr wrap="square" lIns="0" tIns="0" rIns="0" bIns="0" rtlCol="0" anchor="t"/>
          <a:lstStyle/>
          <a:p>
            <a:pPr indent="0" marL="0">
              <a:buNone/>
            </a:pPr>
            <a:r>
              <a:rPr lang="en-US" sz="1800" b="1" dirty="0">
                <a:solidFill>
                  <a:srgbClr val="0B1F44"/>
                </a:solidFill>
                <a:latin typeface="Arial" pitchFamily="34" charset="0"/>
                <a:ea typeface="Arial" pitchFamily="34" charset="-122"/>
                <a:cs typeface="Arial" pitchFamily="34" charset="-120"/>
              </a:rPr>
              <a:t>Challenges and solutions</a:t>
            </a:r>
            <a:endParaRPr lang="en-US" sz="1800" dirty="0"/>
          </a:p>
        </p:txBody>
      </p:sp>
      <p:sp>
        <p:nvSpPr>
          <p:cNvPr id="29" name="Text 22"/>
          <p:cNvSpPr txBox="1"/>
          <p:nvPr/>
        </p:nvSpPr>
        <p:spPr>
          <a:xfrm>
            <a:off x="822960" y="5458968"/>
            <a:ext cx="2971800" cy="548640"/>
          </a:xfrm>
          <a:prstGeom prst="rect">
            <a:avLst/>
          </a:prstGeom>
          <a:noFill/>
          <a:ln/>
        </p:spPr>
        <p:txBody>
          <a:bodyPr wrap="square" lIns="0" tIns="0" rIns="0" bIns="0" rtlCol="0" anchor="t"/>
          <a:lstStyle/>
          <a:p>
            <a:pPr indent="0" marL="0">
              <a:buNone/>
            </a:pPr>
            <a:r>
              <a:rPr lang="en-US" sz="1300" dirty="0">
                <a:solidFill>
                  <a:srgbClr val="5B6472"/>
                </a:solidFill>
                <a:latin typeface="Arial" pitchFamily="34" charset="0"/>
                <a:ea typeface="Arial" pitchFamily="34" charset="-122"/>
                <a:cs typeface="Arial" pitchFamily="34" charset="-120"/>
              </a:rPr>
              <a:t>Problems we faced, our approach and the results</a:t>
            </a:r>
            <a:endParaRPr lang="en-US" sz="1300" dirty="0"/>
          </a:p>
        </p:txBody>
      </p:sp>
      <p:sp>
        <p:nvSpPr>
          <p:cNvPr id="30" name="Shape 23"/>
          <p:cNvSpPr/>
          <p:nvPr/>
        </p:nvSpPr>
        <p:spPr>
          <a:xfrm>
            <a:off x="4334256" y="3977640"/>
            <a:ext cx="3520440" cy="2103120"/>
          </a:xfrm>
          <a:prstGeom prst="roundRect">
            <a:avLst>
              <a:gd name="adj" fmla="val 5217"/>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31" name="Shape 24"/>
          <p:cNvSpPr/>
          <p:nvPr/>
        </p:nvSpPr>
        <p:spPr>
          <a:xfrm>
            <a:off x="4608576" y="4251960"/>
            <a:ext cx="685800" cy="685800"/>
          </a:xfrm>
          <a:prstGeom prst="ellipse">
            <a:avLst/>
          </a:prstGeom>
          <a:solidFill>
            <a:srgbClr val="1B75BB"/>
          </a:solidFill>
          <a:ln w="12700">
            <a:solidFill>
              <a:srgbClr val="1B75BB"/>
            </a:solidFill>
            <a:prstDash val="solid"/>
          </a:ln>
        </p:spPr>
      </p:sp>
      <p:pic>
        <p:nvPicPr>
          <p:cNvPr id="32" name="Image 5" descr="preencoded.png">    </p:cNvPr>
          <p:cNvPicPr>
            <a:picLocks noChangeAspect="1"/>
          </p:cNvPicPr>
          <p:nvPr/>
        </p:nvPicPr>
        <p:blipFill>
          <a:blip r:embed="rId6"/>
          <a:stretch>
            <a:fillRect/>
          </a:stretch>
        </p:blipFill>
        <p:spPr>
          <a:xfrm>
            <a:off x="4786884" y="4430268"/>
            <a:ext cx="329184" cy="329184"/>
          </a:xfrm>
          <a:prstGeom prst="rect">
            <a:avLst/>
          </a:prstGeom>
        </p:spPr>
      </p:pic>
      <p:sp>
        <p:nvSpPr>
          <p:cNvPr id="33" name="Text 25"/>
          <p:cNvSpPr txBox="1"/>
          <p:nvPr/>
        </p:nvSpPr>
        <p:spPr>
          <a:xfrm>
            <a:off x="6848856" y="4206240"/>
            <a:ext cx="731520" cy="548640"/>
          </a:xfrm>
          <a:prstGeom prst="rect">
            <a:avLst/>
          </a:prstGeom>
          <a:noFill/>
          <a:ln/>
        </p:spPr>
        <p:txBody>
          <a:bodyPr wrap="square" lIns="0" tIns="0" rIns="0" bIns="0" rtlCol="0" anchor="t"/>
          <a:lstStyle/>
          <a:p>
            <a:pPr algn="r" indent="0" marL="0">
              <a:buNone/>
            </a:pPr>
            <a:r>
              <a:rPr lang="en-US" sz="3000" b="1" dirty="0">
                <a:solidFill>
                  <a:srgbClr val="D5DEEC"/>
                </a:solidFill>
                <a:latin typeface="Arial" pitchFamily="34" charset="0"/>
                <a:ea typeface="Arial" pitchFamily="34" charset="-122"/>
                <a:cs typeface="Arial" pitchFamily="34" charset="-120"/>
              </a:rPr>
              <a:t>05</a:t>
            </a:r>
            <a:endParaRPr lang="en-US" sz="3000" dirty="0"/>
          </a:p>
        </p:txBody>
      </p:sp>
      <p:sp>
        <p:nvSpPr>
          <p:cNvPr id="34" name="Text 26"/>
          <p:cNvSpPr txBox="1"/>
          <p:nvPr/>
        </p:nvSpPr>
        <p:spPr>
          <a:xfrm>
            <a:off x="4608576" y="5074920"/>
            <a:ext cx="2971800" cy="365760"/>
          </a:xfrm>
          <a:prstGeom prst="rect">
            <a:avLst/>
          </a:prstGeom>
          <a:noFill/>
          <a:ln/>
        </p:spPr>
        <p:txBody>
          <a:bodyPr wrap="square" lIns="0" tIns="0" rIns="0" bIns="0" rtlCol="0" anchor="t"/>
          <a:lstStyle/>
          <a:p>
            <a:pPr indent="0" marL="0">
              <a:buNone/>
            </a:pPr>
            <a:r>
              <a:rPr lang="en-US" sz="1800" b="1" dirty="0">
                <a:solidFill>
                  <a:srgbClr val="0B1F44"/>
                </a:solidFill>
                <a:latin typeface="Arial" pitchFamily="34" charset="0"/>
                <a:ea typeface="Arial" pitchFamily="34" charset="-122"/>
                <a:cs typeface="Arial" pitchFamily="34" charset="-120"/>
              </a:rPr>
              <a:t>Summary of the outcome</a:t>
            </a:r>
            <a:endParaRPr lang="en-US" sz="1800" dirty="0"/>
          </a:p>
        </p:txBody>
      </p:sp>
      <p:sp>
        <p:nvSpPr>
          <p:cNvPr id="35" name="Text 27"/>
          <p:cNvSpPr txBox="1"/>
          <p:nvPr/>
        </p:nvSpPr>
        <p:spPr>
          <a:xfrm>
            <a:off x="4608576" y="5458968"/>
            <a:ext cx="2971800" cy="548640"/>
          </a:xfrm>
          <a:prstGeom prst="rect">
            <a:avLst/>
          </a:prstGeom>
          <a:noFill/>
          <a:ln/>
        </p:spPr>
        <p:txBody>
          <a:bodyPr wrap="square" lIns="0" tIns="0" rIns="0" bIns="0" rtlCol="0" anchor="t"/>
          <a:lstStyle/>
          <a:p>
            <a:pPr indent="0" marL="0">
              <a:buNone/>
            </a:pPr>
            <a:r>
              <a:rPr lang="en-US" sz="1300" dirty="0">
                <a:solidFill>
                  <a:srgbClr val="5B6472"/>
                </a:solidFill>
                <a:latin typeface="Arial" pitchFamily="34" charset="0"/>
                <a:ea typeface="Arial" pitchFamily="34" charset="-122"/>
                <a:cs typeface="Arial" pitchFamily="34" charset="-120"/>
              </a:rPr>
              <a:t>What we got out of the project</a:t>
            </a:r>
            <a:endParaRPr lang="en-US" sz="1300" dirty="0"/>
          </a:p>
        </p:txBody>
      </p:sp>
      <p:sp>
        <p:nvSpPr>
          <p:cNvPr id="36" name="Shape 28"/>
          <p:cNvSpPr/>
          <p:nvPr/>
        </p:nvSpPr>
        <p:spPr>
          <a:xfrm>
            <a:off x="8119872" y="3977640"/>
            <a:ext cx="3520440" cy="2103120"/>
          </a:xfrm>
          <a:prstGeom prst="roundRect">
            <a:avLst>
              <a:gd name="adj" fmla="val 5217"/>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37" name="Shape 29"/>
          <p:cNvSpPr/>
          <p:nvPr/>
        </p:nvSpPr>
        <p:spPr>
          <a:xfrm>
            <a:off x="8394192" y="4251960"/>
            <a:ext cx="685800" cy="685800"/>
          </a:xfrm>
          <a:prstGeom prst="ellipse">
            <a:avLst/>
          </a:prstGeom>
          <a:solidFill>
            <a:srgbClr val="004AAD"/>
          </a:solidFill>
          <a:ln w="12700">
            <a:solidFill>
              <a:srgbClr val="004AAD"/>
            </a:solidFill>
            <a:prstDash val="solid"/>
          </a:ln>
        </p:spPr>
      </p:sp>
      <p:pic>
        <p:nvPicPr>
          <p:cNvPr id="38" name="Image 6" descr="preencoded.png">    </p:cNvPr>
          <p:cNvPicPr>
            <a:picLocks noChangeAspect="1"/>
          </p:cNvPicPr>
          <p:nvPr/>
        </p:nvPicPr>
        <p:blipFill>
          <a:blip r:embed="rId7"/>
          <a:stretch>
            <a:fillRect/>
          </a:stretch>
        </p:blipFill>
        <p:spPr>
          <a:xfrm>
            <a:off x="8572500" y="4430268"/>
            <a:ext cx="329184" cy="329184"/>
          </a:xfrm>
          <a:prstGeom prst="rect">
            <a:avLst/>
          </a:prstGeom>
        </p:spPr>
      </p:pic>
      <p:sp>
        <p:nvSpPr>
          <p:cNvPr id="39" name="Text 30"/>
          <p:cNvSpPr txBox="1"/>
          <p:nvPr/>
        </p:nvSpPr>
        <p:spPr>
          <a:xfrm>
            <a:off x="10634472" y="4206240"/>
            <a:ext cx="731520" cy="548640"/>
          </a:xfrm>
          <a:prstGeom prst="rect">
            <a:avLst/>
          </a:prstGeom>
          <a:noFill/>
          <a:ln/>
        </p:spPr>
        <p:txBody>
          <a:bodyPr wrap="square" lIns="0" tIns="0" rIns="0" bIns="0" rtlCol="0" anchor="t"/>
          <a:lstStyle/>
          <a:p>
            <a:pPr algn="r" indent="0" marL="0">
              <a:buNone/>
            </a:pPr>
            <a:r>
              <a:rPr lang="en-US" sz="3000" b="1" dirty="0">
                <a:solidFill>
                  <a:srgbClr val="D5DEEC"/>
                </a:solidFill>
                <a:latin typeface="Arial" pitchFamily="34" charset="0"/>
                <a:ea typeface="Arial" pitchFamily="34" charset="-122"/>
                <a:cs typeface="Arial" pitchFamily="34" charset="-120"/>
              </a:rPr>
              <a:t>06</a:t>
            </a:r>
            <a:endParaRPr lang="en-US" sz="3000" dirty="0"/>
          </a:p>
        </p:txBody>
      </p:sp>
      <p:sp>
        <p:nvSpPr>
          <p:cNvPr id="40" name="Text 31"/>
          <p:cNvSpPr txBox="1"/>
          <p:nvPr/>
        </p:nvSpPr>
        <p:spPr>
          <a:xfrm>
            <a:off x="8394192" y="5074920"/>
            <a:ext cx="2971800" cy="365760"/>
          </a:xfrm>
          <a:prstGeom prst="rect">
            <a:avLst/>
          </a:prstGeom>
          <a:noFill/>
          <a:ln/>
        </p:spPr>
        <p:txBody>
          <a:bodyPr wrap="square" lIns="0" tIns="0" rIns="0" bIns="0" rtlCol="0" anchor="t"/>
          <a:lstStyle/>
          <a:p>
            <a:pPr indent="0" marL="0">
              <a:buNone/>
            </a:pPr>
            <a:r>
              <a:rPr lang="en-US" sz="1800" b="1" dirty="0">
                <a:solidFill>
                  <a:srgbClr val="0B1F44"/>
                </a:solidFill>
                <a:latin typeface="Arial" pitchFamily="34" charset="0"/>
                <a:ea typeface="Arial" pitchFamily="34" charset="-122"/>
                <a:cs typeface="Arial" pitchFamily="34" charset="-120"/>
              </a:rPr>
              <a:t>Future work</a:t>
            </a:r>
            <a:endParaRPr lang="en-US" sz="1800" dirty="0"/>
          </a:p>
        </p:txBody>
      </p:sp>
      <p:sp>
        <p:nvSpPr>
          <p:cNvPr id="41" name="Text 32"/>
          <p:cNvSpPr txBox="1"/>
          <p:nvPr/>
        </p:nvSpPr>
        <p:spPr>
          <a:xfrm>
            <a:off x="8394192" y="5458968"/>
            <a:ext cx="2971800" cy="548640"/>
          </a:xfrm>
          <a:prstGeom prst="rect">
            <a:avLst/>
          </a:prstGeom>
          <a:noFill/>
          <a:ln/>
        </p:spPr>
        <p:txBody>
          <a:bodyPr wrap="square" lIns="0" tIns="0" rIns="0" bIns="0" rtlCol="0" anchor="t"/>
          <a:lstStyle/>
          <a:p>
            <a:pPr indent="0" marL="0">
              <a:buNone/>
            </a:pPr>
            <a:r>
              <a:rPr lang="en-US" sz="1300" dirty="0">
                <a:solidFill>
                  <a:srgbClr val="5B6472"/>
                </a:solidFill>
                <a:latin typeface="Arial" pitchFamily="34" charset="0"/>
                <a:ea typeface="Arial" pitchFamily="34" charset="-122"/>
                <a:cs typeface="Arial" pitchFamily="34" charset="-120"/>
              </a:rPr>
              <a:t>Where the design goes next</a:t>
            </a:r>
            <a:endParaRPr lang="en-US"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47472"/>
            <a:ext cx="7315200" cy="228600"/>
          </a:xfrm>
          <a:prstGeom prst="rect">
            <a:avLst/>
          </a:prstGeom>
          <a:noFill/>
          <a:ln/>
        </p:spPr>
        <p:txBody>
          <a:bodyPr wrap="square" lIns="0" tIns="0" rIns="0" bIns="0" rtlCol="0" anchor="t"/>
          <a:lstStyle/>
          <a:p>
            <a:pPr indent="0" marL="0">
              <a:buNone/>
            </a:pPr>
            <a:r>
              <a:rPr lang="en-US" sz="1200" b="1" spc="300" kern="0" dirty="0">
                <a:solidFill>
                  <a:srgbClr val="FF5757"/>
                </a:solidFill>
                <a:latin typeface="Arial" pitchFamily="34" charset="0"/>
                <a:ea typeface="Arial" pitchFamily="34" charset="-122"/>
                <a:cs typeface="Arial" pitchFamily="34" charset="-120"/>
              </a:rPr>
              <a:t>PROJECT OVERVIEW</a:t>
            </a:r>
            <a:endParaRPr lang="en-US" sz="1200" dirty="0"/>
          </a:p>
        </p:txBody>
      </p:sp>
      <p:sp>
        <p:nvSpPr>
          <p:cNvPr id="3" name="Text 1"/>
          <p:cNvSpPr txBox="1"/>
          <p:nvPr/>
        </p:nvSpPr>
        <p:spPr>
          <a:xfrm>
            <a:off x="548640" y="603504"/>
            <a:ext cx="9966960" cy="685800"/>
          </a:xfrm>
          <a:prstGeom prst="rect">
            <a:avLst/>
          </a:prstGeom>
          <a:noFill/>
          <a:ln/>
        </p:spPr>
        <p:txBody>
          <a:bodyPr wrap="square" lIns="0" tIns="0" rIns="0" bIns="0" rtlCol="0" anchor="ctr"/>
          <a:lstStyle/>
          <a:p>
            <a:pPr indent="0" marL="0">
              <a:buNone/>
            </a:pPr>
            <a:r>
              <a:rPr lang="en-US" sz="3200" b="1" dirty="0">
                <a:solidFill>
                  <a:srgbClr val="0B1F44"/>
                </a:solidFill>
                <a:latin typeface="Arial" pitchFamily="34" charset="0"/>
                <a:ea typeface="Arial" pitchFamily="34" charset="-122"/>
                <a:cs typeface="Arial" pitchFamily="34" charset="-120"/>
              </a:rPr>
              <a:t>Project overview</a:t>
            </a:r>
            <a:endParaRPr lang="en-US" sz="3200" dirty="0"/>
          </a:p>
        </p:txBody>
      </p:sp>
      <p:pic>
        <p:nvPicPr>
          <p:cNvPr id="4" name="Image 0" descr="/home/claude/assets/logo.png">    </p:cNvPr>
          <p:cNvPicPr>
            <a:picLocks noChangeAspect="1"/>
          </p:cNvPicPr>
          <p:nvPr/>
        </p:nvPicPr>
        <p:blipFill>
          <a:blip r:embed="rId1"/>
          <a:stretch>
            <a:fillRect/>
          </a:stretch>
        </p:blipFill>
        <p:spPr>
          <a:xfrm>
            <a:off x="10744200" y="365760"/>
            <a:ext cx="896112" cy="434340"/>
          </a:xfrm>
          <a:prstGeom prst="rect">
            <a:avLst/>
          </a:prstGeom>
        </p:spPr>
      </p:pic>
      <p:sp>
        <p:nvSpPr>
          <p:cNvPr id="5" name="Text 2"/>
          <p:cNvSpPr txBox="1"/>
          <p:nvPr/>
        </p:nvSpPr>
        <p:spPr>
          <a:xfrm>
            <a:off x="548640" y="6428232"/>
            <a:ext cx="6400800" cy="228600"/>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Secure UART Communication System  ·  NTI Digital Design Project</a:t>
            </a:r>
            <a:endParaRPr lang="en-US" sz="1000" dirty="0"/>
          </a:p>
        </p:txBody>
      </p:sp>
      <p:sp>
        <p:nvSpPr>
          <p:cNvPr id="6" name="Text 3"/>
          <p:cNvSpPr txBox="1"/>
          <p:nvPr/>
        </p:nvSpPr>
        <p:spPr>
          <a:xfrm>
            <a:off x="548640" y="1371600"/>
            <a:ext cx="10515600" cy="365760"/>
          </a:xfrm>
          <a:prstGeom prst="rect">
            <a:avLst/>
          </a:prstGeom>
          <a:noFill/>
          <a:ln/>
        </p:spPr>
        <p:txBody>
          <a:bodyPr wrap="square" lIns="0" tIns="0" rIns="0" bIns="0" rtlCol="0" anchor="t"/>
          <a:lstStyle/>
          <a:p>
            <a:pPr indent="0" marL="0">
              <a:buNone/>
            </a:pPr>
            <a:r>
              <a:rPr lang="en-US" sz="1600" dirty="0">
                <a:solidFill>
                  <a:srgbClr val="5B6472"/>
                </a:solidFill>
                <a:latin typeface="Arial" pitchFamily="34" charset="0"/>
                <a:ea typeface="Arial" pitchFamily="34" charset="-122"/>
                <a:cs typeface="Arial" pitchFamily="34" charset="-120"/>
              </a:rPr>
              <a:t>A complete hardware communication and security datapath in Verilog/SystemVerilog RTL</a:t>
            </a:r>
            <a:endParaRPr lang="en-US" sz="1600" dirty="0"/>
          </a:p>
        </p:txBody>
      </p:sp>
      <p:sp>
        <p:nvSpPr>
          <p:cNvPr id="7" name="Shape 4"/>
          <p:cNvSpPr/>
          <p:nvPr/>
        </p:nvSpPr>
        <p:spPr>
          <a:xfrm>
            <a:off x="548640" y="2057400"/>
            <a:ext cx="1581912" cy="1143000"/>
          </a:xfrm>
          <a:prstGeom prst="roundRect">
            <a:avLst>
              <a:gd name="adj" fmla="val 9600"/>
            </a:avLst>
          </a:prstGeom>
          <a:solidFill>
            <a:srgbClr val="EAF1FB"/>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8" name="Text 5"/>
          <p:cNvSpPr txBox="1"/>
          <p:nvPr/>
        </p:nvSpPr>
        <p:spPr>
          <a:xfrm>
            <a:off x="548640" y="2057400"/>
            <a:ext cx="1581912" cy="1143000"/>
          </a:xfrm>
          <a:prstGeom prst="rect">
            <a:avLst/>
          </a:prstGeom>
          <a:noFill/>
          <a:ln/>
        </p:spPr>
        <p:txBody>
          <a:bodyPr wrap="square" lIns="0" tIns="0" rIns="0" bIns="0" rtlCol="0" anchor="ctr"/>
          <a:lstStyle/>
          <a:p>
            <a:pPr algn="ctr" indent="0" marL="0">
              <a:buNone/>
            </a:pPr>
            <a:r>
              <a:rPr lang="en-US" sz="1500" b="1" dirty="0">
                <a:solidFill>
                  <a:srgbClr val="0B1F44"/>
                </a:solidFill>
                <a:latin typeface="Arial" pitchFamily="34" charset="0"/>
                <a:ea typeface="Arial" pitchFamily="34" charset="-122"/>
                <a:cs typeface="Arial" pitchFamily="34" charset="-120"/>
              </a:rPr>
              <a:t>Application</a:t>
            </a:r>
            <a:endParaRPr lang="en-US" sz="1500" dirty="0"/>
          </a:p>
          <a:p>
            <a:pPr algn="ctr" indent="0" marL="0">
              <a:buNone/>
            </a:pPr>
            <a:r>
              <a:rPr lang="en-US" sz="1500" b="1" dirty="0">
                <a:solidFill>
                  <a:srgbClr val="0B1F44"/>
                </a:solidFill>
                <a:latin typeface="Arial" pitchFamily="34" charset="0"/>
                <a:ea typeface="Arial" pitchFamily="34" charset="-122"/>
                <a:cs typeface="Arial" pitchFamily="34" charset="-120"/>
              </a:rPr>
              <a:t>data</a:t>
            </a:r>
            <a:endParaRPr lang="en-US" sz="1500" dirty="0"/>
          </a:p>
        </p:txBody>
      </p:sp>
      <p:sp>
        <p:nvSpPr>
          <p:cNvPr id="9" name="Shape 6"/>
          <p:cNvSpPr/>
          <p:nvPr/>
        </p:nvSpPr>
        <p:spPr>
          <a:xfrm>
            <a:off x="2157984" y="2628900"/>
            <a:ext cx="265176" cy="0"/>
          </a:xfrm>
          <a:prstGeom prst="line">
            <a:avLst/>
          </a:prstGeom>
          <a:noFill/>
          <a:ln w="25400">
            <a:solidFill>
              <a:srgbClr val="FF5757"/>
            </a:solidFill>
            <a:prstDash val="solid"/>
            <a:tailEnd type="triangle"/>
          </a:ln>
        </p:spPr>
      </p:sp>
      <p:sp>
        <p:nvSpPr>
          <p:cNvPr id="10" name="Shape 7"/>
          <p:cNvSpPr/>
          <p:nvPr/>
        </p:nvSpPr>
        <p:spPr>
          <a:xfrm>
            <a:off x="2450592" y="2057400"/>
            <a:ext cx="1581912" cy="1143000"/>
          </a:xfrm>
          <a:prstGeom prst="roundRect">
            <a:avLst>
              <a:gd name="adj" fmla="val 9600"/>
            </a:avLst>
          </a:prstGeom>
          <a:solidFill>
            <a:srgbClr val="004AAD"/>
          </a:solidFill>
          <a:ln w="9525">
            <a:solidFill>
              <a:srgbClr val="004AAD"/>
            </a:solidFill>
            <a:prstDash val="solid"/>
          </a:ln>
          <a:effectLst>
            <a:outerShdw sx="100000" sy="100000" kx="0" ky="0" algn="bl" rotWithShape="0" blurRad="101600" dist="25400" dir="5400000">
              <a:srgbClr val="000000">
                <a:alpha val="10000"/>
              </a:srgbClr>
            </a:outerShdw>
          </a:effectLst>
        </p:spPr>
      </p:sp>
      <p:sp>
        <p:nvSpPr>
          <p:cNvPr id="11" name="Text 8"/>
          <p:cNvSpPr txBox="1"/>
          <p:nvPr/>
        </p:nvSpPr>
        <p:spPr>
          <a:xfrm>
            <a:off x="2450592" y="2057400"/>
            <a:ext cx="1581912" cy="11430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AES-128</a:t>
            </a:r>
            <a:endParaRPr lang="en-US" sz="1500" dirty="0"/>
          </a:p>
          <a:p>
            <a:pPr algn="ctr" indent="0" marL="0">
              <a:buNone/>
            </a:pPr>
            <a:r>
              <a:rPr lang="en-US" sz="1500" b="1" dirty="0">
                <a:solidFill>
                  <a:srgbClr val="FFFFFF"/>
                </a:solidFill>
                <a:latin typeface="Arial" pitchFamily="34" charset="0"/>
                <a:ea typeface="Arial" pitchFamily="34" charset="-122"/>
                <a:cs typeface="Arial" pitchFamily="34" charset="-120"/>
              </a:rPr>
              <a:t>Encryption</a:t>
            </a:r>
            <a:endParaRPr lang="en-US" sz="1500" dirty="0"/>
          </a:p>
        </p:txBody>
      </p:sp>
      <p:sp>
        <p:nvSpPr>
          <p:cNvPr id="12" name="Shape 9"/>
          <p:cNvSpPr/>
          <p:nvPr/>
        </p:nvSpPr>
        <p:spPr>
          <a:xfrm>
            <a:off x="4059936" y="2628900"/>
            <a:ext cx="265176" cy="0"/>
          </a:xfrm>
          <a:prstGeom prst="line">
            <a:avLst/>
          </a:prstGeom>
          <a:noFill/>
          <a:ln w="25400">
            <a:solidFill>
              <a:srgbClr val="FF5757"/>
            </a:solidFill>
            <a:prstDash val="solid"/>
            <a:tailEnd type="triangle"/>
          </a:ln>
        </p:spPr>
      </p:sp>
      <p:sp>
        <p:nvSpPr>
          <p:cNvPr id="13" name="Shape 10"/>
          <p:cNvSpPr/>
          <p:nvPr/>
        </p:nvSpPr>
        <p:spPr>
          <a:xfrm>
            <a:off x="4352544" y="2057400"/>
            <a:ext cx="1581912" cy="1143000"/>
          </a:xfrm>
          <a:prstGeom prst="roundRect">
            <a:avLst>
              <a:gd name="adj" fmla="val 9600"/>
            </a:avLst>
          </a:prstGeom>
          <a:solidFill>
            <a:srgbClr val="004AAD"/>
          </a:solidFill>
          <a:ln w="9525">
            <a:solidFill>
              <a:srgbClr val="004AAD"/>
            </a:solidFill>
            <a:prstDash val="solid"/>
          </a:ln>
          <a:effectLst>
            <a:outerShdw sx="100000" sy="100000" kx="0" ky="0" algn="bl" rotWithShape="0" blurRad="101600" dist="25400" dir="5400000">
              <a:srgbClr val="000000">
                <a:alpha val="10000"/>
              </a:srgbClr>
            </a:outerShdw>
          </a:effectLst>
        </p:spPr>
      </p:sp>
      <p:sp>
        <p:nvSpPr>
          <p:cNvPr id="14" name="Text 11"/>
          <p:cNvSpPr txBox="1"/>
          <p:nvPr/>
        </p:nvSpPr>
        <p:spPr>
          <a:xfrm>
            <a:off x="4352544" y="2057400"/>
            <a:ext cx="1581912" cy="11430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CRC-16/</a:t>
            </a:r>
            <a:endParaRPr lang="en-US" sz="1500" dirty="0"/>
          </a:p>
          <a:p>
            <a:pPr algn="ctr" indent="0" marL="0">
              <a:buNone/>
            </a:pPr>
            <a:r>
              <a:rPr lang="en-US" sz="1500" b="1" dirty="0">
                <a:solidFill>
                  <a:srgbClr val="FFFFFF"/>
                </a:solidFill>
                <a:latin typeface="Arial" pitchFamily="34" charset="0"/>
                <a:ea typeface="Arial" pitchFamily="34" charset="-122"/>
                <a:cs typeface="Arial" pitchFamily="34" charset="-120"/>
              </a:rPr>
              <a:t>XMODEM</a:t>
            </a:r>
            <a:endParaRPr lang="en-US" sz="1500" dirty="0"/>
          </a:p>
        </p:txBody>
      </p:sp>
      <p:sp>
        <p:nvSpPr>
          <p:cNvPr id="15" name="Shape 12"/>
          <p:cNvSpPr/>
          <p:nvPr/>
        </p:nvSpPr>
        <p:spPr>
          <a:xfrm>
            <a:off x="5961888" y="2628900"/>
            <a:ext cx="265176" cy="0"/>
          </a:xfrm>
          <a:prstGeom prst="line">
            <a:avLst/>
          </a:prstGeom>
          <a:noFill/>
          <a:ln w="25400">
            <a:solidFill>
              <a:srgbClr val="FF5757"/>
            </a:solidFill>
            <a:prstDash val="solid"/>
            <a:tailEnd type="triangle"/>
          </a:ln>
        </p:spPr>
      </p:sp>
      <p:sp>
        <p:nvSpPr>
          <p:cNvPr id="16" name="Shape 13"/>
          <p:cNvSpPr/>
          <p:nvPr/>
        </p:nvSpPr>
        <p:spPr>
          <a:xfrm>
            <a:off x="6254496" y="2057400"/>
            <a:ext cx="1581912" cy="1143000"/>
          </a:xfrm>
          <a:prstGeom prst="roundRect">
            <a:avLst>
              <a:gd name="adj" fmla="val 9600"/>
            </a:avLst>
          </a:prstGeom>
          <a:solidFill>
            <a:srgbClr val="004AAD"/>
          </a:solidFill>
          <a:ln w="9525">
            <a:solidFill>
              <a:srgbClr val="004AAD"/>
            </a:solidFill>
            <a:prstDash val="solid"/>
          </a:ln>
          <a:effectLst>
            <a:outerShdw sx="100000" sy="100000" kx="0" ky="0" algn="bl" rotWithShape="0" blurRad="101600" dist="25400" dir="5400000">
              <a:srgbClr val="000000">
                <a:alpha val="10000"/>
              </a:srgbClr>
            </a:outerShdw>
          </a:effectLst>
        </p:spPr>
      </p:sp>
      <p:sp>
        <p:nvSpPr>
          <p:cNvPr id="17" name="Text 14"/>
          <p:cNvSpPr txBox="1"/>
          <p:nvPr/>
        </p:nvSpPr>
        <p:spPr>
          <a:xfrm>
            <a:off x="6254496" y="2057400"/>
            <a:ext cx="1581912" cy="11430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UART</a:t>
            </a:r>
            <a:endParaRPr lang="en-US" sz="1500" dirty="0"/>
          </a:p>
          <a:p>
            <a:pPr algn="ctr" indent="0" marL="0">
              <a:buNone/>
            </a:pPr>
            <a:r>
              <a:rPr lang="en-US" sz="1500" b="1" dirty="0">
                <a:solidFill>
                  <a:srgbClr val="FFFFFF"/>
                </a:solidFill>
                <a:latin typeface="Arial" pitchFamily="34" charset="0"/>
                <a:ea typeface="Arial" pitchFamily="34" charset="-122"/>
                <a:cs typeface="Arial" pitchFamily="34" charset="-120"/>
              </a:rPr>
              <a:t>Transmitter</a:t>
            </a:r>
            <a:endParaRPr lang="en-US" sz="1500" dirty="0"/>
          </a:p>
        </p:txBody>
      </p:sp>
      <p:sp>
        <p:nvSpPr>
          <p:cNvPr id="18" name="Shape 15"/>
          <p:cNvSpPr/>
          <p:nvPr/>
        </p:nvSpPr>
        <p:spPr>
          <a:xfrm>
            <a:off x="7863840" y="2628900"/>
            <a:ext cx="265176" cy="0"/>
          </a:xfrm>
          <a:prstGeom prst="line">
            <a:avLst/>
          </a:prstGeom>
          <a:noFill/>
          <a:ln w="25400">
            <a:solidFill>
              <a:srgbClr val="FF5757"/>
            </a:solidFill>
            <a:prstDash val="solid"/>
            <a:tailEnd type="triangle"/>
          </a:ln>
        </p:spPr>
      </p:sp>
      <p:sp>
        <p:nvSpPr>
          <p:cNvPr id="19" name="Shape 16"/>
          <p:cNvSpPr/>
          <p:nvPr/>
        </p:nvSpPr>
        <p:spPr>
          <a:xfrm>
            <a:off x="8156448" y="2057400"/>
            <a:ext cx="1581912" cy="1143000"/>
          </a:xfrm>
          <a:prstGeom prst="roundRect">
            <a:avLst>
              <a:gd name="adj" fmla="val 9600"/>
            </a:avLst>
          </a:prstGeom>
          <a:solidFill>
            <a:srgbClr val="1B75BB"/>
          </a:solidFill>
          <a:ln w="9525">
            <a:solidFill>
              <a:srgbClr val="1B75BB"/>
            </a:solidFill>
            <a:prstDash val="solid"/>
          </a:ln>
          <a:effectLst>
            <a:outerShdw sx="100000" sy="100000" kx="0" ky="0" algn="bl" rotWithShape="0" blurRad="101600" dist="25400" dir="5400000">
              <a:srgbClr val="000000">
                <a:alpha val="10000"/>
              </a:srgbClr>
            </a:outerShdw>
          </a:effectLst>
        </p:spPr>
      </p:sp>
      <p:sp>
        <p:nvSpPr>
          <p:cNvPr id="20" name="Text 17"/>
          <p:cNvSpPr txBox="1"/>
          <p:nvPr/>
        </p:nvSpPr>
        <p:spPr>
          <a:xfrm>
            <a:off x="8156448" y="2057400"/>
            <a:ext cx="1581912" cy="11430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UART</a:t>
            </a:r>
            <a:endParaRPr lang="en-US" sz="1500" dirty="0"/>
          </a:p>
          <a:p>
            <a:pPr algn="ctr" indent="0" marL="0">
              <a:buNone/>
            </a:pPr>
            <a:r>
              <a:rPr lang="en-US" sz="1500" b="1" dirty="0">
                <a:solidFill>
                  <a:srgbClr val="FFFFFF"/>
                </a:solidFill>
                <a:latin typeface="Arial" pitchFamily="34" charset="0"/>
                <a:ea typeface="Arial" pitchFamily="34" charset="-122"/>
                <a:cs typeface="Arial" pitchFamily="34" charset="-120"/>
              </a:rPr>
              <a:t>Receiver</a:t>
            </a:r>
            <a:endParaRPr lang="en-US" sz="1500" dirty="0"/>
          </a:p>
        </p:txBody>
      </p:sp>
      <p:sp>
        <p:nvSpPr>
          <p:cNvPr id="21" name="Shape 18"/>
          <p:cNvSpPr/>
          <p:nvPr/>
        </p:nvSpPr>
        <p:spPr>
          <a:xfrm>
            <a:off x="9765792" y="2628900"/>
            <a:ext cx="265176" cy="0"/>
          </a:xfrm>
          <a:prstGeom prst="line">
            <a:avLst/>
          </a:prstGeom>
          <a:noFill/>
          <a:ln w="25400">
            <a:solidFill>
              <a:srgbClr val="5B6472"/>
            </a:solidFill>
            <a:prstDash val="solid"/>
            <a:tailEnd type="triangle"/>
          </a:ln>
        </p:spPr>
      </p:sp>
      <p:sp>
        <p:nvSpPr>
          <p:cNvPr id="22" name="Shape 19"/>
          <p:cNvSpPr/>
          <p:nvPr/>
        </p:nvSpPr>
        <p:spPr>
          <a:xfrm>
            <a:off x="10058400" y="2057400"/>
            <a:ext cx="1581912" cy="1143000"/>
          </a:xfrm>
          <a:prstGeom prst="roundRect">
            <a:avLst>
              <a:gd name="adj" fmla="val 9600"/>
            </a:avLst>
          </a:prstGeom>
          <a:solidFill>
            <a:srgbClr val="FFFFFF"/>
          </a:solidFill>
          <a:ln w="19050">
            <a:solidFill>
              <a:srgbClr val="5B6472"/>
            </a:solidFill>
            <a:prstDash val="dash"/>
          </a:ln>
        </p:spPr>
      </p:sp>
      <p:sp>
        <p:nvSpPr>
          <p:cNvPr id="23" name="Text 20"/>
          <p:cNvSpPr txBox="1"/>
          <p:nvPr/>
        </p:nvSpPr>
        <p:spPr>
          <a:xfrm>
            <a:off x="10058400" y="2057400"/>
            <a:ext cx="1581912" cy="1143000"/>
          </a:xfrm>
          <a:prstGeom prst="rect">
            <a:avLst/>
          </a:prstGeom>
          <a:noFill/>
          <a:ln/>
        </p:spPr>
        <p:txBody>
          <a:bodyPr wrap="square" lIns="0" tIns="0" rIns="0" bIns="0" rtlCol="0" anchor="ctr"/>
          <a:lstStyle/>
          <a:p>
            <a:pPr algn="ctr" indent="0" marL="0">
              <a:buNone/>
            </a:pPr>
            <a:r>
              <a:rPr lang="en-US" sz="1500" b="1" dirty="0">
                <a:solidFill>
                  <a:srgbClr val="5B6472"/>
                </a:solidFill>
                <a:latin typeface="Arial" pitchFamily="34" charset="0"/>
                <a:ea typeface="Arial" pitchFamily="34" charset="-122"/>
                <a:cs typeface="Arial" pitchFamily="34" charset="-120"/>
              </a:rPr>
              <a:t>CRC check +</a:t>
            </a:r>
            <a:endParaRPr lang="en-US" sz="1500" dirty="0"/>
          </a:p>
          <a:p>
            <a:pPr algn="ctr" indent="0" marL="0">
              <a:buNone/>
            </a:pPr>
            <a:r>
              <a:rPr lang="en-US" sz="1500" b="1" dirty="0">
                <a:solidFill>
                  <a:srgbClr val="5B6472"/>
                </a:solidFill>
                <a:latin typeface="Arial" pitchFamily="34" charset="0"/>
                <a:ea typeface="Arial" pitchFamily="34" charset="-122"/>
                <a:cs typeface="Arial" pitchFamily="34" charset="-120"/>
              </a:rPr>
              <a:t>AES decrypt</a:t>
            </a:r>
            <a:endParaRPr lang="en-US" sz="1500" dirty="0"/>
          </a:p>
        </p:txBody>
      </p:sp>
      <p:sp>
        <p:nvSpPr>
          <p:cNvPr id="24" name="Shape 21"/>
          <p:cNvSpPr/>
          <p:nvPr/>
        </p:nvSpPr>
        <p:spPr>
          <a:xfrm>
            <a:off x="2450592" y="3383280"/>
            <a:ext cx="1581912" cy="384048"/>
          </a:xfrm>
          <a:prstGeom prst="roundRect">
            <a:avLst>
              <a:gd name="adj" fmla="val 47619"/>
            </a:avLst>
          </a:prstGeom>
          <a:solidFill>
            <a:srgbClr val="EAF1FB"/>
          </a:solidFill>
          <a:ln w="12700">
            <a:solidFill>
              <a:srgbClr val="EAF1FB"/>
            </a:solidFill>
            <a:prstDash val="solid"/>
          </a:ln>
        </p:spPr>
      </p:sp>
      <p:sp>
        <p:nvSpPr>
          <p:cNvPr id="25" name="Text 22"/>
          <p:cNvSpPr txBox="1"/>
          <p:nvPr/>
        </p:nvSpPr>
        <p:spPr>
          <a:xfrm>
            <a:off x="2450592" y="3383280"/>
            <a:ext cx="1581912" cy="384048"/>
          </a:xfrm>
          <a:prstGeom prst="rect">
            <a:avLst/>
          </a:prstGeom>
          <a:noFill/>
          <a:ln/>
        </p:spPr>
        <p:txBody>
          <a:bodyPr wrap="square" lIns="0" tIns="0" rIns="0" bIns="0" rtlCol="0" anchor="ctr"/>
          <a:lstStyle/>
          <a:p>
            <a:pPr algn="ctr" indent="0" marL="0">
              <a:buNone/>
            </a:pPr>
            <a:r>
              <a:rPr lang="en-US" sz="1300" b="1" dirty="0">
                <a:solidFill>
                  <a:srgbClr val="004AAD"/>
                </a:solidFill>
                <a:latin typeface="Arial" pitchFamily="34" charset="0"/>
                <a:ea typeface="Arial" pitchFamily="34" charset="-122"/>
                <a:cs typeface="Arial" pitchFamily="34" charset="-120"/>
              </a:rPr>
              <a:t>Confidentiality</a:t>
            </a:r>
            <a:endParaRPr lang="en-US" sz="1300" dirty="0"/>
          </a:p>
        </p:txBody>
      </p:sp>
      <p:sp>
        <p:nvSpPr>
          <p:cNvPr id="26" name="Shape 23"/>
          <p:cNvSpPr/>
          <p:nvPr/>
        </p:nvSpPr>
        <p:spPr>
          <a:xfrm>
            <a:off x="4352544" y="3383280"/>
            <a:ext cx="1581912" cy="384048"/>
          </a:xfrm>
          <a:prstGeom prst="roundRect">
            <a:avLst>
              <a:gd name="adj" fmla="val 47619"/>
            </a:avLst>
          </a:prstGeom>
          <a:solidFill>
            <a:srgbClr val="EAF1FB"/>
          </a:solidFill>
          <a:ln w="12700">
            <a:solidFill>
              <a:srgbClr val="EAF1FB"/>
            </a:solidFill>
            <a:prstDash val="solid"/>
          </a:ln>
        </p:spPr>
      </p:sp>
      <p:sp>
        <p:nvSpPr>
          <p:cNvPr id="27" name="Text 24"/>
          <p:cNvSpPr txBox="1"/>
          <p:nvPr/>
        </p:nvSpPr>
        <p:spPr>
          <a:xfrm>
            <a:off x="4352544" y="3383280"/>
            <a:ext cx="1581912" cy="384048"/>
          </a:xfrm>
          <a:prstGeom prst="rect">
            <a:avLst/>
          </a:prstGeom>
          <a:noFill/>
          <a:ln/>
        </p:spPr>
        <p:txBody>
          <a:bodyPr wrap="square" lIns="0" tIns="0" rIns="0" bIns="0" rtlCol="0" anchor="ctr"/>
          <a:lstStyle/>
          <a:p>
            <a:pPr algn="ctr" indent="0" marL="0">
              <a:buNone/>
            </a:pPr>
            <a:r>
              <a:rPr lang="en-US" sz="1300" b="1" dirty="0">
                <a:solidFill>
                  <a:srgbClr val="004AAD"/>
                </a:solidFill>
                <a:latin typeface="Arial" pitchFamily="34" charset="0"/>
                <a:ea typeface="Arial" pitchFamily="34" charset="-122"/>
                <a:cs typeface="Arial" pitchFamily="34" charset="-120"/>
              </a:rPr>
              <a:t>Integrity</a:t>
            </a:r>
            <a:endParaRPr lang="en-US" sz="1300" dirty="0"/>
          </a:p>
        </p:txBody>
      </p:sp>
      <p:sp>
        <p:nvSpPr>
          <p:cNvPr id="28" name="Shape 25"/>
          <p:cNvSpPr/>
          <p:nvPr/>
        </p:nvSpPr>
        <p:spPr>
          <a:xfrm>
            <a:off x="6254496" y="3383280"/>
            <a:ext cx="3483864" cy="384048"/>
          </a:xfrm>
          <a:prstGeom prst="roundRect">
            <a:avLst>
              <a:gd name="adj" fmla="val 47619"/>
            </a:avLst>
          </a:prstGeom>
          <a:solidFill>
            <a:srgbClr val="EAF1FB"/>
          </a:solidFill>
          <a:ln w="12700">
            <a:solidFill>
              <a:srgbClr val="EAF1FB"/>
            </a:solidFill>
            <a:prstDash val="solid"/>
          </a:ln>
        </p:spPr>
      </p:sp>
      <p:sp>
        <p:nvSpPr>
          <p:cNvPr id="29" name="Text 26"/>
          <p:cNvSpPr txBox="1"/>
          <p:nvPr/>
        </p:nvSpPr>
        <p:spPr>
          <a:xfrm>
            <a:off x="6254496" y="3383280"/>
            <a:ext cx="3483864" cy="384048"/>
          </a:xfrm>
          <a:prstGeom prst="rect">
            <a:avLst/>
          </a:prstGeom>
          <a:noFill/>
          <a:ln/>
        </p:spPr>
        <p:txBody>
          <a:bodyPr wrap="square" lIns="0" tIns="0" rIns="0" bIns="0" rtlCol="0" anchor="ctr"/>
          <a:lstStyle/>
          <a:p>
            <a:pPr algn="ctr" indent="0" marL="0">
              <a:buNone/>
            </a:pPr>
            <a:r>
              <a:rPr lang="en-US" sz="1300" b="1" dirty="0">
                <a:solidFill>
                  <a:srgbClr val="1B75BB"/>
                </a:solidFill>
                <a:latin typeface="Arial" pitchFamily="34" charset="0"/>
                <a:ea typeface="Arial" pitchFamily="34" charset="-122"/>
                <a:cs typeface="Arial" pitchFamily="34" charset="-120"/>
              </a:rPr>
              <a:t>Serial transport</a:t>
            </a:r>
            <a:endParaRPr lang="en-US" sz="1300" dirty="0"/>
          </a:p>
        </p:txBody>
      </p:sp>
      <p:sp>
        <p:nvSpPr>
          <p:cNvPr id="30" name="Text 27"/>
          <p:cNvSpPr txBox="1"/>
          <p:nvPr/>
        </p:nvSpPr>
        <p:spPr>
          <a:xfrm>
            <a:off x="548640" y="3913632"/>
            <a:ext cx="1371600" cy="274320"/>
          </a:xfrm>
          <a:prstGeom prst="rect">
            <a:avLst/>
          </a:prstGeom>
          <a:noFill/>
          <a:ln/>
        </p:spPr>
        <p:txBody>
          <a:bodyPr wrap="square" lIns="0" tIns="0" rIns="0" bIns="0" rtlCol="0" anchor="t"/>
          <a:lstStyle/>
          <a:p>
            <a:pPr indent="0" marL="0">
              <a:buNone/>
            </a:pPr>
            <a:r>
              <a:rPr lang="en-US" sz="1100" dirty="0">
                <a:solidFill>
                  <a:srgbClr val="5B6472"/>
                </a:solidFill>
                <a:latin typeface="Arial" pitchFamily="34" charset="0"/>
                <a:ea typeface="Arial" pitchFamily="34" charset="-122"/>
                <a:cs typeface="Arial" pitchFamily="34" charset="-120"/>
              </a:rPr>
              <a:t>Implemented</a:t>
            </a:r>
            <a:endParaRPr lang="en-US" sz="1100" dirty="0"/>
          </a:p>
        </p:txBody>
      </p:sp>
      <p:sp>
        <p:nvSpPr>
          <p:cNvPr id="31" name="Text 28"/>
          <p:cNvSpPr txBox="1"/>
          <p:nvPr/>
        </p:nvSpPr>
        <p:spPr>
          <a:xfrm>
            <a:off x="10058400" y="3913632"/>
            <a:ext cx="1581912" cy="274320"/>
          </a:xfrm>
          <a:prstGeom prst="rect">
            <a:avLst/>
          </a:prstGeom>
          <a:noFill/>
          <a:ln/>
        </p:spPr>
        <p:txBody>
          <a:bodyPr wrap="square" lIns="0" tIns="0" rIns="0" bIns="0" rtlCol="0" anchor="t"/>
          <a:lstStyle/>
          <a:p>
            <a:pPr algn="ctr" indent="0" marL="0">
              <a:buNone/>
            </a:pPr>
            <a:r>
              <a:rPr lang="en-US" sz="1100" dirty="0">
                <a:solidFill>
                  <a:srgbClr val="5B6472"/>
                </a:solidFill>
                <a:latin typeface="Arial" pitchFamily="34" charset="0"/>
                <a:ea typeface="Arial" pitchFamily="34" charset="-122"/>
                <a:cs typeface="Arial" pitchFamily="34" charset="-120"/>
              </a:rPr>
              <a:t>Future work</a:t>
            </a:r>
            <a:endParaRPr lang="en-US" sz="1100" dirty="0"/>
          </a:p>
        </p:txBody>
      </p:sp>
      <p:sp>
        <p:nvSpPr>
          <p:cNvPr id="32" name="Shape 29"/>
          <p:cNvSpPr/>
          <p:nvPr/>
        </p:nvSpPr>
        <p:spPr>
          <a:xfrm>
            <a:off x="548640" y="4434840"/>
            <a:ext cx="3520440" cy="1691640"/>
          </a:xfrm>
          <a:prstGeom prst="roundRect">
            <a:avLst>
              <a:gd name="adj" fmla="val 6486"/>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33" name="Shape 30"/>
          <p:cNvSpPr/>
          <p:nvPr/>
        </p:nvSpPr>
        <p:spPr>
          <a:xfrm>
            <a:off x="777240" y="4663440"/>
            <a:ext cx="548640" cy="548640"/>
          </a:xfrm>
          <a:prstGeom prst="ellipse">
            <a:avLst/>
          </a:prstGeom>
          <a:solidFill>
            <a:srgbClr val="004AAD"/>
          </a:solidFill>
          <a:ln w="12700">
            <a:solidFill>
              <a:srgbClr val="004AAD"/>
            </a:solidFill>
            <a:prstDash val="solid"/>
          </a:ln>
        </p:spPr>
      </p:sp>
      <p:pic>
        <p:nvPicPr>
          <p:cNvPr id="34" name="Image 1" descr="preencoded.png">    </p:cNvPr>
          <p:cNvPicPr>
            <a:picLocks noChangeAspect="1"/>
          </p:cNvPicPr>
          <p:nvPr/>
        </p:nvPicPr>
        <p:blipFill>
          <a:blip r:embed="rId2"/>
          <a:stretch>
            <a:fillRect/>
          </a:stretch>
        </p:blipFill>
        <p:spPr>
          <a:xfrm>
            <a:off x="919886" y="4806086"/>
            <a:ext cx="263347" cy="263347"/>
          </a:xfrm>
          <a:prstGeom prst="rect">
            <a:avLst/>
          </a:prstGeom>
        </p:spPr>
      </p:pic>
      <p:sp>
        <p:nvSpPr>
          <p:cNvPr id="35" name="Text 31"/>
          <p:cNvSpPr txBox="1"/>
          <p:nvPr/>
        </p:nvSpPr>
        <p:spPr>
          <a:xfrm>
            <a:off x="1508760" y="4690872"/>
            <a:ext cx="2377440" cy="502920"/>
          </a:xfrm>
          <a:prstGeom prst="rect">
            <a:avLst/>
          </a:prstGeom>
          <a:noFill/>
          <a:ln/>
        </p:spPr>
        <p:txBody>
          <a:bodyPr wrap="square" lIns="0" tIns="0" rIns="0" bIns="0" rtlCol="0" anchor="ctr"/>
          <a:lstStyle/>
          <a:p>
            <a:pPr indent="0" marL="0">
              <a:buNone/>
            </a:pPr>
            <a:r>
              <a:rPr lang="en-US" sz="1700" b="1" dirty="0">
                <a:solidFill>
                  <a:srgbClr val="0B1F44"/>
                </a:solidFill>
                <a:latin typeface="Arial" pitchFamily="34" charset="0"/>
                <a:ea typeface="Arial" pitchFamily="34" charset="-122"/>
                <a:cs typeface="Arial" pitchFamily="34" charset="-120"/>
              </a:rPr>
              <a:t>AES-128</a:t>
            </a:r>
            <a:endParaRPr lang="en-US" sz="1700" dirty="0"/>
          </a:p>
        </p:txBody>
      </p:sp>
      <p:sp>
        <p:nvSpPr>
          <p:cNvPr id="36" name="Text 32"/>
          <p:cNvSpPr txBox="1"/>
          <p:nvPr/>
        </p:nvSpPr>
        <p:spPr>
          <a:xfrm>
            <a:off x="777240" y="5349240"/>
            <a:ext cx="3108960" cy="685800"/>
          </a:xfrm>
          <a:prstGeom prst="rect">
            <a:avLst/>
          </a:prstGeom>
          <a:noFill/>
          <a:ln/>
        </p:spPr>
        <p:txBody>
          <a:bodyPr wrap="square" lIns="0" tIns="0" rIns="0" bIns="0" rtlCol="0" anchor="t"/>
          <a:lstStyle/>
          <a:p>
            <a:pPr indent="0" marL="0">
              <a:buNone/>
            </a:pPr>
            <a:r>
              <a:rPr lang="en-US" sz="1300" dirty="0">
                <a:solidFill>
                  <a:srgbClr val="5B6472"/>
                </a:solidFill>
                <a:latin typeface="Arial" pitchFamily="34" charset="0"/>
                <a:ea typeface="Arial" pitchFamily="34" charset="-122"/>
                <a:cs typeface="Arial" pitchFamily="34" charset="-120"/>
              </a:rPr>
              <a:t>128-bit block and 128-bit key, 10 rounds, 128-bit ciphertext out.</a:t>
            </a:r>
            <a:endParaRPr lang="en-US" sz="1300" dirty="0"/>
          </a:p>
        </p:txBody>
      </p:sp>
      <p:sp>
        <p:nvSpPr>
          <p:cNvPr id="37" name="Shape 33"/>
          <p:cNvSpPr/>
          <p:nvPr/>
        </p:nvSpPr>
        <p:spPr>
          <a:xfrm>
            <a:off x="4334256" y="4434840"/>
            <a:ext cx="3520440" cy="1691640"/>
          </a:xfrm>
          <a:prstGeom prst="roundRect">
            <a:avLst>
              <a:gd name="adj" fmla="val 6486"/>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38" name="Shape 34"/>
          <p:cNvSpPr/>
          <p:nvPr/>
        </p:nvSpPr>
        <p:spPr>
          <a:xfrm>
            <a:off x="4562856" y="4663440"/>
            <a:ext cx="548640" cy="548640"/>
          </a:xfrm>
          <a:prstGeom prst="ellipse">
            <a:avLst/>
          </a:prstGeom>
          <a:solidFill>
            <a:srgbClr val="1B75BB"/>
          </a:solidFill>
          <a:ln w="12700">
            <a:solidFill>
              <a:srgbClr val="1B75BB"/>
            </a:solidFill>
            <a:prstDash val="solid"/>
          </a:ln>
        </p:spPr>
      </p:sp>
      <p:pic>
        <p:nvPicPr>
          <p:cNvPr id="39" name="Image 2" descr="preencoded.png">    </p:cNvPr>
          <p:cNvPicPr>
            <a:picLocks noChangeAspect="1"/>
          </p:cNvPicPr>
          <p:nvPr/>
        </p:nvPicPr>
        <p:blipFill>
          <a:blip r:embed="rId3"/>
          <a:stretch>
            <a:fillRect/>
          </a:stretch>
        </p:blipFill>
        <p:spPr>
          <a:xfrm>
            <a:off x="4705502" y="4806086"/>
            <a:ext cx="263347" cy="263347"/>
          </a:xfrm>
          <a:prstGeom prst="rect">
            <a:avLst/>
          </a:prstGeom>
        </p:spPr>
      </p:pic>
      <p:sp>
        <p:nvSpPr>
          <p:cNvPr id="40" name="Text 35"/>
          <p:cNvSpPr txBox="1"/>
          <p:nvPr/>
        </p:nvSpPr>
        <p:spPr>
          <a:xfrm>
            <a:off x="5294376" y="4690872"/>
            <a:ext cx="2377440" cy="502920"/>
          </a:xfrm>
          <a:prstGeom prst="rect">
            <a:avLst/>
          </a:prstGeom>
          <a:noFill/>
          <a:ln/>
        </p:spPr>
        <p:txBody>
          <a:bodyPr wrap="square" lIns="0" tIns="0" rIns="0" bIns="0" rtlCol="0" anchor="ctr"/>
          <a:lstStyle/>
          <a:p>
            <a:pPr indent="0" marL="0">
              <a:buNone/>
            </a:pPr>
            <a:r>
              <a:rPr lang="en-US" sz="1700" b="1" dirty="0">
                <a:solidFill>
                  <a:srgbClr val="0B1F44"/>
                </a:solidFill>
                <a:latin typeface="Arial" pitchFamily="34" charset="0"/>
                <a:ea typeface="Arial" pitchFamily="34" charset="-122"/>
                <a:cs typeface="Arial" pitchFamily="34" charset="-120"/>
              </a:rPr>
              <a:t>CRC-16/XMODEM</a:t>
            </a:r>
            <a:endParaRPr lang="en-US" sz="1700" dirty="0"/>
          </a:p>
        </p:txBody>
      </p:sp>
      <p:sp>
        <p:nvSpPr>
          <p:cNvPr id="41" name="Text 36"/>
          <p:cNvSpPr txBox="1"/>
          <p:nvPr/>
        </p:nvSpPr>
        <p:spPr>
          <a:xfrm>
            <a:off x="4562856" y="5349240"/>
            <a:ext cx="3108960" cy="685800"/>
          </a:xfrm>
          <a:prstGeom prst="rect">
            <a:avLst/>
          </a:prstGeom>
          <a:noFill/>
          <a:ln/>
        </p:spPr>
        <p:txBody>
          <a:bodyPr wrap="square" lIns="0" tIns="0" rIns="0" bIns="0" rtlCol="0" anchor="t"/>
          <a:lstStyle/>
          <a:p>
            <a:pPr indent="0" marL="0">
              <a:buNone/>
            </a:pPr>
            <a:r>
              <a:rPr lang="en-US" sz="1300" dirty="0">
                <a:solidFill>
                  <a:srgbClr val="5B6472"/>
                </a:solidFill>
                <a:latin typeface="Arial" pitchFamily="34" charset="0"/>
                <a:ea typeface="Arial" pitchFamily="34" charset="-122"/>
                <a:cs typeface="Arial" pitchFamily="34" charset="-120"/>
              </a:rPr>
              <a:t>16-bit checksum over the ciphertext. Polynomial 0x1021, init 0x0000.</a:t>
            </a:r>
            <a:endParaRPr lang="en-US" sz="1300" dirty="0"/>
          </a:p>
        </p:txBody>
      </p:sp>
      <p:sp>
        <p:nvSpPr>
          <p:cNvPr id="42" name="Shape 37"/>
          <p:cNvSpPr/>
          <p:nvPr/>
        </p:nvSpPr>
        <p:spPr>
          <a:xfrm>
            <a:off x="8119872" y="4434840"/>
            <a:ext cx="3520440" cy="1691640"/>
          </a:xfrm>
          <a:prstGeom prst="roundRect">
            <a:avLst>
              <a:gd name="adj" fmla="val 6486"/>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43" name="Shape 38"/>
          <p:cNvSpPr/>
          <p:nvPr/>
        </p:nvSpPr>
        <p:spPr>
          <a:xfrm>
            <a:off x="8348472" y="4663440"/>
            <a:ext cx="548640" cy="548640"/>
          </a:xfrm>
          <a:prstGeom prst="ellipse">
            <a:avLst/>
          </a:prstGeom>
          <a:solidFill>
            <a:srgbClr val="FF5757"/>
          </a:solidFill>
          <a:ln w="12700">
            <a:solidFill>
              <a:srgbClr val="FF5757"/>
            </a:solidFill>
            <a:prstDash val="solid"/>
          </a:ln>
        </p:spPr>
      </p:sp>
      <p:pic>
        <p:nvPicPr>
          <p:cNvPr id="44" name="Image 3" descr="preencoded.png">    </p:cNvPr>
          <p:cNvPicPr>
            <a:picLocks noChangeAspect="1"/>
          </p:cNvPicPr>
          <p:nvPr/>
        </p:nvPicPr>
        <p:blipFill>
          <a:blip r:embed="rId4"/>
          <a:stretch>
            <a:fillRect/>
          </a:stretch>
        </p:blipFill>
        <p:spPr>
          <a:xfrm>
            <a:off x="8491118" y="4806086"/>
            <a:ext cx="263347" cy="263347"/>
          </a:xfrm>
          <a:prstGeom prst="rect">
            <a:avLst/>
          </a:prstGeom>
        </p:spPr>
      </p:pic>
      <p:sp>
        <p:nvSpPr>
          <p:cNvPr id="45" name="Text 39"/>
          <p:cNvSpPr txBox="1"/>
          <p:nvPr/>
        </p:nvSpPr>
        <p:spPr>
          <a:xfrm>
            <a:off x="9079992" y="4690872"/>
            <a:ext cx="2377440" cy="502920"/>
          </a:xfrm>
          <a:prstGeom prst="rect">
            <a:avLst/>
          </a:prstGeom>
          <a:noFill/>
          <a:ln/>
        </p:spPr>
        <p:txBody>
          <a:bodyPr wrap="square" lIns="0" tIns="0" rIns="0" bIns="0" rtlCol="0" anchor="ctr"/>
          <a:lstStyle/>
          <a:p>
            <a:pPr indent="0" marL="0">
              <a:buNone/>
            </a:pPr>
            <a:r>
              <a:rPr lang="en-US" sz="1700" b="1" dirty="0">
                <a:solidFill>
                  <a:srgbClr val="0B1F44"/>
                </a:solidFill>
                <a:latin typeface="Arial" pitchFamily="34" charset="0"/>
                <a:ea typeface="Arial" pitchFamily="34" charset="-122"/>
                <a:cs typeface="Arial" pitchFamily="34" charset="-120"/>
              </a:rPr>
              <a:t>UART 8-N-1</a:t>
            </a:r>
            <a:endParaRPr lang="en-US" sz="1700" dirty="0"/>
          </a:p>
        </p:txBody>
      </p:sp>
      <p:sp>
        <p:nvSpPr>
          <p:cNvPr id="46" name="Text 40"/>
          <p:cNvSpPr txBox="1"/>
          <p:nvPr/>
        </p:nvSpPr>
        <p:spPr>
          <a:xfrm>
            <a:off x="8348472" y="5349240"/>
            <a:ext cx="3108960" cy="685800"/>
          </a:xfrm>
          <a:prstGeom prst="rect">
            <a:avLst/>
          </a:prstGeom>
          <a:noFill/>
          <a:ln/>
        </p:spPr>
        <p:txBody>
          <a:bodyPr wrap="square" lIns="0" tIns="0" rIns="0" bIns="0" rtlCol="0" anchor="t"/>
          <a:lstStyle/>
          <a:p>
            <a:pPr indent="0" marL="0">
              <a:buNone/>
            </a:pPr>
            <a:r>
              <a:rPr lang="en-US" sz="1300" dirty="0">
                <a:solidFill>
                  <a:srgbClr val="5B6472"/>
                </a:solidFill>
                <a:latin typeface="Arial" pitchFamily="34" charset="0"/>
                <a:ea typeface="Arial" pitchFamily="34" charset="-122"/>
                <a:cs typeface="Arial" pitchFamily="34" charset="-120"/>
              </a:rPr>
              <a:t>1 start bit, 8 data bits LSB first, 1 stop bit. 9600 baud, 50 MHz clock.</a:t>
            </a:r>
            <a:endParaRPr lang="en-US"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47472"/>
            <a:ext cx="7315200" cy="228600"/>
          </a:xfrm>
          <a:prstGeom prst="rect">
            <a:avLst/>
          </a:prstGeom>
          <a:noFill/>
          <a:ln/>
        </p:spPr>
        <p:txBody>
          <a:bodyPr wrap="square" lIns="0" tIns="0" rIns="0" bIns="0" rtlCol="0" anchor="t"/>
          <a:lstStyle/>
          <a:p>
            <a:pPr indent="0" marL="0">
              <a:buNone/>
            </a:pPr>
            <a:r>
              <a:rPr lang="en-US" sz="1200" b="1" spc="300" kern="0" dirty="0">
                <a:solidFill>
                  <a:srgbClr val="FF5757"/>
                </a:solidFill>
                <a:latin typeface="Arial" pitchFamily="34" charset="0"/>
                <a:ea typeface="Arial" pitchFamily="34" charset="-122"/>
                <a:cs typeface="Arial" pitchFamily="34" charset="-120"/>
              </a:rPr>
              <a:t>01  MOTIVATION</a:t>
            </a:r>
            <a:endParaRPr lang="en-US" sz="1200" dirty="0"/>
          </a:p>
        </p:txBody>
      </p:sp>
      <p:sp>
        <p:nvSpPr>
          <p:cNvPr id="3" name="Text 1"/>
          <p:cNvSpPr txBox="1"/>
          <p:nvPr/>
        </p:nvSpPr>
        <p:spPr>
          <a:xfrm>
            <a:off x="548640" y="603504"/>
            <a:ext cx="9966960" cy="685800"/>
          </a:xfrm>
          <a:prstGeom prst="rect">
            <a:avLst/>
          </a:prstGeom>
          <a:noFill/>
          <a:ln/>
        </p:spPr>
        <p:txBody>
          <a:bodyPr wrap="square" lIns="0" tIns="0" rIns="0" bIns="0" rtlCol="0" anchor="ctr"/>
          <a:lstStyle/>
          <a:p>
            <a:pPr indent="0" marL="0">
              <a:buNone/>
            </a:pPr>
            <a:r>
              <a:rPr lang="en-US" sz="3200" b="1" dirty="0">
                <a:solidFill>
                  <a:srgbClr val="0B1F44"/>
                </a:solidFill>
                <a:latin typeface="Arial" pitchFamily="34" charset="0"/>
                <a:ea typeface="Arial" pitchFamily="34" charset="-122"/>
                <a:cs typeface="Arial" pitchFamily="34" charset="-120"/>
              </a:rPr>
              <a:t>Why go beyond standard UART?</a:t>
            </a:r>
            <a:endParaRPr lang="en-US" sz="3200" dirty="0"/>
          </a:p>
        </p:txBody>
      </p:sp>
      <p:pic>
        <p:nvPicPr>
          <p:cNvPr id="4" name="Image 0" descr="/home/claude/assets/logo.png">    </p:cNvPr>
          <p:cNvPicPr>
            <a:picLocks noChangeAspect="1"/>
          </p:cNvPicPr>
          <p:nvPr/>
        </p:nvPicPr>
        <p:blipFill>
          <a:blip r:embed="rId1"/>
          <a:stretch>
            <a:fillRect/>
          </a:stretch>
        </p:blipFill>
        <p:spPr>
          <a:xfrm>
            <a:off x="10744200" y="365760"/>
            <a:ext cx="896112" cy="434340"/>
          </a:xfrm>
          <a:prstGeom prst="rect">
            <a:avLst/>
          </a:prstGeom>
        </p:spPr>
      </p:pic>
      <p:sp>
        <p:nvSpPr>
          <p:cNvPr id="5" name="Text 2"/>
          <p:cNvSpPr txBox="1"/>
          <p:nvPr/>
        </p:nvSpPr>
        <p:spPr>
          <a:xfrm>
            <a:off x="548640" y="6428232"/>
            <a:ext cx="6400800" cy="228600"/>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Secure UART Communication System  ·  NTI Digital Design Project</a:t>
            </a:r>
            <a:endParaRPr lang="en-US" sz="1000" dirty="0"/>
          </a:p>
        </p:txBody>
      </p:sp>
      <p:sp>
        <p:nvSpPr>
          <p:cNvPr id="6" name="Text 3"/>
          <p:cNvSpPr txBox="1"/>
          <p:nvPr/>
        </p:nvSpPr>
        <p:spPr>
          <a:xfrm>
            <a:off x="548640" y="1371600"/>
            <a:ext cx="6400800" cy="365760"/>
          </a:xfrm>
          <a:prstGeom prst="rect">
            <a:avLst/>
          </a:prstGeom>
          <a:noFill/>
          <a:ln/>
        </p:spPr>
        <p:txBody>
          <a:bodyPr wrap="square" lIns="0" tIns="0" rIns="0" bIns="0" rtlCol="0" anchor="t"/>
          <a:lstStyle/>
          <a:p>
            <a:pPr indent="0" marL="0">
              <a:buNone/>
            </a:pPr>
            <a:r>
              <a:rPr lang="en-US" sz="1600" dirty="0">
                <a:solidFill>
                  <a:srgbClr val="5B6472"/>
                </a:solidFill>
                <a:latin typeface="Arial" pitchFamily="34" charset="0"/>
                <a:ea typeface="Arial" pitchFamily="34" charset="-122"/>
                <a:cs typeface="Arial" pitchFamily="34" charset="-120"/>
              </a:rPr>
              <a:t>Standard UART only moves bytes. It does not protect them.</a:t>
            </a:r>
            <a:endParaRPr lang="en-US" sz="1600" dirty="0"/>
          </a:p>
        </p:txBody>
      </p:sp>
      <p:sp>
        <p:nvSpPr>
          <p:cNvPr id="7" name="Shape 4"/>
          <p:cNvSpPr/>
          <p:nvPr/>
        </p:nvSpPr>
        <p:spPr>
          <a:xfrm>
            <a:off x="548640" y="1920240"/>
            <a:ext cx="6126480" cy="1298448"/>
          </a:xfrm>
          <a:prstGeom prst="roundRect">
            <a:avLst>
              <a:gd name="adj" fmla="val 8451"/>
            </a:avLst>
          </a:prstGeom>
          <a:solidFill>
            <a:srgbClr val="FFEDED"/>
          </a:solidFill>
          <a:ln w="12700">
            <a:solidFill>
              <a:srgbClr val="FFEDED"/>
            </a:solidFill>
            <a:prstDash val="solid"/>
          </a:ln>
        </p:spPr>
      </p:sp>
      <p:sp>
        <p:nvSpPr>
          <p:cNvPr id="8" name="Shape 5"/>
          <p:cNvSpPr/>
          <p:nvPr/>
        </p:nvSpPr>
        <p:spPr>
          <a:xfrm>
            <a:off x="777240" y="2221992"/>
            <a:ext cx="694944" cy="694944"/>
          </a:xfrm>
          <a:prstGeom prst="ellipse">
            <a:avLst/>
          </a:prstGeom>
          <a:solidFill>
            <a:srgbClr val="FF5757"/>
          </a:solidFill>
          <a:ln w="12700">
            <a:solidFill>
              <a:srgbClr val="FF5757"/>
            </a:solidFill>
            <a:prstDash val="solid"/>
          </a:ln>
        </p:spPr>
      </p:sp>
      <p:pic>
        <p:nvPicPr>
          <p:cNvPr id="9" name="Image 1" descr="preencoded.png">    </p:cNvPr>
          <p:cNvPicPr>
            <a:picLocks noChangeAspect="1"/>
          </p:cNvPicPr>
          <p:nvPr/>
        </p:nvPicPr>
        <p:blipFill>
          <a:blip r:embed="rId2"/>
          <a:stretch>
            <a:fillRect/>
          </a:stretch>
        </p:blipFill>
        <p:spPr>
          <a:xfrm>
            <a:off x="957925" y="2402677"/>
            <a:ext cx="333573" cy="333573"/>
          </a:xfrm>
          <a:prstGeom prst="rect">
            <a:avLst/>
          </a:prstGeom>
        </p:spPr>
      </p:pic>
      <p:sp>
        <p:nvSpPr>
          <p:cNvPr id="10" name="Text 6"/>
          <p:cNvSpPr txBox="1"/>
          <p:nvPr/>
        </p:nvSpPr>
        <p:spPr>
          <a:xfrm>
            <a:off x="1691640" y="2084832"/>
            <a:ext cx="4846320" cy="365760"/>
          </a:xfrm>
          <a:prstGeom prst="rect">
            <a:avLst/>
          </a:prstGeom>
          <a:noFill/>
          <a:ln/>
        </p:spPr>
        <p:txBody>
          <a:bodyPr wrap="square" lIns="0" tIns="0" rIns="0" bIns="0" rtlCol="0" anchor="t"/>
          <a:lstStyle/>
          <a:p>
            <a:pPr indent="0" marL="0">
              <a:buNone/>
            </a:pPr>
            <a:r>
              <a:rPr lang="en-US" sz="1700" b="1" dirty="0">
                <a:solidFill>
                  <a:srgbClr val="0B1F44"/>
                </a:solidFill>
                <a:latin typeface="Arial" pitchFamily="34" charset="0"/>
                <a:ea typeface="Arial" pitchFamily="34" charset="-122"/>
                <a:cs typeface="Arial" pitchFamily="34" charset="-120"/>
              </a:rPr>
              <a:t>Data travels in the clear</a:t>
            </a:r>
            <a:endParaRPr lang="en-US" sz="1700" dirty="0"/>
          </a:p>
        </p:txBody>
      </p:sp>
      <p:sp>
        <p:nvSpPr>
          <p:cNvPr id="11" name="Text 7"/>
          <p:cNvSpPr txBox="1"/>
          <p:nvPr/>
        </p:nvSpPr>
        <p:spPr>
          <a:xfrm>
            <a:off x="1691640" y="2468880"/>
            <a:ext cx="4846320" cy="685800"/>
          </a:xfrm>
          <a:prstGeom prst="rect">
            <a:avLst/>
          </a:prstGeom>
          <a:noFill/>
          <a:ln/>
        </p:spPr>
        <p:txBody>
          <a:bodyPr wrap="square" lIns="0" tIns="0" rIns="0" bIns="0" rtlCol="0" anchor="t"/>
          <a:lstStyle/>
          <a:p>
            <a:pPr indent="0" marL="0">
              <a:buNone/>
            </a:pPr>
            <a:r>
              <a:rPr lang="en-US" sz="1300" dirty="0">
                <a:solidFill>
                  <a:srgbClr val="1B2333"/>
                </a:solidFill>
                <a:latin typeface="Arial" pitchFamily="34" charset="0"/>
                <a:ea typeface="Arial" pitchFamily="34" charset="-122"/>
                <a:cs typeface="Arial" pitchFamily="34" charset="-120"/>
              </a:rPr>
              <a:t>Plain UART sends application bytes as-is. Anyone who can read the line can read the data.</a:t>
            </a:r>
            <a:endParaRPr lang="en-US" sz="1300" dirty="0"/>
          </a:p>
        </p:txBody>
      </p:sp>
      <p:sp>
        <p:nvSpPr>
          <p:cNvPr id="12" name="Shape 8"/>
          <p:cNvSpPr/>
          <p:nvPr/>
        </p:nvSpPr>
        <p:spPr>
          <a:xfrm>
            <a:off x="548640" y="3383280"/>
            <a:ext cx="6126480" cy="1298448"/>
          </a:xfrm>
          <a:prstGeom prst="roundRect">
            <a:avLst>
              <a:gd name="adj" fmla="val 8451"/>
            </a:avLst>
          </a:prstGeom>
          <a:solidFill>
            <a:srgbClr val="FFEDED"/>
          </a:solidFill>
          <a:ln w="12700">
            <a:solidFill>
              <a:srgbClr val="FFEDED"/>
            </a:solidFill>
            <a:prstDash val="solid"/>
          </a:ln>
        </p:spPr>
      </p:sp>
      <p:sp>
        <p:nvSpPr>
          <p:cNvPr id="13" name="Shape 9"/>
          <p:cNvSpPr/>
          <p:nvPr/>
        </p:nvSpPr>
        <p:spPr>
          <a:xfrm>
            <a:off x="777240" y="3685032"/>
            <a:ext cx="694944" cy="694944"/>
          </a:xfrm>
          <a:prstGeom prst="ellipse">
            <a:avLst/>
          </a:prstGeom>
          <a:solidFill>
            <a:srgbClr val="FF5757"/>
          </a:solidFill>
          <a:ln w="12700">
            <a:solidFill>
              <a:srgbClr val="FF5757"/>
            </a:solidFill>
            <a:prstDash val="solid"/>
          </a:ln>
        </p:spPr>
      </p:sp>
      <p:pic>
        <p:nvPicPr>
          <p:cNvPr id="14" name="Image 2" descr="preencoded.png">    </p:cNvPr>
          <p:cNvPicPr>
            <a:picLocks noChangeAspect="1"/>
          </p:cNvPicPr>
          <p:nvPr/>
        </p:nvPicPr>
        <p:blipFill>
          <a:blip r:embed="rId3"/>
          <a:stretch>
            <a:fillRect/>
          </a:stretch>
        </p:blipFill>
        <p:spPr>
          <a:xfrm>
            <a:off x="957925" y="3865717"/>
            <a:ext cx="333573" cy="333573"/>
          </a:xfrm>
          <a:prstGeom prst="rect">
            <a:avLst/>
          </a:prstGeom>
        </p:spPr>
      </p:pic>
      <p:sp>
        <p:nvSpPr>
          <p:cNvPr id="15" name="Text 10"/>
          <p:cNvSpPr txBox="1"/>
          <p:nvPr/>
        </p:nvSpPr>
        <p:spPr>
          <a:xfrm>
            <a:off x="1691640" y="3547872"/>
            <a:ext cx="4846320" cy="365760"/>
          </a:xfrm>
          <a:prstGeom prst="rect">
            <a:avLst/>
          </a:prstGeom>
          <a:noFill/>
          <a:ln/>
        </p:spPr>
        <p:txBody>
          <a:bodyPr wrap="square" lIns="0" tIns="0" rIns="0" bIns="0" rtlCol="0" anchor="t"/>
          <a:lstStyle/>
          <a:p>
            <a:pPr indent="0" marL="0">
              <a:buNone/>
            </a:pPr>
            <a:r>
              <a:rPr lang="en-US" sz="1700" b="1" dirty="0">
                <a:solidFill>
                  <a:srgbClr val="0B1F44"/>
                </a:solidFill>
                <a:latin typeface="Arial" pitchFamily="34" charset="0"/>
                <a:ea typeface="Arial" pitchFamily="34" charset="-122"/>
                <a:cs typeface="Arial" pitchFamily="34" charset="-120"/>
              </a:rPr>
              <a:t>Errors can go unnoticed</a:t>
            </a:r>
            <a:endParaRPr lang="en-US" sz="1700" dirty="0"/>
          </a:p>
        </p:txBody>
      </p:sp>
      <p:sp>
        <p:nvSpPr>
          <p:cNvPr id="16" name="Text 11"/>
          <p:cNvSpPr txBox="1"/>
          <p:nvPr/>
        </p:nvSpPr>
        <p:spPr>
          <a:xfrm>
            <a:off x="1691640" y="3931920"/>
            <a:ext cx="4846320" cy="685800"/>
          </a:xfrm>
          <a:prstGeom prst="rect">
            <a:avLst/>
          </a:prstGeom>
          <a:noFill/>
          <a:ln/>
        </p:spPr>
        <p:txBody>
          <a:bodyPr wrap="square" lIns="0" tIns="0" rIns="0" bIns="0" rtlCol="0" anchor="t"/>
          <a:lstStyle/>
          <a:p>
            <a:pPr indent="0" marL="0">
              <a:buNone/>
            </a:pPr>
            <a:r>
              <a:rPr lang="en-US" sz="1300" dirty="0">
                <a:solidFill>
                  <a:srgbClr val="1B2333"/>
                </a:solidFill>
                <a:latin typeface="Arial" pitchFamily="34" charset="0"/>
                <a:ea typeface="Arial" pitchFamily="34" charset="-122"/>
                <a:cs typeface="Arial" pitchFamily="34" charset="-120"/>
              </a:rPr>
              <a:t>UART has no acknowledgment or retransmission, so corrupted or truncated frames can be silently accepted.</a:t>
            </a:r>
            <a:endParaRPr lang="en-US" sz="1300" dirty="0"/>
          </a:p>
        </p:txBody>
      </p:sp>
      <p:sp>
        <p:nvSpPr>
          <p:cNvPr id="17" name="Shape 12"/>
          <p:cNvSpPr/>
          <p:nvPr/>
        </p:nvSpPr>
        <p:spPr>
          <a:xfrm>
            <a:off x="548640" y="4846320"/>
            <a:ext cx="6126480" cy="1298448"/>
          </a:xfrm>
          <a:prstGeom prst="roundRect">
            <a:avLst>
              <a:gd name="adj" fmla="val 8451"/>
            </a:avLst>
          </a:prstGeom>
          <a:solidFill>
            <a:srgbClr val="FFEDED"/>
          </a:solidFill>
          <a:ln w="12700">
            <a:solidFill>
              <a:srgbClr val="FFEDED"/>
            </a:solidFill>
            <a:prstDash val="solid"/>
          </a:ln>
        </p:spPr>
      </p:sp>
      <p:sp>
        <p:nvSpPr>
          <p:cNvPr id="18" name="Shape 13"/>
          <p:cNvSpPr/>
          <p:nvPr/>
        </p:nvSpPr>
        <p:spPr>
          <a:xfrm>
            <a:off x="777240" y="5148072"/>
            <a:ext cx="694944" cy="694944"/>
          </a:xfrm>
          <a:prstGeom prst="ellipse">
            <a:avLst/>
          </a:prstGeom>
          <a:solidFill>
            <a:srgbClr val="FF5757"/>
          </a:solidFill>
          <a:ln w="12700">
            <a:solidFill>
              <a:srgbClr val="FF5757"/>
            </a:solidFill>
            <a:prstDash val="solid"/>
          </a:ln>
        </p:spPr>
      </p:sp>
      <p:pic>
        <p:nvPicPr>
          <p:cNvPr id="19" name="Image 3" descr="preencoded.png">    </p:cNvPr>
          <p:cNvPicPr>
            <a:picLocks noChangeAspect="1"/>
          </p:cNvPicPr>
          <p:nvPr/>
        </p:nvPicPr>
        <p:blipFill>
          <a:blip r:embed="rId4"/>
          <a:stretch>
            <a:fillRect/>
          </a:stretch>
        </p:blipFill>
        <p:spPr>
          <a:xfrm>
            <a:off x="957925" y="5328757"/>
            <a:ext cx="333573" cy="333573"/>
          </a:xfrm>
          <a:prstGeom prst="rect">
            <a:avLst/>
          </a:prstGeom>
        </p:spPr>
      </p:pic>
      <p:sp>
        <p:nvSpPr>
          <p:cNvPr id="20" name="Text 14"/>
          <p:cNvSpPr txBox="1"/>
          <p:nvPr/>
        </p:nvSpPr>
        <p:spPr>
          <a:xfrm>
            <a:off x="1691640" y="5010912"/>
            <a:ext cx="4846320" cy="365760"/>
          </a:xfrm>
          <a:prstGeom prst="rect">
            <a:avLst/>
          </a:prstGeom>
          <a:noFill/>
          <a:ln/>
        </p:spPr>
        <p:txBody>
          <a:bodyPr wrap="square" lIns="0" tIns="0" rIns="0" bIns="0" rtlCol="0" anchor="t"/>
          <a:lstStyle/>
          <a:p>
            <a:pPr indent="0" marL="0">
              <a:buNone/>
            </a:pPr>
            <a:r>
              <a:rPr lang="en-US" sz="1700" b="1" dirty="0">
                <a:solidFill>
                  <a:srgbClr val="0B1F44"/>
                </a:solidFill>
                <a:latin typeface="Arial" pitchFamily="34" charset="0"/>
                <a:ea typeface="Arial" pitchFamily="34" charset="-122"/>
                <a:cs typeface="Arial" pitchFamily="34" charset="-120"/>
              </a:rPr>
              <a:t>Parity is not enough</a:t>
            </a:r>
            <a:endParaRPr lang="en-US" sz="1700" dirty="0"/>
          </a:p>
        </p:txBody>
      </p:sp>
      <p:sp>
        <p:nvSpPr>
          <p:cNvPr id="21" name="Text 15"/>
          <p:cNvSpPr txBox="1"/>
          <p:nvPr/>
        </p:nvSpPr>
        <p:spPr>
          <a:xfrm>
            <a:off x="1691640" y="5394960"/>
            <a:ext cx="4846320" cy="685800"/>
          </a:xfrm>
          <a:prstGeom prst="rect">
            <a:avLst/>
          </a:prstGeom>
          <a:noFill/>
          <a:ln/>
        </p:spPr>
        <p:txBody>
          <a:bodyPr wrap="square" lIns="0" tIns="0" rIns="0" bIns="0" rtlCol="0" anchor="t"/>
          <a:lstStyle/>
          <a:p>
            <a:pPr indent="0" marL="0">
              <a:buNone/>
            </a:pPr>
            <a:r>
              <a:rPr lang="en-US" sz="1300" dirty="0">
                <a:solidFill>
                  <a:srgbClr val="1B2333"/>
                </a:solidFill>
                <a:latin typeface="Arial" pitchFamily="34" charset="0"/>
                <a:ea typeface="Arial" pitchFamily="34" charset="-122"/>
                <a:cs typeface="Arial" pitchFamily="34" charset="-120"/>
              </a:rPr>
              <a:t>A parity bit misses multi-bit burst errors that hit multi-byte frames.</a:t>
            </a:r>
            <a:endParaRPr lang="en-US" sz="1300" dirty="0"/>
          </a:p>
        </p:txBody>
      </p:sp>
      <p:sp>
        <p:nvSpPr>
          <p:cNvPr id="22" name="Shape 16"/>
          <p:cNvSpPr/>
          <p:nvPr/>
        </p:nvSpPr>
        <p:spPr>
          <a:xfrm>
            <a:off x="6995160" y="1920240"/>
            <a:ext cx="4645152" cy="4224528"/>
          </a:xfrm>
          <a:prstGeom prst="roundRect">
            <a:avLst>
              <a:gd name="adj" fmla="val 2597"/>
            </a:avLst>
          </a:prstGeom>
          <a:solidFill>
            <a:srgbClr val="0B1F44"/>
          </a:solidFill>
          <a:ln w="12700">
            <a:solidFill>
              <a:srgbClr val="0B1F44"/>
            </a:solidFill>
            <a:prstDash val="solid"/>
          </a:ln>
        </p:spPr>
      </p:sp>
      <p:sp>
        <p:nvSpPr>
          <p:cNvPr id="23" name="Text 17"/>
          <p:cNvSpPr txBox="1"/>
          <p:nvPr/>
        </p:nvSpPr>
        <p:spPr>
          <a:xfrm>
            <a:off x="7315200" y="2194560"/>
            <a:ext cx="4023360" cy="274320"/>
          </a:xfrm>
          <a:prstGeom prst="rect">
            <a:avLst/>
          </a:prstGeom>
          <a:noFill/>
          <a:ln/>
        </p:spPr>
        <p:txBody>
          <a:bodyPr wrap="square" lIns="0" tIns="0" rIns="0" bIns="0" rtlCol="0" anchor="t"/>
          <a:lstStyle/>
          <a:p>
            <a:pPr indent="0" marL="0">
              <a:buNone/>
            </a:pPr>
            <a:r>
              <a:rPr lang="en-US" sz="1200" b="1" spc="300" kern="0" dirty="0">
                <a:solidFill>
                  <a:srgbClr val="FF5757"/>
                </a:solidFill>
                <a:latin typeface="Arial" pitchFamily="34" charset="0"/>
                <a:ea typeface="Arial" pitchFamily="34" charset="-122"/>
                <a:cs typeface="Arial" pitchFamily="34" charset="-120"/>
              </a:rPr>
              <a:t>OUR ANSWER</a:t>
            </a:r>
            <a:endParaRPr lang="en-US" sz="1200" dirty="0"/>
          </a:p>
        </p:txBody>
      </p:sp>
      <p:sp>
        <p:nvSpPr>
          <p:cNvPr id="24" name="Text 18"/>
          <p:cNvSpPr txBox="1"/>
          <p:nvPr/>
        </p:nvSpPr>
        <p:spPr>
          <a:xfrm>
            <a:off x="7315200" y="2514600"/>
            <a:ext cx="4023360" cy="114300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From basic communication to secure and error-aware communication</a:t>
            </a:r>
            <a:endParaRPr lang="en-US" sz="2200" dirty="0"/>
          </a:p>
        </p:txBody>
      </p:sp>
      <p:sp>
        <p:nvSpPr>
          <p:cNvPr id="25" name="Shape 19"/>
          <p:cNvSpPr/>
          <p:nvPr/>
        </p:nvSpPr>
        <p:spPr>
          <a:xfrm>
            <a:off x="7315200" y="3886200"/>
            <a:ext cx="548640" cy="548640"/>
          </a:xfrm>
          <a:prstGeom prst="ellipse">
            <a:avLst/>
          </a:prstGeom>
          <a:solidFill>
            <a:srgbClr val="004AAD"/>
          </a:solidFill>
          <a:ln w="12700">
            <a:solidFill>
              <a:srgbClr val="004AAD"/>
            </a:solidFill>
            <a:prstDash val="solid"/>
          </a:ln>
        </p:spPr>
      </p:sp>
      <p:pic>
        <p:nvPicPr>
          <p:cNvPr id="26" name="Image 4" descr="preencoded.png">    </p:cNvPr>
          <p:cNvPicPr>
            <a:picLocks noChangeAspect="1"/>
          </p:cNvPicPr>
          <p:nvPr/>
        </p:nvPicPr>
        <p:blipFill>
          <a:blip r:embed="rId5"/>
          <a:stretch>
            <a:fillRect/>
          </a:stretch>
        </p:blipFill>
        <p:spPr>
          <a:xfrm>
            <a:off x="7457846" y="4028846"/>
            <a:ext cx="263347" cy="263347"/>
          </a:xfrm>
          <a:prstGeom prst="rect">
            <a:avLst/>
          </a:prstGeom>
        </p:spPr>
      </p:pic>
      <p:sp>
        <p:nvSpPr>
          <p:cNvPr id="27" name="Text 20"/>
          <p:cNvSpPr txBox="1"/>
          <p:nvPr/>
        </p:nvSpPr>
        <p:spPr>
          <a:xfrm>
            <a:off x="8046720" y="3886200"/>
            <a:ext cx="3429000" cy="5486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AES-128  </a:t>
            </a:r>
            <a:pPr indent="0" marL="0">
              <a:buNone/>
            </a:pPr>
            <a:r>
              <a:rPr lang="en-US" sz="1400" dirty="0">
                <a:solidFill>
                  <a:srgbClr val="CADCFC"/>
                </a:solidFill>
                <a:latin typeface="Arial" pitchFamily="34" charset="0"/>
                <a:ea typeface="Arial" pitchFamily="34" charset="-122"/>
                <a:cs typeface="Arial" pitchFamily="34" charset="-120"/>
              </a:rPr>
              <a:t>keeps the data confidential</a:t>
            </a:r>
            <a:endParaRPr lang="en-US" sz="1400" dirty="0"/>
          </a:p>
        </p:txBody>
      </p:sp>
      <p:sp>
        <p:nvSpPr>
          <p:cNvPr id="28" name="Shape 21"/>
          <p:cNvSpPr/>
          <p:nvPr/>
        </p:nvSpPr>
        <p:spPr>
          <a:xfrm>
            <a:off x="7315200" y="4636008"/>
            <a:ext cx="548640" cy="548640"/>
          </a:xfrm>
          <a:prstGeom prst="ellipse">
            <a:avLst/>
          </a:prstGeom>
          <a:solidFill>
            <a:srgbClr val="1B75BB"/>
          </a:solidFill>
          <a:ln w="12700">
            <a:solidFill>
              <a:srgbClr val="1B75BB"/>
            </a:solidFill>
            <a:prstDash val="solid"/>
          </a:ln>
        </p:spPr>
      </p:sp>
      <p:pic>
        <p:nvPicPr>
          <p:cNvPr id="29" name="Image 5" descr="preencoded.png">    </p:cNvPr>
          <p:cNvPicPr>
            <a:picLocks noChangeAspect="1"/>
          </p:cNvPicPr>
          <p:nvPr/>
        </p:nvPicPr>
        <p:blipFill>
          <a:blip r:embed="rId6"/>
          <a:stretch>
            <a:fillRect/>
          </a:stretch>
        </p:blipFill>
        <p:spPr>
          <a:xfrm>
            <a:off x="7457846" y="4778654"/>
            <a:ext cx="263347" cy="263347"/>
          </a:xfrm>
          <a:prstGeom prst="rect">
            <a:avLst/>
          </a:prstGeom>
        </p:spPr>
      </p:pic>
      <p:sp>
        <p:nvSpPr>
          <p:cNvPr id="30" name="Text 22"/>
          <p:cNvSpPr txBox="1"/>
          <p:nvPr/>
        </p:nvSpPr>
        <p:spPr>
          <a:xfrm>
            <a:off x="8046720" y="4636008"/>
            <a:ext cx="3429000" cy="5486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CRC-16/XMODEM  </a:t>
            </a:r>
            <a:pPr indent="0" marL="0">
              <a:buNone/>
            </a:pPr>
            <a:r>
              <a:rPr lang="en-US" sz="1400" dirty="0">
                <a:solidFill>
                  <a:srgbClr val="CADCFC"/>
                </a:solidFill>
                <a:latin typeface="Arial" pitchFamily="34" charset="0"/>
                <a:ea typeface="Arial" pitchFamily="34" charset="-122"/>
                <a:cs typeface="Arial" pitchFamily="34" charset="-120"/>
              </a:rPr>
              <a:t>detects corrupted frames</a:t>
            </a:r>
            <a:endParaRPr lang="en-US" sz="1400" dirty="0"/>
          </a:p>
        </p:txBody>
      </p:sp>
      <p:sp>
        <p:nvSpPr>
          <p:cNvPr id="31" name="Shape 23"/>
          <p:cNvSpPr/>
          <p:nvPr/>
        </p:nvSpPr>
        <p:spPr>
          <a:xfrm>
            <a:off x="7315200" y="5385816"/>
            <a:ext cx="548640" cy="548640"/>
          </a:xfrm>
          <a:prstGeom prst="ellipse">
            <a:avLst/>
          </a:prstGeom>
          <a:solidFill>
            <a:srgbClr val="FF5757"/>
          </a:solidFill>
          <a:ln w="12700">
            <a:solidFill>
              <a:srgbClr val="FF5757"/>
            </a:solidFill>
            <a:prstDash val="solid"/>
          </a:ln>
        </p:spPr>
      </p:sp>
      <p:pic>
        <p:nvPicPr>
          <p:cNvPr id="32" name="Image 6" descr="preencoded.png">    </p:cNvPr>
          <p:cNvPicPr>
            <a:picLocks noChangeAspect="1"/>
          </p:cNvPicPr>
          <p:nvPr/>
        </p:nvPicPr>
        <p:blipFill>
          <a:blip r:embed="rId7"/>
          <a:stretch>
            <a:fillRect/>
          </a:stretch>
        </p:blipFill>
        <p:spPr>
          <a:xfrm>
            <a:off x="7457846" y="5528462"/>
            <a:ext cx="263347" cy="263347"/>
          </a:xfrm>
          <a:prstGeom prst="rect">
            <a:avLst/>
          </a:prstGeom>
        </p:spPr>
      </p:pic>
      <p:sp>
        <p:nvSpPr>
          <p:cNvPr id="33" name="Text 24"/>
          <p:cNvSpPr txBox="1"/>
          <p:nvPr/>
        </p:nvSpPr>
        <p:spPr>
          <a:xfrm>
            <a:off x="8046720" y="5385816"/>
            <a:ext cx="3429000" cy="5486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start / busy / done  </a:t>
            </a:r>
            <a:pPr indent="0" marL="0">
              <a:buNone/>
            </a:pPr>
            <a:r>
              <a:rPr lang="en-US" sz="1400" dirty="0">
                <a:solidFill>
                  <a:srgbClr val="CADCFC"/>
                </a:solidFill>
                <a:latin typeface="Arial" pitchFamily="34" charset="0"/>
                <a:ea typeface="Arial" pitchFamily="34" charset="-122"/>
                <a:cs typeface="Arial" pitchFamily="34" charset="-120"/>
              </a:rPr>
              <a:t>keeps every stage in step</a:t>
            </a:r>
            <a:endParaRPr lang="en-US"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47472"/>
            <a:ext cx="7315200" cy="228600"/>
          </a:xfrm>
          <a:prstGeom prst="rect">
            <a:avLst/>
          </a:prstGeom>
          <a:noFill/>
          <a:ln/>
        </p:spPr>
        <p:txBody>
          <a:bodyPr wrap="square" lIns="0" tIns="0" rIns="0" bIns="0" rtlCol="0" anchor="t"/>
          <a:lstStyle/>
          <a:p>
            <a:pPr indent="0" marL="0">
              <a:buNone/>
            </a:pPr>
            <a:r>
              <a:rPr lang="en-US" sz="1200" b="1" spc="300" kern="0" dirty="0">
                <a:solidFill>
                  <a:srgbClr val="FF5757"/>
                </a:solidFill>
                <a:latin typeface="Arial" pitchFamily="34" charset="0"/>
                <a:ea typeface="Arial" pitchFamily="34" charset="-122"/>
                <a:cs typeface="Arial" pitchFamily="34" charset="-120"/>
              </a:rPr>
              <a:t>01  MOTIVATION</a:t>
            </a:r>
            <a:endParaRPr lang="en-US" sz="1200" dirty="0"/>
          </a:p>
        </p:txBody>
      </p:sp>
      <p:sp>
        <p:nvSpPr>
          <p:cNvPr id="3" name="Text 1"/>
          <p:cNvSpPr txBox="1"/>
          <p:nvPr/>
        </p:nvSpPr>
        <p:spPr>
          <a:xfrm>
            <a:off x="548640" y="603504"/>
            <a:ext cx="9966960" cy="685800"/>
          </a:xfrm>
          <a:prstGeom prst="rect">
            <a:avLst/>
          </a:prstGeom>
          <a:noFill/>
          <a:ln/>
        </p:spPr>
        <p:txBody>
          <a:bodyPr wrap="square" lIns="0" tIns="0" rIns="0" bIns="0" rtlCol="0" anchor="ctr"/>
          <a:lstStyle/>
          <a:p>
            <a:pPr indent="0" marL="0">
              <a:buNone/>
            </a:pPr>
            <a:r>
              <a:rPr lang="en-US" sz="3200" b="1" dirty="0">
                <a:solidFill>
                  <a:srgbClr val="0B1F44"/>
                </a:solidFill>
                <a:latin typeface="Arial" pitchFamily="34" charset="0"/>
                <a:ea typeface="Arial" pitchFamily="34" charset="-122"/>
                <a:cs typeface="Arial" pitchFamily="34" charset="-120"/>
              </a:rPr>
              <a:t>Importance and impact</a:t>
            </a:r>
            <a:endParaRPr lang="en-US" sz="3200" dirty="0"/>
          </a:p>
        </p:txBody>
      </p:sp>
      <p:pic>
        <p:nvPicPr>
          <p:cNvPr id="4" name="Image 0" descr="/home/claude/assets/logo.png">    </p:cNvPr>
          <p:cNvPicPr>
            <a:picLocks noChangeAspect="1"/>
          </p:cNvPicPr>
          <p:nvPr/>
        </p:nvPicPr>
        <p:blipFill>
          <a:blip r:embed="rId1"/>
          <a:stretch>
            <a:fillRect/>
          </a:stretch>
        </p:blipFill>
        <p:spPr>
          <a:xfrm>
            <a:off x="10744200" y="365760"/>
            <a:ext cx="896112" cy="434340"/>
          </a:xfrm>
          <a:prstGeom prst="rect">
            <a:avLst/>
          </a:prstGeom>
        </p:spPr>
      </p:pic>
      <p:sp>
        <p:nvSpPr>
          <p:cNvPr id="5" name="Text 2"/>
          <p:cNvSpPr txBox="1"/>
          <p:nvPr/>
        </p:nvSpPr>
        <p:spPr>
          <a:xfrm>
            <a:off x="548640" y="6428232"/>
            <a:ext cx="6400800" cy="228600"/>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Secure UART Communication System  ·  NTI Digital Design Project</a:t>
            </a:r>
            <a:endParaRPr lang="en-US" sz="1000" dirty="0"/>
          </a:p>
        </p:txBody>
      </p:sp>
      <p:sp>
        <p:nvSpPr>
          <p:cNvPr id="6" name="Shape 3"/>
          <p:cNvSpPr/>
          <p:nvPr/>
        </p:nvSpPr>
        <p:spPr>
          <a:xfrm>
            <a:off x="548640" y="1600200"/>
            <a:ext cx="3520440" cy="2926080"/>
          </a:xfrm>
          <a:prstGeom prst="roundRect">
            <a:avLst>
              <a:gd name="adj" fmla="val 3750"/>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7" name="Shape 4"/>
          <p:cNvSpPr/>
          <p:nvPr/>
        </p:nvSpPr>
        <p:spPr>
          <a:xfrm>
            <a:off x="822960" y="1874520"/>
            <a:ext cx="731520" cy="731520"/>
          </a:xfrm>
          <a:prstGeom prst="ellipse">
            <a:avLst/>
          </a:prstGeom>
          <a:solidFill>
            <a:srgbClr val="004AAD"/>
          </a:solidFill>
          <a:ln w="12700">
            <a:solidFill>
              <a:srgbClr val="004AAD"/>
            </a:solidFill>
            <a:prstDash val="solid"/>
          </a:ln>
        </p:spPr>
      </p:sp>
      <p:pic>
        <p:nvPicPr>
          <p:cNvPr id="8" name="Image 1" descr="preencoded.png">    </p:cNvPr>
          <p:cNvPicPr>
            <a:picLocks noChangeAspect="1"/>
          </p:cNvPicPr>
          <p:nvPr/>
        </p:nvPicPr>
        <p:blipFill>
          <a:blip r:embed="rId2"/>
          <a:stretch>
            <a:fillRect/>
          </a:stretch>
        </p:blipFill>
        <p:spPr>
          <a:xfrm>
            <a:off x="1013155" y="2064715"/>
            <a:ext cx="351130" cy="351130"/>
          </a:xfrm>
          <a:prstGeom prst="rect">
            <a:avLst/>
          </a:prstGeom>
        </p:spPr>
      </p:pic>
      <p:sp>
        <p:nvSpPr>
          <p:cNvPr id="9" name="Text 5"/>
          <p:cNvSpPr txBox="1"/>
          <p:nvPr/>
        </p:nvSpPr>
        <p:spPr>
          <a:xfrm>
            <a:off x="822960" y="2788920"/>
            <a:ext cx="2971800" cy="411480"/>
          </a:xfrm>
          <a:prstGeom prst="rect">
            <a:avLst/>
          </a:prstGeom>
          <a:noFill/>
          <a:ln/>
        </p:spPr>
        <p:txBody>
          <a:bodyPr wrap="square" lIns="0" tIns="0" rIns="0" bIns="0" rtlCol="0" anchor="t"/>
          <a:lstStyle/>
          <a:p>
            <a:pPr indent="0" marL="0">
              <a:buNone/>
            </a:pPr>
            <a:r>
              <a:rPr lang="en-US" sz="1800" b="1" dirty="0">
                <a:solidFill>
                  <a:srgbClr val="0B1F44"/>
                </a:solidFill>
                <a:latin typeface="Arial" pitchFamily="34" charset="0"/>
                <a:ea typeface="Arial" pitchFamily="34" charset="-122"/>
                <a:cs typeface="Arial" pitchFamily="34" charset="-120"/>
              </a:rPr>
              <a:t>Security in hardware</a:t>
            </a:r>
            <a:endParaRPr lang="en-US" sz="1800" dirty="0"/>
          </a:p>
        </p:txBody>
      </p:sp>
      <p:sp>
        <p:nvSpPr>
          <p:cNvPr id="10" name="Text 6"/>
          <p:cNvSpPr txBox="1"/>
          <p:nvPr/>
        </p:nvSpPr>
        <p:spPr>
          <a:xfrm>
            <a:off x="822960" y="3246120"/>
            <a:ext cx="2971800" cy="1188720"/>
          </a:xfrm>
          <a:prstGeom prst="rect">
            <a:avLst/>
          </a:prstGeom>
          <a:noFill/>
          <a:ln/>
        </p:spPr>
        <p:txBody>
          <a:bodyPr wrap="square" lIns="0" tIns="0" rIns="0" bIns="0" rtlCol="0" anchor="t"/>
          <a:lstStyle/>
          <a:p>
            <a:pPr indent="0" marL="0">
              <a:buNone/>
            </a:pPr>
            <a:r>
              <a:rPr lang="en-US" sz="1400" dirty="0">
                <a:solidFill>
                  <a:srgbClr val="1B2333"/>
                </a:solidFill>
                <a:latin typeface="Arial" pitchFamily="34" charset="0"/>
                <a:ea typeface="Arial" pitchFamily="34" charset="-122"/>
                <a:cs typeface="Arial" pitchFamily="34" charset="-120"/>
              </a:rPr>
              <a:t>The cipher sits directly in the serial datapath, so protection does not depend on software running on a host processor.</a:t>
            </a:r>
            <a:endParaRPr lang="en-US" sz="1400" dirty="0"/>
          </a:p>
        </p:txBody>
      </p:sp>
      <p:sp>
        <p:nvSpPr>
          <p:cNvPr id="11" name="Shape 7"/>
          <p:cNvSpPr/>
          <p:nvPr/>
        </p:nvSpPr>
        <p:spPr>
          <a:xfrm>
            <a:off x="4334256" y="1600200"/>
            <a:ext cx="3520440" cy="2926080"/>
          </a:xfrm>
          <a:prstGeom prst="roundRect">
            <a:avLst>
              <a:gd name="adj" fmla="val 3750"/>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12" name="Shape 8"/>
          <p:cNvSpPr/>
          <p:nvPr/>
        </p:nvSpPr>
        <p:spPr>
          <a:xfrm>
            <a:off x="4608576" y="1874520"/>
            <a:ext cx="731520" cy="731520"/>
          </a:xfrm>
          <a:prstGeom prst="ellipse">
            <a:avLst/>
          </a:prstGeom>
          <a:solidFill>
            <a:srgbClr val="1B75BB"/>
          </a:solidFill>
          <a:ln w="12700">
            <a:solidFill>
              <a:srgbClr val="1B75BB"/>
            </a:solidFill>
            <a:prstDash val="solid"/>
          </a:ln>
        </p:spPr>
      </p:sp>
      <p:pic>
        <p:nvPicPr>
          <p:cNvPr id="13" name="Image 2" descr="preencoded.png">    </p:cNvPr>
          <p:cNvPicPr>
            <a:picLocks noChangeAspect="1"/>
          </p:cNvPicPr>
          <p:nvPr/>
        </p:nvPicPr>
        <p:blipFill>
          <a:blip r:embed="rId3"/>
          <a:stretch>
            <a:fillRect/>
          </a:stretch>
        </p:blipFill>
        <p:spPr>
          <a:xfrm>
            <a:off x="4798771" y="2064715"/>
            <a:ext cx="351130" cy="351130"/>
          </a:xfrm>
          <a:prstGeom prst="rect">
            <a:avLst/>
          </a:prstGeom>
        </p:spPr>
      </p:pic>
      <p:sp>
        <p:nvSpPr>
          <p:cNvPr id="14" name="Text 9"/>
          <p:cNvSpPr txBox="1"/>
          <p:nvPr/>
        </p:nvSpPr>
        <p:spPr>
          <a:xfrm>
            <a:off x="4608576" y="2788920"/>
            <a:ext cx="2971800" cy="411480"/>
          </a:xfrm>
          <a:prstGeom prst="rect">
            <a:avLst/>
          </a:prstGeom>
          <a:noFill/>
          <a:ln/>
        </p:spPr>
        <p:txBody>
          <a:bodyPr wrap="square" lIns="0" tIns="0" rIns="0" bIns="0" rtlCol="0" anchor="t"/>
          <a:lstStyle/>
          <a:p>
            <a:pPr indent="0" marL="0">
              <a:buNone/>
            </a:pPr>
            <a:r>
              <a:rPr lang="en-US" sz="1800" b="1" dirty="0">
                <a:solidFill>
                  <a:srgbClr val="0B1F44"/>
                </a:solidFill>
                <a:latin typeface="Arial" pitchFamily="34" charset="0"/>
                <a:ea typeface="Arial" pitchFamily="34" charset="-122"/>
                <a:cs typeface="Arial" pitchFamily="34" charset="-120"/>
              </a:rPr>
              <a:t>Reliable links</a:t>
            </a:r>
            <a:endParaRPr lang="en-US" sz="1800" dirty="0"/>
          </a:p>
        </p:txBody>
      </p:sp>
      <p:sp>
        <p:nvSpPr>
          <p:cNvPr id="15" name="Text 10"/>
          <p:cNvSpPr txBox="1"/>
          <p:nvPr/>
        </p:nvSpPr>
        <p:spPr>
          <a:xfrm>
            <a:off x="4608576" y="3246120"/>
            <a:ext cx="2971800" cy="1188720"/>
          </a:xfrm>
          <a:prstGeom prst="rect">
            <a:avLst/>
          </a:prstGeom>
          <a:noFill/>
          <a:ln/>
        </p:spPr>
        <p:txBody>
          <a:bodyPr wrap="square" lIns="0" tIns="0" rIns="0" bIns="0" rtlCol="0" anchor="t"/>
          <a:lstStyle/>
          <a:p>
            <a:pPr indent="0" marL="0">
              <a:buNone/>
            </a:pPr>
            <a:r>
              <a:rPr lang="en-US" sz="1400" dirty="0">
                <a:solidFill>
                  <a:srgbClr val="1B2333"/>
                </a:solidFill>
                <a:latin typeface="Arial" pitchFamily="34" charset="0"/>
                <a:ea typeface="Arial" pitchFamily="34" charset="-122"/>
                <a:cs typeface="Arial" pitchFamily="34" charset="-120"/>
              </a:rPr>
              <a:t>CRC-16 lets the receiver detect accidental corruption, including burst errors, before data is accepted as valid.</a:t>
            </a:r>
            <a:endParaRPr lang="en-US" sz="1400" dirty="0"/>
          </a:p>
        </p:txBody>
      </p:sp>
      <p:sp>
        <p:nvSpPr>
          <p:cNvPr id="16" name="Shape 11"/>
          <p:cNvSpPr/>
          <p:nvPr/>
        </p:nvSpPr>
        <p:spPr>
          <a:xfrm>
            <a:off x="8119872" y="1600200"/>
            <a:ext cx="3520440" cy="2926080"/>
          </a:xfrm>
          <a:prstGeom prst="roundRect">
            <a:avLst>
              <a:gd name="adj" fmla="val 3750"/>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17" name="Shape 12"/>
          <p:cNvSpPr/>
          <p:nvPr/>
        </p:nvSpPr>
        <p:spPr>
          <a:xfrm>
            <a:off x="8394192" y="1874520"/>
            <a:ext cx="731520" cy="731520"/>
          </a:xfrm>
          <a:prstGeom prst="ellipse">
            <a:avLst/>
          </a:prstGeom>
          <a:solidFill>
            <a:srgbClr val="FF5757"/>
          </a:solidFill>
          <a:ln w="12700">
            <a:solidFill>
              <a:srgbClr val="FF5757"/>
            </a:solidFill>
            <a:prstDash val="solid"/>
          </a:ln>
        </p:spPr>
      </p:sp>
      <p:pic>
        <p:nvPicPr>
          <p:cNvPr id="18" name="Image 3" descr="preencoded.png">    </p:cNvPr>
          <p:cNvPicPr>
            <a:picLocks noChangeAspect="1"/>
          </p:cNvPicPr>
          <p:nvPr/>
        </p:nvPicPr>
        <p:blipFill>
          <a:blip r:embed="rId4"/>
          <a:stretch>
            <a:fillRect/>
          </a:stretch>
        </p:blipFill>
        <p:spPr>
          <a:xfrm>
            <a:off x="8584387" y="2064715"/>
            <a:ext cx="351130" cy="351130"/>
          </a:xfrm>
          <a:prstGeom prst="rect">
            <a:avLst/>
          </a:prstGeom>
        </p:spPr>
      </p:pic>
      <p:sp>
        <p:nvSpPr>
          <p:cNvPr id="19" name="Text 13"/>
          <p:cNvSpPr txBox="1"/>
          <p:nvPr/>
        </p:nvSpPr>
        <p:spPr>
          <a:xfrm>
            <a:off x="8394192" y="2788920"/>
            <a:ext cx="2971800" cy="411480"/>
          </a:xfrm>
          <a:prstGeom prst="rect">
            <a:avLst/>
          </a:prstGeom>
          <a:noFill/>
          <a:ln/>
        </p:spPr>
        <p:txBody>
          <a:bodyPr wrap="square" lIns="0" tIns="0" rIns="0" bIns="0" rtlCol="0" anchor="t"/>
          <a:lstStyle/>
          <a:p>
            <a:pPr indent="0" marL="0">
              <a:buNone/>
            </a:pPr>
            <a:r>
              <a:rPr lang="en-US" sz="1800" b="1" dirty="0">
                <a:solidFill>
                  <a:srgbClr val="0B1F44"/>
                </a:solidFill>
                <a:latin typeface="Arial" pitchFamily="34" charset="0"/>
                <a:ea typeface="Arial" pitchFamily="34" charset="-122"/>
                <a:cs typeface="Arial" pitchFamily="34" charset="-120"/>
              </a:rPr>
              <a:t>Reusable foundation</a:t>
            </a:r>
            <a:endParaRPr lang="en-US" sz="1800" dirty="0"/>
          </a:p>
        </p:txBody>
      </p:sp>
      <p:sp>
        <p:nvSpPr>
          <p:cNvPr id="20" name="Text 14"/>
          <p:cNvSpPr txBox="1"/>
          <p:nvPr/>
        </p:nvSpPr>
        <p:spPr>
          <a:xfrm>
            <a:off x="8394192" y="3246120"/>
            <a:ext cx="2971800" cy="1188720"/>
          </a:xfrm>
          <a:prstGeom prst="rect">
            <a:avLst/>
          </a:prstGeom>
          <a:noFill/>
          <a:ln/>
        </p:spPr>
        <p:txBody>
          <a:bodyPr wrap="square" lIns="0" tIns="0" rIns="0" bIns="0" rtlCol="0" anchor="t"/>
          <a:lstStyle/>
          <a:p>
            <a:pPr indent="0" marL="0">
              <a:buNone/>
            </a:pPr>
            <a:r>
              <a:rPr lang="en-US" sz="1400" dirty="0">
                <a:solidFill>
                  <a:srgbClr val="1B2333"/>
                </a:solidFill>
                <a:latin typeface="Arial" pitchFamily="34" charset="0"/>
                <a:ea typeface="Arial" pitchFamily="34" charset="-122"/>
                <a:cs typeface="Arial" pitchFamily="34" charset="-120"/>
              </a:rPr>
              <a:t>Modular, parameterized RTL that can be verified block by block and used as a base for FPGA or ASIC work.</a:t>
            </a:r>
            <a:endParaRPr lang="en-US" sz="1400" dirty="0"/>
          </a:p>
        </p:txBody>
      </p:sp>
      <p:sp>
        <p:nvSpPr>
          <p:cNvPr id="21" name="Shape 15"/>
          <p:cNvSpPr/>
          <p:nvPr/>
        </p:nvSpPr>
        <p:spPr>
          <a:xfrm>
            <a:off x="548640" y="4800600"/>
            <a:ext cx="11091672" cy="1325880"/>
          </a:xfrm>
          <a:prstGeom prst="roundRect">
            <a:avLst>
              <a:gd name="adj" fmla="val 8276"/>
            </a:avLst>
          </a:prstGeom>
          <a:solidFill>
            <a:srgbClr val="0B1F44"/>
          </a:solidFill>
          <a:ln w="12700">
            <a:solidFill>
              <a:srgbClr val="0B1F44"/>
            </a:solidFill>
            <a:prstDash val="solid"/>
          </a:ln>
        </p:spPr>
      </p:sp>
      <p:sp>
        <p:nvSpPr>
          <p:cNvPr id="22" name="Text 16"/>
          <p:cNvSpPr txBox="1"/>
          <p:nvPr/>
        </p:nvSpPr>
        <p:spPr>
          <a:xfrm>
            <a:off x="868680" y="4983480"/>
            <a:ext cx="2743200" cy="274320"/>
          </a:xfrm>
          <a:prstGeom prst="rect">
            <a:avLst/>
          </a:prstGeom>
          <a:noFill/>
          <a:ln/>
        </p:spPr>
        <p:txBody>
          <a:bodyPr wrap="square" lIns="0" tIns="0" rIns="0" bIns="0" rtlCol="0" anchor="t"/>
          <a:lstStyle/>
          <a:p>
            <a:pPr indent="0" marL="0">
              <a:buNone/>
            </a:pPr>
            <a:r>
              <a:rPr lang="en-US" sz="1200" b="1" spc="300" kern="0" dirty="0">
                <a:solidFill>
                  <a:srgbClr val="FF5757"/>
                </a:solidFill>
                <a:latin typeface="Arial" pitchFamily="34" charset="0"/>
                <a:ea typeface="Arial" pitchFamily="34" charset="-122"/>
                <a:cs typeface="Arial" pitchFamily="34" charset="-120"/>
              </a:rPr>
              <a:t>THE IMPACT</a:t>
            </a:r>
            <a:endParaRPr lang="en-US" sz="1200" dirty="0"/>
          </a:p>
        </p:txBody>
      </p:sp>
      <p:sp>
        <p:nvSpPr>
          <p:cNvPr id="23" name="Text 17"/>
          <p:cNvSpPr txBox="1"/>
          <p:nvPr/>
        </p:nvSpPr>
        <p:spPr>
          <a:xfrm>
            <a:off x="868680" y="5303520"/>
            <a:ext cx="7680960" cy="73152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One datapath that delivers three things: reliable serial transport, confidentiality and error detection, coordinated at the hardware level.</a:t>
            </a:r>
            <a:endParaRPr lang="en-US" sz="1600" dirty="0"/>
          </a:p>
        </p:txBody>
      </p:sp>
      <p:sp>
        <p:nvSpPr>
          <p:cNvPr id="24" name="Text 18"/>
          <p:cNvSpPr txBox="1"/>
          <p:nvPr/>
        </p:nvSpPr>
        <p:spPr>
          <a:xfrm>
            <a:off x="9006840" y="4937760"/>
            <a:ext cx="822960" cy="822960"/>
          </a:xfrm>
          <a:prstGeom prst="rect">
            <a:avLst/>
          </a:prstGeom>
          <a:noFill/>
          <a:ln/>
        </p:spPr>
        <p:txBody>
          <a:bodyPr wrap="square" lIns="0" tIns="0" rIns="0" bIns="0" rtlCol="0" anchor="ctr"/>
          <a:lstStyle/>
          <a:p>
            <a:pPr algn="ctr" indent="0" marL="0">
              <a:buNone/>
            </a:pPr>
            <a:r>
              <a:rPr lang="en-US" sz="4800" b="1" dirty="0">
                <a:solidFill>
                  <a:srgbClr val="FF5757"/>
                </a:solidFill>
                <a:latin typeface="Arial" pitchFamily="34" charset="0"/>
                <a:ea typeface="Arial" pitchFamily="34" charset="-122"/>
                <a:cs typeface="Arial" pitchFamily="34" charset="-120"/>
              </a:rPr>
              <a:t>3</a:t>
            </a:r>
            <a:endParaRPr lang="en-US" sz="4800" dirty="0"/>
          </a:p>
        </p:txBody>
      </p:sp>
      <p:sp>
        <p:nvSpPr>
          <p:cNvPr id="25" name="Text 19"/>
          <p:cNvSpPr txBox="1"/>
          <p:nvPr/>
        </p:nvSpPr>
        <p:spPr>
          <a:xfrm>
            <a:off x="9829800" y="5074920"/>
            <a:ext cx="1645920" cy="640080"/>
          </a:xfrm>
          <a:prstGeom prst="rect">
            <a:avLst/>
          </a:prstGeom>
          <a:noFill/>
          <a:ln/>
        </p:spPr>
        <p:txBody>
          <a:bodyPr wrap="square" lIns="0" tIns="0" rIns="0" bIns="0" rtlCol="0" anchor="ctr"/>
          <a:lstStyle/>
          <a:p>
            <a:pPr indent="0" marL="0">
              <a:buNone/>
            </a:pPr>
            <a:r>
              <a:rPr lang="en-US" sz="1300" dirty="0">
                <a:solidFill>
                  <a:srgbClr val="CADCFC"/>
                </a:solidFill>
                <a:latin typeface="Arial" pitchFamily="34" charset="0"/>
                <a:ea typeface="Arial" pitchFamily="34" charset="-122"/>
                <a:cs typeface="Arial" pitchFamily="34" charset="-120"/>
              </a:rPr>
              <a:t>RTL blocks</a:t>
            </a:r>
            <a:endParaRPr lang="en-US" sz="1300" dirty="0"/>
          </a:p>
          <a:p>
            <a:pPr indent="0" marL="0">
              <a:buNone/>
            </a:pPr>
            <a:r>
              <a:rPr lang="en-US" sz="1300" dirty="0">
                <a:solidFill>
                  <a:srgbClr val="CADCFC"/>
                </a:solidFill>
                <a:latin typeface="Arial" pitchFamily="34" charset="0"/>
                <a:ea typeface="Arial" pitchFamily="34" charset="-122"/>
                <a:cs typeface="Arial" pitchFamily="34" charset="-120"/>
              </a:rPr>
              <a:t>in 1 datapath</a:t>
            </a:r>
            <a:endParaRPr lang="en-US"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47472"/>
            <a:ext cx="7315200" cy="228600"/>
          </a:xfrm>
          <a:prstGeom prst="rect">
            <a:avLst/>
          </a:prstGeom>
          <a:noFill/>
          <a:ln/>
        </p:spPr>
        <p:txBody>
          <a:bodyPr wrap="square" lIns="0" tIns="0" rIns="0" bIns="0" rtlCol="0" anchor="t"/>
          <a:lstStyle/>
          <a:p>
            <a:pPr indent="0" marL="0">
              <a:buNone/>
            </a:pPr>
            <a:r>
              <a:rPr lang="en-US" sz="1200" b="1" spc="300" kern="0" dirty="0">
                <a:solidFill>
                  <a:srgbClr val="FF5757"/>
                </a:solidFill>
                <a:latin typeface="Arial" pitchFamily="34" charset="0"/>
                <a:ea typeface="Arial" pitchFamily="34" charset="-122"/>
                <a:cs typeface="Arial" pitchFamily="34" charset="-120"/>
              </a:rPr>
              <a:t>02  LITERATURE REVIEW</a:t>
            </a:r>
            <a:endParaRPr lang="en-US" sz="1200" dirty="0"/>
          </a:p>
        </p:txBody>
      </p:sp>
      <p:sp>
        <p:nvSpPr>
          <p:cNvPr id="3" name="Text 1"/>
          <p:cNvSpPr txBox="1"/>
          <p:nvPr/>
        </p:nvSpPr>
        <p:spPr>
          <a:xfrm>
            <a:off x="548640" y="603504"/>
            <a:ext cx="9966960" cy="685800"/>
          </a:xfrm>
          <a:prstGeom prst="rect">
            <a:avLst/>
          </a:prstGeom>
          <a:noFill/>
          <a:ln/>
        </p:spPr>
        <p:txBody>
          <a:bodyPr wrap="square" lIns="0" tIns="0" rIns="0" bIns="0" rtlCol="0" anchor="ctr"/>
          <a:lstStyle/>
          <a:p>
            <a:pPr indent="0" marL="0">
              <a:buNone/>
            </a:pPr>
            <a:r>
              <a:rPr lang="en-US" sz="3200" b="1" dirty="0">
                <a:solidFill>
                  <a:srgbClr val="0B1F44"/>
                </a:solidFill>
                <a:latin typeface="Arial" pitchFamily="34" charset="0"/>
                <a:ea typeface="Arial" pitchFamily="34" charset="-122"/>
                <a:cs typeface="Arial" pitchFamily="34" charset="-120"/>
              </a:rPr>
              <a:t>Literature review</a:t>
            </a:r>
            <a:endParaRPr lang="en-US" sz="3200" dirty="0"/>
          </a:p>
        </p:txBody>
      </p:sp>
      <p:pic>
        <p:nvPicPr>
          <p:cNvPr id="4" name="Image 0" descr="/home/claude/assets/logo.png">    </p:cNvPr>
          <p:cNvPicPr>
            <a:picLocks noChangeAspect="1"/>
          </p:cNvPicPr>
          <p:nvPr/>
        </p:nvPicPr>
        <p:blipFill>
          <a:blip r:embed="rId1"/>
          <a:stretch>
            <a:fillRect/>
          </a:stretch>
        </p:blipFill>
        <p:spPr>
          <a:xfrm>
            <a:off x="10744200" y="365760"/>
            <a:ext cx="896112" cy="434340"/>
          </a:xfrm>
          <a:prstGeom prst="rect">
            <a:avLst/>
          </a:prstGeom>
        </p:spPr>
      </p:pic>
      <p:sp>
        <p:nvSpPr>
          <p:cNvPr id="5" name="Text 2"/>
          <p:cNvSpPr txBox="1"/>
          <p:nvPr/>
        </p:nvSpPr>
        <p:spPr>
          <a:xfrm>
            <a:off x="548640" y="6428232"/>
            <a:ext cx="6400800" cy="228600"/>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Secure UART Communication System  ·  NTI Digital Design Project</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651760"/>
                <a:gridCol w="5120640"/>
                <a:gridCol w="3319272"/>
              </a:tblGrid>
              <a:tr h="457200">
                <a:tc>
                  <a:txBody>
                    <a:bodyPr/>
                    <a:lstStyle/>
                    <a:p>
                      <a:pPr indent="0" marL="0">
                        <a:buNone/>
                      </a:pPr>
                      <a:r>
                        <a:rPr lang="en-US" sz="1300" b="1" dirty="0">
                          <a:solidFill>
                            <a:srgbClr val="FFFFFF"/>
                          </a:solidFill>
                          <a:latin typeface="Arial" pitchFamily="34" charset="0"/>
                          <a:ea typeface="Arial" pitchFamily="34" charset="-122"/>
                          <a:cs typeface="Arial" pitchFamily="34" charset="-120"/>
                        </a:rPr>
                        <a:t>Work</a:t>
                      </a:r>
                      <a:endParaRPr lang="en-US" sz="1300" dirty="0">
                        <a:latin typeface="Arial" charset="0"/>
                        <a:ea typeface="Arial" charset="0"/>
                        <a:cs typeface="Arial" charset="0"/>
                      </a:endParaRPr>
                    </a:p>
                  </a:txBody>
                  <a:tcPr marL="109728" marR="109728" marT="45720" marB="45720"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004AAD"/>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What it shows</a:t>
                      </a:r>
                      <a:endParaRPr lang="en-US" sz="1300" dirty="0">
                        <a:latin typeface="Arial" charset="0"/>
                        <a:ea typeface="Arial" charset="0"/>
                        <a:cs typeface="Arial" charset="0"/>
                      </a:endParaRPr>
                    </a:p>
                  </a:txBody>
                  <a:tcPr marL="109728" marR="109728" marT="45720" marB="45720"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004AAD"/>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What we took from it</a:t>
                      </a:r>
                      <a:endParaRPr lang="en-US" sz="1300" dirty="0">
                        <a:latin typeface="Arial" charset="0"/>
                        <a:ea typeface="Arial" charset="0"/>
                        <a:cs typeface="Arial" charset="0"/>
                      </a:endParaRPr>
                    </a:p>
                  </a:txBody>
                  <a:tcPr marL="109728" marR="109728" marT="45720" marB="45720"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004AAD"/>
                    </a:solidFill>
                  </a:tcPr>
                </a:tc>
              </a:tr>
              <a:tr h="822960">
                <a:tc>
                  <a:txBody>
                    <a:bodyPr/>
                    <a:lstStyle/>
                    <a:p>
                      <a:pPr indent="0" marL="0">
                        <a:buNone/>
                      </a:pPr>
                      <a:r>
                        <a:rPr lang="en-US" sz="1300" b="1" dirty="0">
                          <a:solidFill>
                            <a:srgbClr val="0B1F44"/>
                          </a:solidFill>
                          <a:latin typeface="Arial" pitchFamily="34" charset="0"/>
                          <a:ea typeface="Arial" pitchFamily="34" charset="-122"/>
                          <a:cs typeface="Arial" pitchFamily="34" charset="-120"/>
                        </a:rPr>
                        <a:t>Basu, Kole &amp; Rahaman (2012) [1]</a:t>
                      </a:r>
                      <a:endParaRPr lang="en-US" sz="1300" dirty="0">
                        <a:latin typeface="Arial" charset="0"/>
                        <a:ea typeface="Arial" charset="0"/>
                        <a:cs typeface="Arial" charset="0"/>
                      </a:endParaRPr>
                    </a:p>
                  </a:txBody>
                  <a:tcPr marL="109728" marR="109728" marT="45720" marB="45720"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350" dirty="0">
                          <a:solidFill>
                            <a:srgbClr val="1B2333"/>
                          </a:solidFill>
                          <a:latin typeface="Arial" pitchFamily="34" charset="0"/>
                          <a:ea typeface="Arial" pitchFamily="34" charset="-122"/>
                          <a:cs typeface="Arial" pitchFamily="34" charset="-120"/>
                        </a:rPr>
                        <a:t>AES embedded inside a UART module for secured serial transfer, instead of software on a host.</a:t>
                      </a:r>
                      <a:endParaRPr lang="en-US" sz="1350" dirty="0">
                        <a:latin typeface="Arial" charset="0"/>
                        <a:ea typeface="Arial" charset="0"/>
                        <a:cs typeface="Arial" charset="0"/>
                      </a:endParaRPr>
                    </a:p>
                  </a:txBody>
                  <a:tcPr marL="109728" marR="109728" marT="45720" marB="45720"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350" b="1" dirty="0">
                          <a:solidFill>
                            <a:srgbClr val="004AAD"/>
                          </a:solidFill>
                          <a:latin typeface="Arial" pitchFamily="34" charset="0"/>
                          <a:ea typeface="Arial" pitchFamily="34" charset="-122"/>
                          <a:cs typeface="Arial" pitchFamily="34" charset="-120"/>
                        </a:rPr>
                        <a:t>Put the cipher directly in the serial data path</a:t>
                      </a:r>
                      <a:endParaRPr lang="en-US" sz="1350" dirty="0">
                        <a:latin typeface="Arial" charset="0"/>
                        <a:ea typeface="Arial" charset="0"/>
                        <a:cs typeface="Arial" charset="0"/>
                      </a:endParaRPr>
                    </a:p>
                  </a:txBody>
                  <a:tcPr marL="109728" marR="109728" marT="45720" marB="45720"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822960">
                <a:tc>
                  <a:txBody>
                    <a:bodyPr/>
                    <a:lstStyle/>
                    <a:p>
                      <a:pPr indent="0" marL="0">
                        <a:buNone/>
                      </a:pPr>
                      <a:r>
                        <a:rPr lang="en-US" sz="1300" b="1" dirty="0">
                          <a:solidFill>
                            <a:srgbClr val="0B1F44"/>
                          </a:solidFill>
                          <a:latin typeface="Arial" pitchFamily="34" charset="0"/>
                          <a:ea typeface="Arial" pitchFamily="34" charset="-122"/>
                          <a:cs typeface="Arial" pitchFamily="34" charset="-120"/>
                        </a:rPr>
                        <a:t>Katkade &amp; Phade (2016) [2]</a:t>
                      </a:r>
                      <a:endParaRPr lang="en-US" sz="1300" dirty="0">
                        <a:latin typeface="Arial" charset="0"/>
                        <a:ea typeface="Arial" charset="0"/>
                        <a:cs typeface="Arial" charset="0"/>
                      </a:endParaRPr>
                    </a:p>
                  </a:txBody>
                  <a:tcPr marL="109728" marR="109728" marT="45720" marB="45720"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5F8FD"/>
                    </a:solidFill>
                  </a:tcPr>
                </a:tc>
                <a:tc>
                  <a:txBody>
                    <a:bodyPr/>
                    <a:lstStyle/>
                    <a:p>
                      <a:pPr indent="0" marL="0">
                        <a:buNone/>
                      </a:pPr>
                      <a:r>
                        <a:rPr lang="en-US" sz="1350" dirty="0">
                          <a:solidFill>
                            <a:srgbClr val="1B2333"/>
                          </a:solidFill>
                          <a:latin typeface="Arial" pitchFamily="34" charset="0"/>
                          <a:ea typeface="Arial" pitchFamily="34" charset="-122"/>
                          <a:cs typeface="Arial" pitchFamily="34" charset="-120"/>
                        </a:rPr>
                        <a:t>AES for confidentiality on serial links, with the practical trade-offs on a low-resource interface.</a:t>
                      </a:r>
                      <a:endParaRPr lang="en-US" sz="1350" dirty="0">
                        <a:latin typeface="Arial" charset="0"/>
                        <a:ea typeface="Arial" charset="0"/>
                        <a:cs typeface="Arial" charset="0"/>
                      </a:endParaRPr>
                    </a:p>
                  </a:txBody>
                  <a:tcPr marL="109728" marR="109728" marT="45720" marB="45720"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5F8FD"/>
                    </a:solidFill>
                  </a:tcPr>
                </a:tc>
                <a:tc>
                  <a:txBody>
                    <a:bodyPr/>
                    <a:lstStyle/>
                    <a:p>
                      <a:pPr indent="0" marL="0">
                        <a:buNone/>
                      </a:pPr>
                      <a:r>
                        <a:rPr lang="en-US" sz="1350" b="1" dirty="0">
                          <a:solidFill>
                            <a:srgbClr val="004AAD"/>
                          </a:solidFill>
                          <a:latin typeface="Arial" pitchFamily="34" charset="0"/>
                          <a:ea typeface="Arial" pitchFamily="34" charset="-122"/>
                          <a:cs typeface="Arial" pitchFamily="34" charset="-120"/>
                        </a:rPr>
                        <a:t>Keep the cipher small and practical</a:t>
                      </a:r>
                      <a:endParaRPr lang="en-US" sz="1350" dirty="0">
                        <a:latin typeface="Arial" charset="0"/>
                        <a:ea typeface="Arial" charset="0"/>
                        <a:cs typeface="Arial" charset="0"/>
                      </a:endParaRPr>
                    </a:p>
                  </a:txBody>
                  <a:tcPr marL="109728" marR="109728" marT="45720" marB="45720"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5F8FD"/>
                    </a:solidFill>
                  </a:tcPr>
                </a:tc>
              </a:tr>
              <a:tr h="822960">
                <a:tc>
                  <a:txBody>
                    <a:bodyPr/>
                    <a:lstStyle/>
                    <a:p>
                      <a:pPr indent="0" marL="0">
                        <a:buNone/>
                      </a:pPr>
                      <a:r>
                        <a:rPr lang="en-US" sz="1300" b="1" dirty="0">
                          <a:solidFill>
                            <a:srgbClr val="0B1F44"/>
                          </a:solidFill>
                          <a:latin typeface="Arial" pitchFamily="34" charset="0"/>
                          <a:ea typeface="Arial" pitchFamily="34" charset="-122"/>
                          <a:cs typeface="Arial" pitchFamily="34" charset="-120"/>
                        </a:rPr>
                        <a:t>Kala, Panda &amp; Tanwar (2023) [3]</a:t>
                      </a:r>
                      <a:endParaRPr lang="en-US" sz="1300" dirty="0">
                        <a:latin typeface="Arial" charset="0"/>
                        <a:ea typeface="Arial" charset="0"/>
                        <a:cs typeface="Arial" charset="0"/>
                      </a:endParaRPr>
                    </a:p>
                  </a:txBody>
                  <a:tcPr marL="109728" marR="109728" marT="45720" marB="45720"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350" dirty="0">
                          <a:solidFill>
                            <a:srgbClr val="1B2333"/>
                          </a:solidFill>
                          <a:latin typeface="Arial" pitchFamily="34" charset="0"/>
                          <a:ea typeface="Arial" pitchFamily="34" charset="-122"/>
                          <a:cs typeface="Arial" pitchFamily="34" charset="-120"/>
                        </a:rPr>
                        <a:t>High-throughput, low-power AES-128 on FPGA. Pipelined vs iterative area/throughput trade-off.</a:t>
                      </a:r>
                      <a:endParaRPr lang="en-US" sz="1350" dirty="0">
                        <a:latin typeface="Arial" charset="0"/>
                        <a:ea typeface="Arial" charset="0"/>
                        <a:cs typeface="Arial" charset="0"/>
                      </a:endParaRPr>
                    </a:p>
                  </a:txBody>
                  <a:tcPr marL="109728" marR="109728" marT="45720" marB="45720"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350" b="1" dirty="0">
                          <a:solidFill>
                            <a:srgbClr val="004AAD"/>
                          </a:solidFill>
                          <a:latin typeface="Arial" pitchFamily="34" charset="0"/>
                          <a:ea typeface="Arial" pitchFamily="34" charset="-122"/>
                          <a:cs typeface="Arial" pitchFamily="34" charset="-120"/>
                        </a:rPr>
                        <a:t>Iterative core: one round datapath reused for all 10 rounds</a:t>
                      </a:r>
                      <a:endParaRPr lang="en-US" sz="1350" dirty="0">
                        <a:latin typeface="Arial" charset="0"/>
                        <a:ea typeface="Arial" charset="0"/>
                        <a:cs typeface="Arial" charset="0"/>
                      </a:endParaRPr>
                    </a:p>
                  </a:txBody>
                  <a:tcPr marL="109728" marR="109728" marT="45720" marB="45720"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822960">
                <a:tc>
                  <a:txBody>
                    <a:bodyPr/>
                    <a:lstStyle/>
                    <a:p>
                      <a:pPr indent="0" marL="0">
                        <a:buNone/>
                      </a:pPr>
                      <a:r>
                        <a:rPr lang="en-US" sz="1300" b="1" dirty="0">
                          <a:solidFill>
                            <a:srgbClr val="0B1F44"/>
                          </a:solidFill>
                          <a:latin typeface="Arial" pitchFamily="34" charset="0"/>
                          <a:ea typeface="Arial" pitchFamily="34" charset="-122"/>
                          <a:cs typeface="Arial" pitchFamily="34" charset="-120"/>
                        </a:rPr>
                        <a:t>Kinshuk et al. [4]</a:t>
                      </a:r>
                      <a:endParaRPr lang="en-US" sz="1300" dirty="0">
                        <a:latin typeface="Arial" charset="0"/>
                        <a:ea typeface="Arial" charset="0"/>
                        <a:cs typeface="Arial" charset="0"/>
                      </a:endParaRPr>
                    </a:p>
                  </a:txBody>
                  <a:tcPr marL="109728" marR="109728" marT="45720" marB="45720"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5F8FD"/>
                    </a:solidFill>
                  </a:tcPr>
                </a:tc>
                <a:tc>
                  <a:txBody>
                    <a:bodyPr/>
                    <a:lstStyle/>
                    <a:p>
                      <a:pPr indent="0" marL="0">
                        <a:buNone/>
                      </a:pPr>
                      <a:r>
                        <a:rPr lang="en-US" sz="1350" dirty="0">
                          <a:solidFill>
                            <a:srgbClr val="1B2333"/>
                          </a:solidFill>
                          <a:latin typeface="Arial" pitchFamily="34" charset="0"/>
                          <a:ea typeface="Arial" pitchFamily="34" charset="-122"/>
                          <a:cs typeface="Arial" pitchFamily="34" charset="-120"/>
                        </a:rPr>
                        <a:t>Fixed-key AES-128 block for secure UART transfer with a documented frame convention.</a:t>
                      </a:r>
                      <a:endParaRPr lang="en-US" sz="1350" dirty="0">
                        <a:latin typeface="Arial" charset="0"/>
                        <a:ea typeface="Arial" charset="0"/>
                        <a:cs typeface="Arial" charset="0"/>
                      </a:endParaRPr>
                    </a:p>
                  </a:txBody>
                  <a:tcPr marL="109728" marR="109728" marT="45720" marB="45720"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5F8FD"/>
                    </a:solidFill>
                  </a:tcPr>
                </a:tc>
                <a:tc>
                  <a:txBody>
                    <a:bodyPr/>
                    <a:lstStyle/>
                    <a:p>
                      <a:pPr indent="0" marL="0">
                        <a:buNone/>
                      </a:pPr>
                      <a:r>
                        <a:rPr lang="en-US" sz="1350" b="1" dirty="0">
                          <a:solidFill>
                            <a:srgbClr val="004AAD"/>
                          </a:solidFill>
                          <a:latin typeface="Arial" pitchFamily="34" charset="0"/>
                          <a:ea typeface="Arial" pitchFamily="34" charset="-122"/>
                          <a:cs typeface="Arial" pitchFamily="34" charset="-120"/>
                        </a:rPr>
                        <a:t>Ciphertext + CRC as the protected payload</a:t>
                      </a:r>
                      <a:endParaRPr lang="en-US" sz="1350" dirty="0">
                        <a:latin typeface="Arial" charset="0"/>
                        <a:ea typeface="Arial" charset="0"/>
                        <a:cs typeface="Arial" charset="0"/>
                      </a:endParaRPr>
                    </a:p>
                  </a:txBody>
                  <a:tcPr marL="109728" marR="109728" marT="45720" marB="45720"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5F8FD"/>
                    </a:solidFill>
                  </a:tcPr>
                </a:tc>
              </a:tr>
              <a:tr h="822960">
                <a:tc>
                  <a:txBody>
                    <a:bodyPr/>
                    <a:lstStyle/>
                    <a:p>
                      <a:pPr indent="0" marL="0">
                        <a:buNone/>
                      </a:pPr>
                      <a:r>
                        <a:rPr lang="en-US" sz="1300" b="1" dirty="0">
                          <a:solidFill>
                            <a:srgbClr val="0B1F44"/>
                          </a:solidFill>
                          <a:latin typeface="Arial" pitchFamily="34" charset="0"/>
                          <a:ea typeface="Arial" pitchFamily="34" charset="-122"/>
                          <a:cs typeface="Arial" pitchFamily="34" charset="-120"/>
                        </a:rPr>
                        <a:t>UART + CRC prior work</a:t>
                      </a:r>
                      <a:endParaRPr lang="en-US" sz="1300" dirty="0">
                        <a:latin typeface="Arial" charset="0"/>
                        <a:ea typeface="Arial" charset="0"/>
                        <a:cs typeface="Arial" charset="0"/>
                      </a:endParaRPr>
                    </a:p>
                  </a:txBody>
                  <a:tcPr marL="109728" marR="109728" marT="45720" marB="45720"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350" dirty="0">
                          <a:solidFill>
                            <a:srgbClr val="1B2333"/>
                          </a:solidFill>
                          <a:latin typeface="Arial" pitchFamily="34" charset="0"/>
                          <a:ea typeface="Arial" pitchFamily="34" charset="-122"/>
                          <a:cs typeface="Arial" pitchFamily="34" charset="-120"/>
                        </a:rPr>
                        <a:t>CRC clearly beats parity alone for multi-byte frames hit by burst noise.</a:t>
                      </a:r>
                      <a:endParaRPr lang="en-US" sz="1350" dirty="0">
                        <a:latin typeface="Arial" charset="0"/>
                        <a:ea typeface="Arial" charset="0"/>
                        <a:cs typeface="Arial" charset="0"/>
                      </a:endParaRPr>
                    </a:p>
                  </a:txBody>
                  <a:tcPr marL="109728" marR="109728" marT="45720" marB="45720"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350" b="1" dirty="0">
                          <a:solidFill>
                            <a:srgbClr val="004AAD"/>
                          </a:solidFill>
                          <a:latin typeface="Arial" pitchFamily="34" charset="0"/>
                          <a:ea typeface="Arial" pitchFamily="34" charset="-122"/>
                          <a:cs typeface="Arial" pitchFamily="34" charset="-120"/>
                        </a:rPr>
                        <a:t>CRC-16/XMODEM (0x1021, init 0x0000) over the ciphertext</a:t>
                      </a:r>
                      <a:endParaRPr lang="en-US" sz="1350" dirty="0">
                        <a:latin typeface="Arial" charset="0"/>
                        <a:ea typeface="Arial" charset="0"/>
                        <a:cs typeface="Arial" charset="0"/>
                      </a:endParaRPr>
                    </a:p>
                  </a:txBody>
                  <a:tcPr marL="109728" marR="109728" marT="45720" marB="45720"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47472"/>
            <a:ext cx="7315200" cy="228600"/>
          </a:xfrm>
          <a:prstGeom prst="rect">
            <a:avLst/>
          </a:prstGeom>
          <a:noFill/>
          <a:ln/>
        </p:spPr>
        <p:txBody>
          <a:bodyPr wrap="square" lIns="0" tIns="0" rIns="0" bIns="0" rtlCol="0" anchor="t"/>
          <a:lstStyle/>
          <a:p>
            <a:pPr indent="0" marL="0">
              <a:buNone/>
            </a:pPr>
            <a:r>
              <a:rPr lang="en-US" sz="1200" b="1" spc="300" kern="0" dirty="0">
                <a:solidFill>
                  <a:srgbClr val="FF5757"/>
                </a:solidFill>
                <a:latin typeface="Arial" pitchFamily="34" charset="0"/>
                <a:ea typeface="Arial" pitchFamily="34" charset="-122"/>
                <a:cs typeface="Arial" pitchFamily="34" charset="-120"/>
              </a:rPr>
              <a:t>02  LITERATURE REVIEW</a:t>
            </a:r>
            <a:endParaRPr lang="en-US" sz="1200" dirty="0"/>
          </a:p>
        </p:txBody>
      </p:sp>
      <p:sp>
        <p:nvSpPr>
          <p:cNvPr id="3" name="Text 1"/>
          <p:cNvSpPr txBox="1"/>
          <p:nvPr/>
        </p:nvSpPr>
        <p:spPr>
          <a:xfrm>
            <a:off x="548640" y="603504"/>
            <a:ext cx="9966960" cy="685800"/>
          </a:xfrm>
          <a:prstGeom prst="rect">
            <a:avLst/>
          </a:prstGeom>
          <a:noFill/>
          <a:ln/>
        </p:spPr>
        <p:txBody>
          <a:bodyPr wrap="square" lIns="0" tIns="0" rIns="0" bIns="0" rtlCol="0" anchor="ctr"/>
          <a:lstStyle/>
          <a:p>
            <a:pPr indent="0" marL="0">
              <a:buNone/>
            </a:pPr>
            <a:r>
              <a:rPr lang="en-US" sz="3200" b="1" dirty="0">
                <a:solidFill>
                  <a:srgbClr val="0B1F44"/>
                </a:solidFill>
                <a:latin typeface="Arial" pitchFamily="34" charset="0"/>
                <a:ea typeface="Arial" pitchFamily="34" charset="-122"/>
                <a:cs typeface="Arial" pitchFamily="34" charset="-120"/>
              </a:rPr>
              <a:t>Our edge: pros and cons</a:t>
            </a:r>
            <a:endParaRPr lang="en-US" sz="3200" dirty="0"/>
          </a:p>
        </p:txBody>
      </p:sp>
      <p:pic>
        <p:nvPicPr>
          <p:cNvPr id="4" name="Image 0" descr="/home/claude/assets/logo.png">    </p:cNvPr>
          <p:cNvPicPr>
            <a:picLocks noChangeAspect="1"/>
          </p:cNvPicPr>
          <p:nvPr/>
        </p:nvPicPr>
        <p:blipFill>
          <a:blip r:embed="rId1"/>
          <a:stretch>
            <a:fillRect/>
          </a:stretch>
        </p:blipFill>
        <p:spPr>
          <a:xfrm>
            <a:off x="10744200" y="365760"/>
            <a:ext cx="896112" cy="434340"/>
          </a:xfrm>
          <a:prstGeom prst="rect">
            <a:avLst/>
          </a:prstGeom>
        </p:spPr>
      </p:pic>
      <p:sp>
        <p:nvSpPr>
          <p:cNvPr id="5" name="Text 2"/>
          <p:cNvSpPr txBox="1"/>
          <p:nvPr/>
        </p:nvSpPr>
        <p:spPr>
          <a:xfrm>
            <a:off x="548640" y="6428232"/>
            <a:ext cx="6400800" cy="228600"/>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Secure UART Communication System  ·  NTI Digital Design Project</a:t>
            </a:r>
            <a:endParaRPr lang="en-US" sz="1000" dirty="0"/>
          </a:p>
        </p:txBody>
      </p:sp>
      <p:sp>
        <p:nvSpPr>
          <p:cNvPr id="6" name="Shape 3"/>
          <p:cNvSpPr/>
          <p:nvPr/>
        </p:nvSpPr>
        <p:spPr>
          <a:xfrm>
            <a:off x="548640" y="1554480"/>
            <a:ext cx="5394960" cy="3886200"/>
          </a:xfrm>
          <a:prstGeom prst="roundRect">
            <a:avLst>
              <a:gd name="adj" fmla="val 2824"/>
            </a:avLst>
          </a:prstGeom>
          <a:solidFill>
            <a:srgbClr val="EAF1FB"/>
          </a:solidFill>
          <a:ln w="12700">
            <a:solidFill>
              <a:srgbClr val="EAF1FB"/>
            </a:solidFill>
            <a:prstDash val="solid"/>
          </a:ln>
        </p:spPr>
      </p:sp>
      <p:sp>
        <p:nvSpPr>
          <p:cNvPr id="7" name="Shape 4"/>
          <p:cNvSpPr/>
          <p:nvPr/>
        </p:nvSpPr>
        <p:spPr>
          <a:xfrm>
            <a:off x="822960" y="1737360"/>
            <a:ext cx="548640" cy="548640"/>
          </a:xfrm>
          <a:prstGeom prst="ellipse">
            <a:avLst/>
          </a:prstGeom>
          <a:solidFill>
            <a:srgbClr val="004AAD"/>
          </a:solidFill>
          <a:ln w="12700">
            <a:solidFill>
              <a:srgbClr val="004AAD"/>
            </a:solidFill>
            <a:prstDash val="solid"/>
          </a:ln>
        </p:spPr>
      </p:sp>
      <p:pic>
        <p:nvPicPr>
          <p:cNvPr id="8" name="Image 1" descr="preencoded.png">    </p:cNvPr>
          <p:cNvPicPr>
            <a:picLocks noChangeAspect="1"/>
          </p:cNvPicPr>
          <p:nvPr/>
        </p:nvPicPr>
        <p:blipFill>
          <a:blip r:embed="rId2"/>
          <a:stretch>
            <a:fillRect/>
          </a:stretch>
        </p:blipFill>
        <p:spPr>
          <a:xfrm>
            <a:off x="965606" y="1880006"/>
            <a:ext cx="263347" cy="263347"/>
          </a:xfrm>
          <a:prstGeom prst="rect">
            <a:avLst/>
          </a:prstGeom>
        </p:spPr>
      </p:pic>
      <p:sp>
        <p:nvSpPr>
          <p:cNvPr id="9" name="Text 5"/>
          <p:cNvSpPr txBox="1"/>
          <p:nvPr/>
        </p:nvSpPr>
        <p:spPr>
          <a:xfrm>
            <a:off x="1554480" y="1737360"/>
            <a:ext cx="4114800" cy="548640"/>
          </a:xfrm>
          <a:prstGeom prst="rect">
            <a:avLst/>
          </a:prstGeom>
          <a:noFill/>
          <a:ln/>
        </p:spPr>
        <p:txBody>
          <a:bodyPr wrap="square" lIns="0" tIns="0" rIns="0" bIns="0" rtlCol="0" anchor="ctr"/>
          <a:lstStyle/>
          <a:p>
            <a:pPr indent="0" marL="0">
              <a:buNone/>
            </a:pPr>
            <a:r>
              <a:rPr lang="en-US" sz="2000" b="1" dirty="0">
                <a:solidFill>
                  <a:srgbClr val="004AAD"/>
                </a:solidFill>
                <a:latin typeface="Arial" pitchFamily="34" charset="0"/>
                <a:ea typeface="Arial" pitchFamily="34" charset="-122"/>
                <a:cs typeface="Arial" pitchFamily="34" charset="-120"/>
              </a:rPr>
              <a:t>Our edge</a:t>
            </a:r>
            <a:endParaRPr lang="en-US" sz="2000" dirty="0"/>
          </a:p>
        </p:txBody>
      </p:sp>
      <p:pic>
        <p:nvPicPr>
          <p:cNvPr id="10" name="Image 2" descr="preencoded.png">    </p:cNvPr>
          <p:cNvPicPr>
            <a:picLocks noChangeAspect="1"/>
          </p:cNvPicPr>
          <p:nvPr/>
        </p:nvPicPr>
        <p:blipFill>
          <a:blip r:embed="rId3"/>
          <a:stretch>
            <a:fillRect/>
          </a:stretch>
        </p:blipFill>
        <p:spPr>
          <a:xfrm>
            <a:off x="841248" y="2551176"/>
            <a:ext cx="256032" cy="256032"/>
          </a:xfrm>
          <a:prstGeom prst="rect">
            <a:avLst/>
          </a:prstGeom>
        </p:spPr>
      </p:pic>
      <p:sp>
        <p:nvSpPr>
          <p:cNvPr id="11" name="Text 6"/>
          <p:cNvSpPr txBox="1"/>
          <p:nvPr/>
        </p:nvSpPr>
        <p:spPr>
          <a:xfrm>
            <a:off x="1280160" y="2514600"/>
            <a:ext cx="4434840" cy="658368"/>
          </a:xfrm>
          <a:prstGeom prst="rect">
            <a:avLst/>
          </a:prstGeom>
          <a:noFill/>
          <a:ln/>
        </p:spPr>
        <p:txBody>
          <a:bodyPr wrap="square" lIns="0" tIns="0" rIns="0" bIns="0" rtlCol="0" anchor="t"/>
          <a:lstStyle/>
          <a:p>
            <a:pPr indent="0" marL="0">
              <a:buNone/>
            </a:pPr>
            <a:r>
              <a:rPr lang="en-US" sz="1350" dirty="0">
                <a:solidFill>
                  <a:srgbClr val="1B2333"/>
                </a:solidFill>
                <a:latin typeface="Arial" pitchFamily="34" charset="0"/>
                <a:ea typeface="Arial" pitchFamily="34" charset="-122"/>
                <a:cs typeface="Arial" pitchFamily="34" charset="-120"/>
              </a:rPr>
              <a:t>Three independently verifiable RTL blocks (UART, AES, CRC) integrated in one system</a:t>
            </a:r>
            <a:endParaRPr lang="en-US" sz="1350" dirty="0"/>
          </a:p>
        </p:txBody>
      </p:sp>
      <p:pic>
        <p:nvPicPr>
          <p:cNvPr id="12" name="Image 3" descr="preencoded.png">    </p:cNvPr>
          <p:cNvPicPr>
            <a:picLocks noChangeAspect="1"/>
          </p:cNvPicPr>
          <p:nvPr/>
        </p:nvPicPr>
        <p:blipFill>
          <a:blip r:embed="rId4"/>
          <a:stretch>
            <a:fillRect/>
          </a:stretch>
        </p:blipFill>
        <p:spPr>
          <a:xfrm>
            <a:off x="841248" y="3264408"/>
            <a:ext cx="256032" cy="256032"/>
          </a:xfrm>
          <a:prstGeom prst="rect">
            <a:avLst/>
          </a:prstGeom>
        </p:spPr>
      </p:pic>
      <p:sp>
        <p:nvSpPr>
          <p:cNvPr id="13" name="Text 7"/>
          <p:cNvSpPr txBox="1"/>
          <p:nvPr/>
        </p:nvSpPr>
        <p:spPr>
          <a:xfrm>
            <a:off x="1280160" y="3227832"/>
            <a:ext cx="4434840" cy="658368"/>
          </a:xfrm>
          <a:prstGeom prst="rect">
            <a:avLst/>
          </a:prstGeom>
          <a:noFill/>
          <a:ln/>
        </p:spPr>
        <p:txBody>
          <a:bodyPr wrap="square" lIns="0" tIns="0" rIns="0" bIns="0" rtlCol="0" anchor="t"/>
          <a:lstStyle/>
          <a:p>
            <a:pPr indent="0" marL="0">
              <a:buNone/>
            </a:pPr>
            <a:r>
              <a:rPr lang="en-US" sz="1350" dirty="0">
                <a:solidFill>
                  <a:srgbClr val="1B2333"/>
                </a:solidFill>
                <a:latin typeface="Arial" pitchFamily="34" charset="0"/>
                <a:ea typeface="Arial" pitchFamily="34" charset="-122"/>
                <a:cs typeface="Arial" pitchFamily="34" charset="-120"/>
              </a:rPr>
              <a:t>Explicit start / busy / done handshake plus a top-level FSM: no stage consumes incomplete data</a:t>
            </a:r>
            <a:endParaRPr lang="en-US" sz="1350" dirty="0"/>
          </a:p>
        </p:txBody>
      </p:sp>
      <p:pic>
        <p:nvPicPr>
          <p:cNvPr id="14" name="Image 4" descr="preencoded.png">    </p:cNvPr>
          <p:cNvPicPr>
            <a:picLocks noChangeAspect="1"/>
          </p:cNvPicPr>
          <p:nvPr/>
        </p:nvPicPr>
        <p:blipFill>
          <a:blip r:embed="rId5"/>
          <a:stretch>
            <a:fillRect/>
          </a:stretch>
        </p:blipFill>
        <p:spPr>
          <a:xfrm>
            <a:off x="841248" y="3977640"/>
            <a:ext cx="256032" cy="256032"/>
          </a:xfrm>
          <a:prstGeom prst="rect">
            <a:avLst/>
          </a:prstGeom>
        </p:spPr>
      </p:pic>
      <p:sp>
        <p:nvSpPr>
          <p:cNvPr id="15" name="Text 8"/>
          <p:cNvSpPr txBox="1"/>
          <p:nvPr/>
        </p:nvSpPr>
        <p:spPr>
          <a:xfrm>
            <a:off x="1280160" y="3941064"/>
            <a:ext cx="4434840" cy="658368"/>
          </a:xfrm>
          <a:prstGeom prst="rect">
            <a:avLst/>
          </a:prstGeom>
          <a:noFill/>
          <a:ln/>
        </p:spPr>
        <p:txBody>
          <a:bodyPr wrap="square" lIns="0" tIns="0" rIns="0" bIns="0" rtlCol="0" anchor="t"/>
          <a:lstStyle/>
          <a:p>
            <a:pPr indent="0" marL="0">
              <a:buNone/>
            </a:pPr>
            <a:r>
              <a:rPr lang="en-US" sz="1350" dirty="0">
                <a:solidFill>
                  <a:srgbClr val="1B2333"/>
                </a:solidFill>
                <a:latin typeface="Arial" pitchFamily="34" charset="0"/>
                <a:ea typeface="Arial" pitchFamily="34" charset="-122"/>
                <a:cs typeface="Arial" pitchFamily="34" charset="-120"/>
              </a:rPr>
              <a:t>Iterative AES core reuses one round datapath, so it needs less area than an unrolled design</a:t>
            </a:r>
            <a:endParaRPr lang="en-US" sz="1350" dirty="0"/>
          </a:p>
        </p:txBody>
      </p:sp>
      <p:pic>
        <p:nvPicPr>
          <p:cNvPr id="16" name="Image 5" descr="preencoded.png">    </p:cNvPr>
          <p:cNvPicPr>
            <a:picLocks noChangeAspect="1"/>
          </p:cNvPicPr>
          <p:nvPr/>
        </p:nvPicPr>
        <p:blipFill>
          <a:blip r:embed="rId6"/>
          <a:stretch>
            <a:fillRect/>
          </a:stretch>
        </p:blipFill>
        <p:spPr>
          <a:xfrm>
            <a:off x="841248" y="4690872"/>
            <a:ext cx="256032" cy="256032"/>
          </a:xfrm>
          <a:prstGeom prst="rect">
            <a:avLst/>
          </a:prstGeom>
        </p:spPr>
      </p:pic>
      <p:sp>
        <p:nvSpPr>
          <p:cNvPr id="17" name="Text 9"/>
          <p:cNvSpPr txBox="1"/>
          <p:nvPr/>
        </p:nvSpPr>
        <p:spPr>
          <a:xfrm>
            <a:off x="1280160" y="4654296"/>
            <a:ext cx="4434840" cy="658368"/>
          </a:xfrm>
          <a:prstGeom prst="rect">
            <a:avLst/>
          </a:prstGeom>
          <a:noFill/>
          <a:ln/>
        </p:spPr>
        <p:txBody>
          <a:bodyPr wrap="square" lIns="0" tIns="0" rIns="0" bIns="0" rtlCol="0" anchor="t"/>
          <a:lstStyle/>
          <a:p>
            <a:pPr indent="0" marL="0">
              <a:buNone/>
            </a:pPr>
            <a:r>
              <a:rPr lang="en-US" sz="1350" dirty="0">
                <a:solidFill>
                  <a:srgbClr val="1B2333"/>
                </a:solidFill>
                <a:latin typeface="Arial" pitchFamily="34" charset="0"/>
                <a:ea typeface="Arial" pitchFamily="34" charset="-122"/>
                <a:cs typeface="Arial" pitchFamily="34" charset="-120"/>
              </a:rPr>
              <a:t>Verification built on standard reference vectors, e.g. CRC check value 0x31C3</a:t>
            </a:r>
            <a:endParaRPr lang="en-US" sz="1350" dirty="0"/>
          </a:p>
        </p:txBody>
      </p:sp>
      <p:sp>
        <p:nvSpPr>
          <p:cNvPr id="18" name="Shape 10"/>
          <p:cNvSpPr/>
          <p:nvPr/>
        </p:nvSpPr>
        <p:spPr>
          <a:xfrm>
            <a:off x="6245352" y="1554480"/>
            <a:ext cx="5394960" cy="3886200"/>
          </a:xfrm>
          <a:prstGeom prst="roundRect">
            <a:avLst>
              <a:gd name="adj" fmla="val 2824"/>
            </a:avLst>
          </a:prstGeom>
          <a:solidFill>
            <a:srgbClr val="FFEDED"/>
          </a:solidFill>
          <a:ln w="12700">
            <a:solidFill>
              <a:srgbClr val="FFEDED"/>
            </a:solidFill>
            <a:prstDash val="solid"/>
          </a:ln>
        </p:spPr>
      </p:sp>
      <p:sp>
        <p:nvSpPr>
          <p:cNvPr id="19" name="Shape 11"/>
          <p:cNvSpPr/>
          <p:nvPr/>
        </p:nvSpPr>
        <p:spPr>
          <a:xfrm>
            <a:off x="6519672" y="1737360"/>
            <a:ext cx="548640" cy="548640"/>
          </a:xfrm>
          <a:prstGeom prst="ellipse">
            <a:avLst/>
          </a:prstGeom>
          <a:solidFill>
            <a:srgbClr val="FF5757"/>
          </a:solidFill>
          <a:ln w="12700">
            <a:solidFill>
              <a:srgbClr val="FF5757"/>
            </a:solidFill>
            <a:prstDash val="solid"/>
          </a:ln>
        </p:spPr>
      </p:sp>
      <p:pic>
        <p:nvPicPr>
          <p:cNvPr id="20" name="Image 6" descr="preencoded.png">    </p:cNvPr>
          <p:cNvPicPr>
            <a:picLocks noChangeAspect="1"/>
          </p:cNvPicPr>
          <p:nvPr/>
        </p:nvPicPr>
        <p:blipFill>
          <a:blip r:embed="rId7"/>
          <a:stretch>
            <a:fillRect/>
          </a:stretch>
        </p:blipFill>
        <p:spPr>
          <a:xfrm>
            <a:off x="6662318" y="1880006"/>
            <a:ext cx="263347" cy="263347"/>
          </a:xfrm>
          <a:prstGeom prst="rect">
            <a:avLst/>
          </a:prstGeom>
        </p:spPr>
      </p:pic>
      <p:sp>
        <p:nvSpPr>
          <p:cNvPr id="21" name="Text 12"/>
          <p:cNvSpPr txBox="1"/>
          <p:nvPr/>
        </p:nvSpPr>
        <p:spPr>
          <a:xfrm>
            <a:off x="7251192" y="1737360"/>
            <a:ext cx="4114800" cy="548640"/>
          </a:xfrm>
          <a:prstGeom prst="rect">
            <a:avLst/>
          </a:prstGeom>
          <a:noFill/>
          <a:ln/>
        </p:spPr>
        <p:txBody>
          <a:bodyPr wrap="square" lIns="0" tIns="0" rIns="0" bIns="0" rtlCol="0" anchor="ctr"/>
          <a:lstStyle/>
          <a:p>
            <a:pPr indent="0" marL="0">
              <a:buNone/>
            </a:pPr>
            <a:r>
              <a:rPr lang="en-US" sz="2000" b="1" dirty="0">
                <a:solidFill>
                  <a:srgbClr val="FF5757"/>
                </a:solidFill>
                <a:latin typeface="Arial" pitchFamily="34" charset="0"/>
                <a:ea typeface="Arial" pitchFamily="34" charset="-122"/>
                <a:cs typeface="Arial" pitchFamily="34" charset="-120"/>
              </a:rPr>
              <a:t>Trade-offs and limits</a:t>
            </a:r>
            <a:endParaRPr lang="en-US" sz="2000" dirty="0"/>
          </a:p>
        </p:txBody>
      </p:sp>
      <p:pic>
        <p:nvPicPr>
          <p:cNvPr id="22" name="Image 7" descr="preencoded.png">    </p:cNvPr>
          <p:cNvPicPr>
            <a:picLocks noChangeAspect="1"/>
          </p:cNvPicPr>
          <p:nvPr/>
        </p:nvPicPr>
        <p:blipFill>
          <a:blip r:embed="rId8"/>
          <a:stretch>
            <a:fillRect/>
          </a:stretch>
        </p:blipFill>
        <p:spPr>
          <a:xfrm>
            <a:off x="6537960" y="2551176"/>
            <a:ext cx="256032" cy="256032"/>
          </a:xfrm>
          <a:prstGeom prst="rect">
            <a:avLst/>
          </a:prstGeom>
        </p:spPr>
      </p:pic>
      <p:sp>
        <p:nvSpPr>
          <p:cNvPr id="23" name="Text 13"/>
          <p:cNvSpPr txBox="1"/>
          <p:nvPr/>
        </p:nvSpPr>
        <p:spPr>
          <a:xfrm>
            <a:off x="6976872" y="2514600"/>
            <a:ext cx="4434840" cy="658368"/>
          </a:xfrm>
          <a:prstGeom prst="rect">
            <a:avLst/>
          </a:prstGeom>
          <a:noFill/>
          <a:ln/>
        </p:spPr>
        <p:txBody>
          <a:bodyPr wrap="square" lIns="0" tIns="0" rIns="0" bIns="0" rtlCol="0" anchor="t"/>
          <a:lstStyle/>
          <a:p>
            <a:pPr indent="0" marL="0">
              <a:buNone/>
            </a:pPr>
            <a:r>
              <a:rPr lang="en-US" sz="1350" dirty="0">
                <a:solidFill>
                  <a:srgbClr val="1B2333"/>
                </a:solidFill>
                <a:latin typeface="Arial" pitchFamily="34" charset="0"/>
                <a:ea typeface="Arial" pitchFamily="34" charset="-122"/>
                <a:cs typeface="Arial" pitchFamily="34" charset="-120"/>
              </a:rPr>
              <a:t>Encryption path only: AES decryption is not implemented yet</a:t>
            </a:r>
            <a:endParaRPr lang="en-US" sz="1350" dirty="0"/>
          </a:p>
        </p:txBody>
      </p:sp>
      <p:pic>
        <p:nvPicPr>
          <p:cNvPr id="24" name="Image 8" descr="preencoded.png">    </p:cNvPr>
          <p:cNvPicPr>
            <a:picLocks noChangeAspect="1"/>
          </p:cNvPicPr>
          <p:nvPr/>
        </p:nvPicPr>
        <p:blipFill>
          <a:blip r:embed="rId9"/>
          <a:stretch>
            <a:fillRect/>
          </a:stretch>
        </p:blipFill>
        <p:spPr>
          <a:xfrm>
            <a:off x="6537960" y="3264408"/>
            <a:ext cx="256032" cy="256032"/>
          </a:xfrm>
          <a:prstGeom prst="rect">
            <a:avLst/>
          </a:prstGeom>
        </p:spPr>
      </p:pic>
      <p:sp>
        <p:nvSpPr>
          <p:cNvPr id="25" name="Text 14"/>
          <p:cNvSpPr txBox="1"/>
          <p:nvPr/>
        </p:nvSpPr>
        <p:spPr>
          <a:xfrm>
            <a:off x="6976872" y="3227832"/>
            <a:ext cx="4434840" cy="658368"/>
          </a:xfrm>
          <a:prstGeom prst="rect">
            <a:avLst/>
          </a:prstGeom>
          <a:noFill/>
          <a:ln/>
        </p:spPr>
        <p:txBody>
          <a:bodyPr wrap="square" lIns="0" tIns="0" rIns="0" bIns="0" rtlCol="0" anchor="t"/>
          <a:lstStyle/>
          <a:p>
            <a:pPr indent="0" marL="0">
              <a:buNone/>
            </a:pPr>
            <a:r>
              <a:rPr lang="en-US" sz="1350" dirty="0">
                <a:solidFill>
                  <a:srgbClr val="1B2333"/>
                </a:solidFill>
                <a:latin typeface="Arial" pitchFamily="34" charset="0"/>
                <a:ea typeface="Arial" pitchFamily="34" charset="-122"/>
                <a:cs typeface="Arial" pitchFamily="34" charset="-120"/>
              </a:rPr>
              <a:t>No formal frame format yet (sync, length, sequence number)</a:t>
            </a:r>
            <a:endParaRPr lang="en-US" sz="1350" dirty="0"/>
          </a:p>
        </p:txBody>
      </p:sp>
      <p:pic>
        <p:nvPicPr>
          <p:cNvPr id="26" name="Image 9" descr="preencoded.png">    </p:cNvPr>
          <p:cNvPicPr>
            <a:picLocks noChangeAspect="1"/>
          </p:cNvPicPr>
          <p:nvPr/>
        </p:nvPicPr>
        <p:blipFill>
          <a:blip r:embed="rId10"/>
          <a:stretch>
            <a:fillRect/>
          </a:stretch>
        </p:blipFill>
        <p:spPr>
          <a:xfrm>
            <a:off x="6537960" y="3977640"/>
            <a:ext cx="256032" cy="256032"/>
          </a:xfrm>
          <a:prstGeom prst="rect">
            <a:avLst/>
          </a:prstGeom>
        </p:spPr>
      </p:pic>
      <p:sp>
        <p:nvSpPr>
          <p:cNvPr id="27" name="Text 15"/>
          <p:cNvSpPr txBox="1"/>
          <p:nvPr/>
        </p:nvSpPr>
        <p:spPr>
          <a:xfrm>
            <a:off x="6976872" y="3941064"/>
            <a:ext cx="4434840" cy="658368"/>
          </a:xfrm>
          <a:prstGeom prst="rect">
            <a:avLst/>
          </a:prstGeom>
          <a:noFill/>
          <a:ln/>
        </p:spPr>
        <p:txBody>
          <a:bodyPr wrap="square" lIns="0" tIns="0" rIns="0" bIns="0" rtlCol="0" anchor="t"/>
          <a:lstStyle/>
          <a:p>
            <a:pPr indent="0" marL="0">
              <a:buNone/>
            </a:pPr>
            <a:r>
              <a:rPr lang="en-US" sz="1350" dirty="0">
                <a:solidFill>
                  <a:srgbClr val="1B2333"/>
                </a:solidFill>
                <a:latin typeface="Arial" pitchFamily="34" charset="0"/>
                <a:ea typeface="Arial" pitchFamily="34" charset="-122"/>
                <a:cs typeface="Arial" pitchFamily="34" charset="-120"/>
              </a:rPr>
              <a:t>CRC detects accidental errors only. It is not authentication against an attacker</a:t>
            </a:r>
            <a:endParaRPr lang="en-US" sz="1350" dirty="0"/>
          </a:p>
        </p:txBody>
      </p:sp>
      <p:pic>
        <p:nvPicPr>
          <p:cNvPr id="28" name="Image 10" descr="preencoded.png">    </p:cNvPr>
          <p:cNvPicPr>
            <a:picLocks noChangeAspect="1"/>
          </p:cNvPicPr>
          <p:nvPr/>
        </p:nvPicPr>
        <p:blipFill>
          <a:blip r:embed="rId11"/>
          <a:stretch>
            <a:fillRect/>
          </a:stretch>
        </p:blipFill>
        <p:spPr>
          <a:xfrm>
            <a:off x="6537960" y="4690872"/>
            <a:ext cx="256032" cy="256032"/>
          </a:xfrm>
          <a:prstGeom prst="rect">
            <a:avLst/>
          </a:prstGeom>
        </p:spPr>
      </p:pic>
      <p:sp>
        <p:nvSpPr>
          <p:cNvPr id="29" name="Text 16"/>
          <p:cNvSpPr txBox="1"/>
          <p:nvPr/>
        </p:nvSpPr>
        <p:spPr>
          <a:xfrm>
            <a:off x="6976872" y="4654296"/>
            <a:ext cx="4434840" cy="658368"/>
          </a:xfrm>
          <a:prstGeom prst="rect">
            <a:avLst/>
          </a:prstGeom>
          <a:noFill/>
          <a:ln/>
        </p:spPr>
        <p:txBody>
          <a:bodyPr wrap="square" lIns="0" tIns="0" rIns="0" bIns="0" rtlCol="0" anchor="t"/>
          <a:lstStyle/>
          <a:p>
            <a:pPr indent="0" marL="0">
              <a:buNone/>
            </a:pPr>
            <a:r>
              <a:rPr lang="en-US" sz="1350" dirty="0">
                <a:solidFill>
                  <a:srgbClr val="1B2333"/>
                </a:solidFill>
                <a:latin typeface="Arial" pitchFamily="34" charset="0"/>
                <a:ea typeface="Arial" pitchFamily="34" charset="-122"/>
                <a:cs typeface="Arial" pitchFamily="34" charset="-120"/>
              </a:rPr>
              <a:t>Direct block encryption (no chaining mode); no post-synthesis timing, area or power numbers yet</a:t>
            </a:r>
            <a:endParaRPr lang="en-US" sz="1350" dirty="0"/>
          </a:p>
        </p:txBody>
      </p:sp>
      <p:sp>
        <p:nvSpPr>
          <p:cNvPr id="30" name="Shape 17"/>
          <p:cNvSpPr/>
          <p:nvPr/>
        </p:nvSpPr>
        <p:spPr>
          <a:xfrm>
            <a:off x="548640" y="5623560"/>
            <a:ext cx="11091672" cy="566928"/>
          </a:xfrm>
          <a:prstGeom prst="roundRect">
            <a:avLst>
              <a:gd name="adj" fmla="val 19355"/>
            </a:avLst>
          </a:prstGeom>
          <a:solidFill>
            <a:srgbClr val="0B1F44"/>
          </a:solidFill>
          <a:ln w="12700">
            <a:solidFill>
              <a:srgbClr val="0B1F44"/>
            </a:solidFill>
            <a:prstDash val="solid"/>
          </a:ln>
        </p:spPr>
      </p:sp>
      <p:sp>
        <p:nvSpPr>
          <p:cNvPr id="31" name="Text 18"/>
          <p:cNvSpPr txBox="1"/>
          <p:nvPr/>
        </p:nvSpPr>
        <p:spPr>
          <a:xfrm>
            <a:off x="822960" y="5623560"/>
            <a:ext cx="10607040" cy="566928"/>
          </a:xfrm>
          <a:prstGeom prst="rect">
            <a:avLst/>
          </a:prstGeom>
          <a:noFill/>
          <a:ln/>
        </p:spPr>
        <p:txBody>
          <a:bodyPr wrap="square" lIns="0" tIns="0" rIns="0" bIns="0" rtlCol="0" anchor="ctr"/>
          <a:lstStyle/>
          <a:p>
            <a:pPr indent="0" marL="0">
              <a:buNone/>
            </a:pPr>
            <a:r>
              <a:rPr lang="en-US" sz="1400" b="1" dirty="0">
                <a:solidFill>
                  <a:srgbClr val="FF5757"/>
                </a:solidFill>
                <a:latin typeface="Arial" pitchFamily="34" charset="0"/>
                <a:ea typeface="Arial" pitchFamily="34" charset="-122"/>
                <a:cs typeface="Arial" pitchFamily="34" charset="-120"/>
              </a:rPr>
              <a:t>Our contribution: </a:t>
            </a:r>
            <a:pPr indent="0" marL="0">
              <a:buNone/>
            </a:pPr>
            <a:r>
              <a:rPr lang="en-US" sz="1400" dirty="0">
                <a:solidFill>
                  <a:srgbClr val="FFFFFF"/>
                </a:solidFill>
                <a:latin typeface="Arial" pitchFamily="34" charset="0"/>
                <a:ea typeface="Arial" pitchFamily="34" charset="-122"/>
                <a:cs typeface="Arial" pitchFamily="34" charset="-120"/>
              </a:rPr>
              <a:t>coordinating UART, AES and CRC through an explicit handshake protocol, with a documented verification plan.</a:t>
            </a:r>
            <a:endParaRPr lang="en-US"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47472"/>
            <a:ext cx="7315200" cy="228600"/>
          </a:xfrm>
          <a:prstGeom prst="rect">
            <a:avLst/>
          </a:prstGeom>
          <a:noFill/>
          <a:ln/>
        </p:spPr>
        <p:txBody>
          <a:bodyPr wrap="square" lIns="0" tIns="0" rIns="0" bIns="0" rtlCol="0" anchor="t"/>
          <a:lstStyle/>
          <a:p>
            <a:pPr indent="0" marL="0">
              <a:buNone/>
            </a:pPr>
            <a:r>
              <a:rPr lang="en-US" sz="1200" b="1" spc="300" kern="0" dirty="0">
                <a:solidFill>
                  <a:srgbClr val="FF5757"/>
                </a:solidFill>
                <a:latin typeface="Arial" pitchFamily="34" charset="0"/>
                <a:ea typeface="Arial" pitchFamily="34" charset="-122"/>
                <a:cs typeface="Arial" pitchFamily="34" charset="-120"/>
              </a:rPr>
              <a:t>03  DEVELOPMENT JOURNEY</a:t>
            </a:r>
            <a:endParaRPr lang="en-US" sz="1200" dirty="0"/>
          </a:p>
        </p:txBody>
      </p:sp>
      <p:sp>
        <p:nvSpPr>
          <p:cNvPr id="3" name="Text 1"/>
          <p:cNvSpPr txBox="1"/>
          <p:nvPr/>
        </p:nvSpPr>
        <p:spPr>
          <a:xfrm>
            <a:off x="548640" y="603504"/>
            <a:ext cx="9966960" cy="685800"/>
          </a:xfrm>
          <a:prstGeom prst="rect">
            <a:avLst/>
          </a:prstGeom>
          <a:noFill/>
          <a:ln/>
        </p:spPr>
        <p:txBody>
          <a:bodyPr wrap="square" lIns="0" tIns="0" rIns="0" bIns="0" rtlCol="0" anchor="ctr"/>
          <a:lstStyle/>
          <a:p>
            <a:pPr indent="0" marL="0">
              <a:buNone/>
            </a:pPr>
            <a:r>
              <a:rPr lang="en-US" sz="3200" b="1" dirty="0">
                <a:solidFill>
                  <a:srgbClr val="0B1F44"/>
                </a:solidFill>
                <a:latin typeface="Arial" pitchFamily="34" charset="0"/>
                <a:ea typeface="Arial" pitchFamily="34" charset="-122"/>
                <a:cs typeface="Arial" pitchFamily="34" charset="-120"/>
              </a:rPr>
              <a:t>Our development journey</a:t>
            </a:r>
            <a:endParaRPr lang="en-US" sz="3200" dirty="0"/>
          </a:p>
        </p:txBody>
      </p:sp>
      <p:pic>
        <p:nvPicPr>
          <p:cNvPr id="4" name="Image 0" descr="/home/claude/assets/logo.png">    </p:cNvPr>
          <p:cNvPicPr>
            <a:picLocks noChangeAspect="1"/>
          </p:cNvPicPr>
          <p:nvPr/>
        </p:nvPicPr>
        <p:blipFill>
          <a:blip r:embed="rId1"/>
          <a:stretch>
            <a:fillRect/>
          </a:stretch>
        </p:blipFill>
        <p:spPr>
          <a:xfrm>
            <a:off x="10744200" y="365760"/>
            <a:ext cx="896112" cy="434340"/>
          </a:xfrm>
          <a:prstGeom prst="rect">
            <a:avLst/>
          </a:prstGeom>
        </p:spPr>
      </p:pic>
      <p:sp>
        <p:nvSpPr>
          <p:cNvPr id="5" name="Text 2"/>
          <p:cNvSpPr txBox="1"/>
          <p:nvPr/>
        </p:nvSpPr>
        <p:spPr>
          <a:xfrm>
            <a:off x="548640" y="6428232"/>
            <a:ext cx="6400800" cy="228600"/>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Secure UART Communication System  ·  NTI Digital Design Project</a:t>
            </a:r>
            <a:endParaRPr lang="en-US" sz="1000" dirty="0"/>
          </a:p>
        </p:txBody>
      </p:sp>
      <p:sp>
        <p:nvSpPr>
          <p:cNvPr id="6" name="Text 3"/>
          <p:cNvSpPr txBox="1"/>
          <p:nvPr/>
        </p:nvSpPr>
        <p:spPr>
          <a:xfrm>
            <a:off x="548640" y="1371600"/>
            <a:ext cx="8229600" cy="365760"/>
          </a:xfrm>
          <a:prstGeom prst="rect">
            <a:avLst/>
          </a:prstGeom>
          <a:noFill/>
          <a:ln/>
        </p:spPr>
        <p:txBody>
          <a:bodyPr wrap="square" lIns="0" tIns="0" rIns="0" bIns="0" rtlCol="0" anchor="t"/>
          <a:lstStyle/>
          <a:p>
            <a:pPr indent="0" marL="0">
              <a:buNone/>
            </a:pPr>
            <a:r>
              <a:rPr lang="en-US" sz="1600" dirty="0">
                <a:solidFill>
                  <a:srgbClr val="5B6472"/>
                </a:solidFill>
                <a:latin typeface="Arial" pitchFamily="34" charset="0"/>
                <a:ea typeface="Arial" pitchFamily="34" charset="-122"/>
                <a:cs typeface="Arial" pitchFamily="34" charset="-120"/>
              </a:rPr>
              <a:t>Design each block, verify it on its own, then integrate</a:t>
            </a:r>
            <a:endParaRPr lang="en-US" sz="1600" dirty="0"/>
          </a:p>
        </p:txBody>
      </p:sp>
      <p:sp>
        <p:nvSpPr>
          <p:cNvPr id="7" name="Shape 4"/>
          <p:cNvSpPr/>
          <p:nvPr/>
        </p:nvSpPr>
        <p:spPr>
          <a:xfrm>
            <a:off x="548640" y="2011680"/>
            <a:ext cx="1655064" cy="2514600"/>
          </a:xfrm>
          <a:prstGeom prst="roundRect">
            <a:avLst>
              <a:gd name="adj" fmla="val 6630"/>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8" name="Shape 5"/>
          <p:cNvSpPr/>
          <p:nvPr/>
        </p:nvSpPr>
        <p:spPr>
          <a:xfrm>
            <a:off x="1056132" y="2240280"/>
            <a:ext cx="640080" cy="640080"/>
          </a:xfrm>
          <a:prstGeom prst="ellipse">
            <a:avLst/>
          </a:prstGeom>
          <a:solidFill>
            <a:srgbClr val="004AAD"/>
          </a:solidFill>
          <a:ln w="12700">
            <a:solidFill>
              <a:srgbClr val="004AAD"/>
            </a:solidFill>
            <a:prstDash val="solid"/>
          </a:ln>
        </p:spPr>
      </p:sp>
      <p:pic>
        <p:nvPicPr>
          <p:cNvPr id="9" name="Image 1" descr="preencoded.png">    </p:cNvPr>
          <p:cNvPicPr>
            <a:picLocks noChangeAspect="1"/>
          </p:cNvPicPr>
          <p:nvPr/>
        </p:nvPicPr>
        <p:blipFill>
          <a:blip r:embed="rId2"/>
          <a:stretch>
            <a:fillRect/>
          </a:stretch>
        </p:blipFill>
        <p:spPr>
          <a:xfrm>
            <a:off x="1222553" y="2406701"/>
            <a:ext cx="307238" cy="307238"/>
          </a:xfrm>
          <a:prstGeom prst="rect">
            <a:avLst/>
          </a:prstGeom>
        </p:spPr>
      </p:pic>
      <p:sp>
        <p:nvSpPr>
          <p:cNvPr id="10" name="Text 6"/>
          <p:cNvSpPr txBox="1"/>
          <p:nvPr/>
        </p:nvSpPr>
        <p:spPr>
          <a:xfrm>
            <a:off x="640080" y="2103120"/>
            <a:ext cx="274320" cy="274320"/>
          </a:xfrm>
          <a:prstGeom prst="rect">
            <a:avLst/>
          </a:prstGeom>
          <a:noFill/>
          <a:ln/>
        </p:spPr>
        <p:txBody>
          <a:bodyPr wrap="square" lIns="0" tIns="0" rIns="0" bIns="0" rtlCol="0" anchor="t"/>
          <a:lstStyle/>
          <a:p>
            <a:pPr indent="0" marL="0">
              <a:buNone/>
            </a:pPr>
            <a:r>
              <a:rPr lang="en-US" sz="1200" b="1" dirty="0">
                <a:solidFill>
                  <a:srgbClr val="5B6472"/>
                </a:solidFill>
                <a:latin typeface="Arial" pitchFamily="34" charset="0"/>
                <a:ea typeface="Arial" pitchFamily="34" charset="-122"/>
                <a:cs typeface="Arial" pitchFamily="34" charset="-120"/>
              </a:rPr>
              <a:t>1</a:t>
            </a:r>
            <a:endParaRPr lang="en-US" sz="1200" dirty="0"/>
          </a:p>
        </p:txBody>
      </p:sp>
      <p:sp>
        <p:nvSpPr>
          <p:cNvPr id="11" name="Text 7"/>
          <p:cNvSpPr txBox="1"/>
          <p:nvPr/>
        </p:nvSpPr>
        <p:spPr>
          <a:xfrm>
            <a:off x="640080" y="3017520"/>
            <a:ext cx="1472184" cy="365760"/>
          </a:xfrm>
          <a:prstGeom prst="rect">
            <a:avLst/>
          </a:prstGeom>
          <a:noFill/>
          <a:ln/>
        </p:spPr>
        <p:txBody>
          <a:bodyPr wrap="square" lIns="0" tIns="0" rIns="0" bIns="0" rtlCol="0" anchor="t"/>
          <a:lstStyle/>
          <a:p>
            <a:pPr algn="ctr" indent="0" marL="0">
              <a:buNone/>
            </a:pPr>
            <a:r>
              <a:rPr lang="en-US" sz="1500" b="1" dirty="0">
                <a:solidFill>
                  <a:srgbClr val="0B1F44"/>
                </a:solidFill>
                <a:latin typeface="Arial" pitchFamily="34" charset="0"/>
                <a:ea typeface="Arial" pitchFamily="34" charset="-122"/>
                <a:cs typeface="Arial" pitchFamily="34" charset="-120"/>
              </a:rPr>
              <a:t>Requirements</a:t>
            </a:r>
            <a:endParaRPr lang="en-US" sz="1500" dirty="0"/>
          </a:p>
        </p:txBody>
      </p:sp>
      <p:sp>
        <p:nvSpPr>
          <p:cNvPr id="12" name="Text 8"/>
          <p:cNvSpPr txBox="1"/>
          <p:nvPr/>
        </p:nvSpPr>
        <p:spPr>
          <a:xfrm>
            <a:off x="658368" y="3429000"/>
            <a:ext cx="1435608" cy="1005840"/>
          </a:xfrm>
          <a:prstGeom prst="rect">
            <a:avLst/>
          </a:prstGeom>
          <a:noFill/>
          <a:ln/>
        </p:spPr>
        <p:txBody>
          <a:bodyPr wrap="square" lIns="0" tIns="0" rIns="0" bIns="0" rtlCol="0" anchor="t"/>
          <a:lstStyle/>
          <a:p>
            <a:pPr algn="ctr" indent="0" marL="0">
              <a:buNone/>
            </a:pPr>
            <a:r>
              <a:rPr lang="en-US" sz="1200" dirty="0">
                <a:solidFill>
                  <a:srgbClr val="5B6472"/>
                </a:solidFill>
                <a:latin typeface="Arial" pitchFamily="34" charset="0"/>
                <a:ea typeface="Arial" pitchFamily="34" charset="-122"/>
                <a:cs typeface="Arial" pitchFamily="34" charset="-120"/>
              </a:rPr>
              <a:t>Objectives, functional needs, configurable parameters</a:t>
            </a:r>
            <a:endParaRPr lang="en-US" sz="1200" dirty="0"/>
          </a:p>
        </p:txBody>
      </p:sp>
      <p:sp>
        <p:nvSpPr>
          <p:cNvPr id="13" name="Shape 9"/>
          <p:cNvSpPr/>
          <p:nvPr/>
        </p:nvSpPr>
        <p:spPr>
          <a:xfrm>
            <a:off x="2221992" y="3268980"/>
            <a:ext cx="195682" cy="0"/>
          </a:xfrm>
          <a:prstGeom prst="line">
            <a:avLst/>
          </a:prstGeom>
          <a:noFill/>
          <a:ln w="22225">
            <a:solidFill>
              <a:srgbClr val="FF5757"/>
            </a:solidFill>
            <a:prstDash val="solid"/>
            <a:tailEnd type="triangle"/>
          </a:ln>
        </p:spPr>
      </p:sp>
      <p:sp>
        <p:nvSpPr>
          <p:cNvPr id="14" name="Shape 10"/>
          <p:cNvSpPr/>
          <p:nvPr/>
        </p:nvSpPr>
        <p:spPr>
          <a:xfrm>
            <a:off x="2435962" y="2011680"/>
            <a:ext cx="1655064" cy="2514600"/>
          </a:xfrm>
          <a:prstGeom prst="roundRect">
            <a:avLst>
              <a:gd name="adj" fmla="val 6630"/>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15" name="Shape 11"/>
          <p:cNvSpPr/>
          <p:nvPr/>
        </p:nvSpPr>
        <p:spPr>
          <a:xfrm>
            <a:off x="2943454" y="2240280"/>
            <a:ext cx="640080" cy="640080"/>
          </a:xfrm>
          <a:prstGeom prst="ellipse">
            <a:avLst/>
          </a:prstGeom>
          <a:solidFill>
            <a:srgbClr val="004AAD"/>
          </a:solidFill>
          <a:ln w="12700">
            <a:solidFill>
              <a:srgbClr val="004AAD"/>
            </a:solidFill>
            <a:prstDash val="solid"/>
          </a:ln>
        </p:spPr>
      </p:sp>
      <p:pic>
        <p:nvPicPr>
          <p:cNvPr id="16" name="Image 2" descr="preencoded.png">    </p:cNvPr>
          <p:cNvPicPr>
            <a:picLocks noChangeAspect="1"/>
          </p:cNvPicPr>
          <p:nvPr/>
        </p:nvPicPr>
        <p:blipFill>
          <a:blip r:embed="rId3"/>
          <a:stretch>
            <a:fillRect/>
          </a:stretch>
        </p:blipFill>
        <p:spPr>
          <a:xfrm>
            <a:off x="3109874" y="2406701"/>
            <a:ext cx="307238" cy="307238"/>
          </a:xfrm>
          <a:prstGeom prst="rect">
            <a:avLst/>
          </a:prstGeom>
        </p:spPr>
      </p:pic>
      <p:sp>
        <p:nvSpPr>
          <p:cNvPr id="17" name="Text 12"/>
          <p:cNvSpPr txBox="1"/>
          <p:nvPr/>
        </p:nvSpPr>
        <p:spPr>
          <a:xfrm>
            <a:off x="2527402" y="2103120"/>
            <a:ext cx="274320" cy="274320"/>
          </a:xfrm>
          <a:prstGeom prst="rect">
            <a:avLst/>
          </a:prstGeom>
          <a:noFill/>
          <a:ln/>
        </p:spPr>
        <p:txBody>
          <a:bodyPr wrap="square" lIns="0" tIns="0" rIns="0" bIns="0" rtlCol="0" anchor="t"/>
          <a:lstStyle/>
          <a:p>
            <a:pPr indent="0" marL="0">
              <a:buNone/>
            </a:pPr>
            <a:r>
              <a:rPr lang="en-US" sz="1200" b="1" dirty="0">
                <a:solidFill>
                  <a:srgbClr val="5B6472"/>
                </a:solidFill>
                <a:latin typeface="Arial" pitchFamily="34" charset="0"/>
                <a:ea typeface="Arial" pitchFamily="34" charset="-122"/>
                <a:cs typeface="Arial" pitchFamily="34" charset="-120"/>
              </a:rPr>
              <a:t>2</a:t>
            </a:r>
            <a:endParaRPr lang="en-US" sz="1200" dirty="0"/>
          </a:p>
        </p:txBody>
      </p:sp>
      <p:sp>
        <p:nvSpPr>
          <p:cNvPr id="18" name="Text 13"/>
          <p:cNvSpPr txBox="1"/>
          <p:nvPr/>
        </p:nvSpPr>
        <p:spPr>
          <a:xfrm>
            <a:off x="2527402" y="3017520"/>
            <a:ext cx="1472184" cy="365760"/>
          </a:xfrm>
          <a:prstGeom prst="rect">
            <a:avLst/>
          </a:prstGeom>
          <a:noFill/>
          <a:ln/>
        </p:spPr>
        <p:txBody>
          <a:bodyPr wrap="square" lIns="0" tIns="0" rIns="0" bIns="0" rtlCol="0" anchor="t"/>
          <a:lstStyle/>
          <a:p>
            <a:pPr algn="ctr" indent="0" marL="0">
              <a:buNone/>
            </a:pPr>
            <a:r>
              <a:rPr lang="en-US" sz="1500" b="1" dirty="0">
                <a:solidFill>
                  <a:srgbClr val="0B1F44"/>
                </a:solidFill>
                <a:latin typeface="Arial" pitchFamily="34" charset="0"/>
                <a:ea typeface="Arial" pitchFamily="34" charset="-122"/>
                <a:cs typeface="Arial" pitchFamily="34" charset="-120"/>
              </a:rPr>
              <a:t>Architecture</a:t>
            </a:r>
            <a:endParaRPr lang="en-US" sz="1500" dirty="0"/>
          </a:p>
        </p:txBody>
      </p:sp>
      <p:sp>
        <p:nvSpPr>
          <p:cNvPr id="19" name="Text 14"/>
          <p:cNvSpPr txBox="1"/>
          <p:nvPr/>
        </p:nvSpPr>
        <p:spPr>
          <a:xfrm>
            <a:off x="2545690" y="3429000"/>
            <a:ext cx="1435608" cy="1005840"/>
          </a:xfrm>
          <a:prstGeom prst="rect">
            <a:avLst/>
          </a:prstGeom>
          <a:noFill/>
          <a:ln/>
        </p:spPr>
        <p:txBody>
          <a:bodyPr wrap="square" lIns="0" tIns="0" rIns="0" bIns="0" rtlCol="0" anchor="t"/>
          <a:lstStyle/>
          <a:p>
            <a:pPr algn="ctr" indent="0" marL="0">
              <a:buNone/>
            </a:pPr>
            <a:r>
              <a:rPr lang="en-US" sz="1200" dirty="0">
                <a:solidFill>
                  <a:srgbClr val="5B6472"/>
                </a:solidFill>
                <a:latin typeface="Arial" pitchFamily="34" charset="0"/>
                <a:ea typeface="Arial" pitchFamily="34" charset="-122"/>
                <a:cs typeface="Arial" pitchFamily="34" charset="-120"/>
              </a:rPr>
              <a:t>Transmit path, block roles, 18-byte frame</a:t>
            </a:r>
            <a:endParaRPr lang="en-US" sz="1200" dirty="0"/>
          </a:p>
        </p:txBody>
      </p:sp>
      <p:sp>
        <p:nvSpPr>
          <p:cNvPr id="20" name="Shape 15"/>
          <p:cNvSpPr/>
          <p:nvPr/>
        </p:nvSpPr>
        <p:spPr>
          <a:xfrm>
            <a:off x="4109314" y="3268980"/>
            <a:ext cx="195682" cy="0"/>
          </a:xfrm>
          <a:prstGeom prst="line">
            <a:avLst/>
          </a:prstGeom>
          <a:noFill/>
          <a:ln w="22225">
            <a:solidFill>
              <a:srgbClr val="FF5757"/>
            </a:solidFill>
            <a:prstDash val="solid"/>
            <a:tailEnd type="triangle"/>
          </a:ln>
        </p:spPr>
      </p:sp>
      <p:sp>
        <p:nvSpPr>
          <p:cNvPr id="21" name="Shape 16"/>
          <p:cNvSpPr/>
          <p:nvPr/>
        </p:nvSpPr>
        <p:spPr>
          <a:xfrm>
            <a:off x="4323283" y="2011680"/>
            <a:ext cx="1655064" cy="2514600"/>
          </a:xfrm>
          <a:prstGeom prst="roundRect">
            <a:avLst>
              <a:gd name="adj" fmla="val 6630"/>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22" name="Shape 17"/>
          <p:cNvSpPr/>
          <p:nvPr/>
        </p:nvSpPr>
        <p:spPr>
          <a:xfrm>
            <a:off x="4830775" y="2240280"/>
            <a:ext cx="640080" cy="640080"/>
          </a:xfrm>
          <a:prstGeom prst="ellipse">
            <a:avLst/>
          </a:prstGeom>
          <a:solidFill>
            <a:srgbClr val="004AAD"/>
          </a:solidFill>
          <a:ln w="12700">
            <a:solidFill>
              <a:srgbClr val="004AAD"/>
            </a:solidFill>
            <a:prstDash val="solid"/>
          </a:ln>
        </p:spPr>
      </p:sp>
      <p:pic>
        <p:nvPicPr>
          <p:cNvPr id="23" name="Image 3" descr="preencoded.png">    </p:cNvPr>
          <p:cNvPicPr>
            <a:picLocks noChangeAspect="1"/>
          </p:cNvPicPr>
          <p:nvPr/>
        </p:nvPicPr>
        <p:blipFill>
          <a:blip r:embed="rId4"/>
          <a:stretch>
            <a:fillRect/>
          </a:stretch>
        </p:blipFill>
        <p:spPr>
          <a:xfrm>
            <a:off x="4997196" y="2406701"/>
            <a:ext cx="307238" cy="307238"/>
          </a:xfrm>
          <a:prstGeom prst="rect">
            <a:avLst/>
          </a:prstGeom>
        </p:spPr>
      </p:pic>
      <p:sp>
        <p:nvSpPr>
          <p:cNvPr id="24" name="Text 18"/>
          <p:cNvSpPr txBox="1"/>
          <p:nvPr/>
        </p:nvSpPr>
        <p:spPr>
          <a:xfrm>
            <a:off x="4414723" y="2103120"/>
            <a:ext cx="274320" cy="274320"/>
          </a:xfrm>
          <a:prstGeom prst="rect">
            <a:avLst/>
          </a:prstGeom>
          <a:noFill/>
          <a:ln/>
        </p:spPr>
        <p:txBody>
          <a:bodyPr wrap="square" lIns="0" tIns="0" rIns="0" bIns="0" rtlCol="0" anchor="t"/>
          <a:lstStyle/>
          <a:p>
            <a:pPr indent="0" marL="0">
              <a:buNone/>
            </a:pPr>
            <a:r>
              <a:rPr lang="en-US" sz="1200" b="1" dirty="0">
                <a:solidFill>
                  <a:srgbClr val="5B6472"/>
                </a:solidFill>
                <a:latin typeface="Arial" pitchFamily="34" charset="0"/>
                <a:ea typeface="Arial" pitchFamily="34" charset="-122"/>
                <a:cs typeface="Arial" pitchFamily="34" charset="-120"/>
              </a:rPr>
              <a:t>3</a:t>
            </a:r>
            <a:endParaRPr lang="en-US" sz="1200" dirty="0"/>
          </a:p>
        </p:txBody>
      </p:sp>
      <p:sp>
        <p:nvSpPr>
          <p:cNvPr id="25" name="Text 19"/>
          <p:cNvSpPr txBox="1"/>
          <p:nvPr/>
        </p:nvSpPr>
        <p:spPr>
          <a:xfrm>
            <a:off x="4414723" y="3017520"/>
            <a:ext cx="1472184" cy="365760"/>
          </a:xfrm>
          <a:prstGeom prst="rect">
            <a:avLst/>
          </a:prstGeom>
          <a:noFill/>
          <a:ln/>
        </p:spPr>
        <p:txBody>
          <a:bodyPr wrap="square" lIns="0" tIns="0" rIns="0" bIns="0" rtlCol="0" anchor="t"/>
          <a:lstStyle/>
          <a:p>
            <a:pPr algn="ctr" indent="0" marL="0">
              <a:buNone/>
            </a:pPr>
            <a:r>
              <a:rPr lang="en-US" sz="1500" b="1" dirty="0">
                <a:solidFill>
                  <a:srgbClr val="0B1F44"/>
                </a:solidFill>
                <a:latin typeface="Arial" pitchFamily="34" charset="0"/>
                <a:ea typeface="Arial" pitchFamily="34" charset="-122"/>
                <a:cs typeface="Arial" pitchFamily="34" charset="-120"/>
              </a:rPr>
              <a:t>UART</a:t>
            </a:r>
            <a:endParaRPr lang="en-US" sz="1500" dirty="0"/>
          </a:p>
        </p:txBody>
      </p:sp>
      <p:sp>
        <p:nvSpPr>
          <p:cNvPr id="26" name="Text 20"/>
          <p:cNvSpPr txBox="1"/>
          <p:nvPr/>
        </p:nvSpPr>
        <p:spPr>
          <a:xfrm>
            <a:off x="4433011" y="3429000"/>
            <a:ext cx="1435608" cy="1005840"/>
          </a:xfrm>
          <a:prstGeom prst="rect">
            <a:avLst/>
          </a:prstGeom>
          <a:noFill/>
          <a:ln/>
        </p:spPr>
        <p:txBody>
          <a:bodyPr wrap="square" lIns="0" tIns="0" rIns="0" bIns="0" rtlCol="0" anchor="t"/>
          <a:lstStyle/>
          <a:p>
            <a:pPr algn="ctr" indent="0" marL="0">
              <a:buNone/>
            </a:pPr>
            <a:r>
              <a:rPr lang="en-US" sz="1200" dirty="0">
                <a:solidFill>
                  <a:srgbClr val="5B6472"/>
                </a:solidFill>
                <a:latin typeface="Arial" pitchFamily="34" charset="0"/>
                <a:ea typeface="Arial" pitchFamily="34" charset="-122"/>
                <a:cs typeface="Arial" pitchFamily="34" charset="-120"/>
              </a:rPr>
              <a:t>TX / RX FSMs, 8-N-1 at 9600 baud</a:t>
            </a:r>
            <a:endParaRPr lang="en-US" sz="1200" dirty="0"/>
          </a:p>
        </p:txBody>
      </p:sp>
      <p:sp>
        <p:nvSpPr>
          <p:cNvPr id="27" name="Shape 21"/>
          <p:cNvSpPr/>
          <p:nvPr/>
        </p:nvSpPr>
        <p:spPr>
          <a:xfrm>
            <a:off x="5996635" y="3268980"/>
            <a:ext cx="195682" cy="0"/>
          </a:xfrm>
          <a:prstGeom prst="line">
            <a:avLst/>
          </a:prstGeom>
          <a:noFill/>
          <a:ln w="22225">
            <a:solidFill>
              <a:srgbClr val="FF5757"/>
            </a:solidFill>
            <a:prstDash val="solid"/>
            <a:tailEnd type="triangle"/>
          </a:ln>
        </p:spPr>
      </p:sp>
      <p:sp>
        <p:nvSpPr>
          <p:cNvPr id="28" name="Shape 22"/>
          <p:cNvSpPr/>
          <p:nvPr/>
        </p:nvSpPr>
        <p:spPr>
          <a:xfrm>
            <a:off x="6210605" y="2011680"/>
            <a:ext cx="1655064" cy="2514600"/>
          </a:xfrm>
          <a:prstGeom prst="roundRect">
            <a:avLst>
              <a:gd name="adj" fmla="val 6630"/>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29" name="Shape 23"/>
          <p:cNvSpPr/>
          <p:nvPr/>
        </p:nvSpPr>
        <p:spPr>
          <a:xfrm>
            <a:off x="6718097" y="2240280"/>
            <a:ext cx="640080" cy="640080"/>
          </a:xfrm>
          <a:prstGeom prst="ellipse">
            <a:avLst/>
          </a:prstGeom>
          <a:solidFill>
            <a:srgbClr val="004AAD"/>
          </a:solidFill>
          <a:ln w="12700">
            <a:solidFill>
              <a:srgbClr val="004AAD"/>
            </a:solidFill>
            <a:prstDash val="solid"/>
          </a:ln>
        </p:spPr>
      </p:sp>
      <p:pic>
        <p:nvPicPr>
          <p:cNvPr id="30" name="Image 4" descr="preencoded.png">    </p:cNvPr>
          <p:cNvPicPr>
            <a:picLocks noChangeAspect="1"/>
          </p:cNvPicPr>
          <p:nvPr/>
        </p:nvPicPr>
        <p:blipFill>
          <a:blip r:embed="rId5"/>
          <a:stretch>
            <a:fillRect/>
          </a:stretch>
        </p:blipFill>
        <p:spPr>
          <a:xfrm>
            <a:off x="6884518" y="2406701"/>
            <a:ext cx="307238" cy="307238"/>
          </a:xfrm>
          <a:prstGeom prst="rect">
            <a:avLst/>
          </a:prstGeom>
        </p:spPr>
      </p:pic>
      <p:sp>
        <p:nvSpPr>
          <p:cNvPr id="31" name="Text 24"/>
          <p:cNvSpPr txBox="1"/>
          <p:nvPr/>
        </p:nvSpPr>
        <p:spPr>
          <a:xfrm>
            <a:off x="6302045" y="2103120"/>
            <a:ext cx="274320" cy="274320"/>
          </a:xfrm>
          <a:prstGeom prst="rect">
            <a:avLst/>
          </a:prstGeom>
          <a:noFill/>
          <a:ln/>
        </p:spPr>
        <p:txBody>
          <a:bodyPr wrap="square" lIns="0" tIns="0" rIns="0" bIns="0" rtlCol="0" anchor="t"/>
          <a:lstStyle/>
          <a:p>
            <a:pPr indent="0" marL="0">
              <a:buNone/>
            </a:pPr>
            <a:r>
              <a:rPr lang="en-US" sz="1200" b="1" dirty="0">
                <a:solidFill>
                  <a:srgbClr val="5B6472"/>
                </a:solidFill>
                <a:latin typeface="Arial" pitchFamily="34" charset="0"/>
                <a:ea typeface="Arial" pitchFamily="34" charset="-122"/>
                <a:cs typeface="Arial" pitchFamily="34" charset="-120"/>
              </a:rPr>
              <a:t>4</a:t>
            </a:r>
            <a:endParaRPr lang="en-US" sz="1200" dirty="0"/>
          </a:p>
        </p:txBody>
      </p:sp>
      <p:sp>
        <p:nvSpPr>
          <p:cNvPr id="32" name="Text 25"/>
          <p:cNvSpPr txBox="1"/>
          <p:nvPr/>
        </p:nvSpPr>
        <p:spPr>
          <a:xfrm>
            <a:off x="6302045" y="3017520"/>
            <a:ext cx="1472184" cy="365760"/>
          </a:xfrm>
          <a:prstGeom prst="rect">
            <a:avLst/>
          </a:prstGeom>
          <a:noFill/>
          <a:ln/>
        </p:spPr>
        <p:txBody>
          <a:bodyPr wrap="square" lIns="0" tIns="0" rIns="0" bIns="0" rtlCol="0" anchor="t"/>
          <a:lstStyle/>
          <a:p>
            <a:pPr algn="ctr" indent="0" marL="0">
              <a:buNone/>
            </a:pPr>
            <a:r>
              <a:rPr lang="en-US" sz="1500" b="1" dirty="0">
                <a:solidFill>
                  <a:srgbClr val="0B1F44"/>
                </a:solidFill>
                <a:latin typeface="Arial" pitchFamily="34" charset="0"/>
                <a:ea typeface="Arial" pitchFamily="34" charset="-122"/>
                <a:cs typeface="Arial" pitchFamily="34" charset="-120"/>
              </a:rPr>
              <a:t>AES-128</a:t>
            </a:r>
            <a:endParaRPr lang="en-US" sz="1500" dirty="0"/>
          </a:p>
        </p:txBody>
      </p:sp>
      <p:sp>
        <p:nvSpPr>
          <p:cNvPr id="33" name="Text 26"/>
          <p:cNvSpPr txBox="1"/>
          <p:nvPr/>
        </p:nvSpPr>
        <p:spPr>
          <a:xfrm>
            <a:off x="6320333" y="3429000"/>
            <a:ext cx="1435608" cy="1005840"/>
          </a:xfrm>
          <a:prstGeom prst="rect">
            <a:avLst/>
          </a:prstGeom>
          <a:noFill/>
          <a:ln/>
        </p:spPr>
        <p:txBody>
          <a:bodyPr wrap="square" lIns="0" tIns="0" rIns="0" bIns="0" rtlCol="0" anchor="t"/>
          <a:lstStyle/>
          <a:p>
            <a:pPr algn="ctr" indent="0" marL="0">
              <a:buNone/>
            </a:pPr>
            <a:r>
              <a:rPr lang="en-US" sz="1200" dirty="0">
                <a:solidFill>
                  <a:srgbClr val="5B6472"/>
                </a:solidFill>
                <a:latin typeface="Arial" pitchFamily="34" charset="0"/>
                <a:ea typeface="Arial" pitchFamily="34" charset="-122"/>
                <a:cs typeface="Arial" pitchFamily="34" charset="-120"/>
              </a:rPr>
              <a:t>Iterative FSM core, key expansion</a:t>
            </a:r>
            <a:endParaRPr lang="en-US" sz="1200" dirty="0"/>
          </a:p>
        </p:txBody>
      </p:sp>
      <p:sp>
        <p:nvSpPr>
          <p:cNvPr id="34" name="Shape 27"/>
          <p:cNvSpPr/>
          <p:nvPr/>
        </p:nvSpPr>
        <p:spPr>
          <a:xfrm>
            <a:off x="7883957" y="3268980"/>
            <a:ext cx="195682" cy="0"/>
          </a:xfrm>
          <a:prstGeom prst="line">
            <a:avLst/>
          </a:prstGeom>
          <a:noFill/>
          <a:ln w="22225">
            <a:solidFill>
              <a:srgbClr val="FF5757"/>
            </a:solidFill>
            <a:prstDash val="solid"/>
            <a:tailEnd type="triangle"/>
          </a:ln>
        </p:spPr>
      </p:sp>
      <p:sp>
        <p:nvSpPr>
          <p:cNvPr id="35" name="Shape 28"/>
          <p:cNvSpPr/>
          <p:nvPr/>
        </p:nvSpPr>
        <p:spPr>
          <a:xfrm>
            <a:off x="8097926" y="2011680"/>
            <a:ext cx="1655064" cy="2514600"/>
          </a:xfrm>
          <a:prstGeom prst="roundRect">
            <a:avLst>
              <a:gd name="adj" fmla="val 6630"/>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36" name="Shape 29"/>
          <p:cNvSpPr/>
          <p:nvPr/>
        </p:nvSpPr>
        <p:spPr>
          <a:xfrm>
            <a:off x="8605418" y="2240280"/>
            <a:ext cx="640080" cy="640080"/>
          </a:xfrm>
          <a:prstGeom prst="ellipse">
            <a:avLst/>
          </a:prstGeom>
          <a:solidFill>
            <a:srgbClr val="004AAD"/>
          </a:solidFill>
          <a:ln w="12700">
            <a:solidFill>
              <a:srgbClr val="004AAD"/>
            </a:solidFill>
            <a:prstDash val="solid"/>
          </a:ln>
        </p:spPr>
      </p:sp>
      <p:pic>
        <p:nvPicPr>
          <p:cNvPr id="37" name="Image 5" descr="preencoded.png">    </p:cNvPr>
          <p:cNvPicPr>
            <a:picLocks noChangeAspect="1"/>
          </p:cNvPicPr>
          <p:nvPr/>
        </p:nvPicPr>
        <p:blipFill>
          <a:blip r:embed="rId6"/>
          <a:stretch>
            <a:fillRect/>
          </a:stretch>
        </p:blipFill>
        <p:spPr>
          <a:xfrm>
            <a:off x="8771839" y="2406701"/>
            <a:ext cx="307238" cy="307238"/>
          </a:xfrm>
          <a:prstGeom prst="rect">
            <a:avLst/>
          </a:prstGeom>
        </p:spPr>
      </p:pic>
      <p:sp>
        <p:nvSpPr>
          <p:cNvPr id="38" name="Text 30"/>
          <p:cNvSpPr txBox="1"/>
          <p:nvPr/>
        </p:nvSpPr>
        <p:spPr>
          <a:xfrm>
            <a:off x="8189366" y="2103120"/>
            <a:ext cx="274320" cy="274320"/>
          </a:xfrm>
          <a:prstGeom prst="rect">
            <a:avLst/>
          </a:prstGeom>
          <a:noFill/>
          <a:ln/>
        </p:spPr>
        <p:txBody>
          <a:bodyPr wrap="square" lIns="0" tIns="0" rIns="0" bIns="0" rtlCol="0" anchor="t"/>
          <a:lstStyle/>
          <a:p>
            <a:pPr indent="0" marL="0">
              <a:buNone/>
            </a:pPr>
            <a:r>
              <a:rPr lang="en-US" sz="1200" b="1" dirty="0">
                <a:solidFill>
                  <a:srgbClr val="5B6472"/>
                </a:solidFill>
                <a:latin typeface="Arial" pitchFamily="34" charset="0"/>
                <a:ea typeface="Arial" pitchFamily="34" charset="-122"/>
                <a:cs typeface="Arial" pitchFamily="34" charset="-120"/>
              </a:rPr>
              <a:t>5</a:t>
            </a:r>
            <a:endParaRPr lang="en-US" sz="1200" dirty="0"/>
          </a:p>
        </p:txBody>
      </p:sp>
      <p:sp>
        <p:nvSpPr>
          <p:cNvPr id="39" name="Text 31"/>
          <p:cNvSpPr txBox="1"/>
          <p:nvPr/>
        </p:nvSpPr>
        <p:spPr>
          <a:xfrm>
            <a:off x="8189366" y="3017520"/>
            <a:ext cx="1472184" cy="365760"/>
          </a:xfrm>
          <a:prstGeom prst="rect">
            <a:avLst/>
          </a:prstGeom>
          <a:noFill/>
          <a:ln/>
        </p:spPr>
        <p:txBody>
          <a:bodyPr wrap="square" lIns="0" tIns="0" rIns="0" bIns="0" rtlCol="0" anchor="t"/>
          <a:lstStyle/>
          <a:p>
            <a:pPr algn="ctr" indent="0" marL="0">
              <a:buNone/>
            </a:pPr>
            <a:r>
              <a:rPr lang="en-US" sz="1500" b="1" dirty="0">
                <a:solidFill>
                  <a:srgbClr val="0B1F44"/>
                </a:solidFill>
                <a:latin typeface="Arial" pitchFamily="34" charset="0"/>
                <a:ea typeface="Arial" pitchFamily="34" charset="-122"/>
                <a:cs typeface="Arial" pitchFamily="34" charset="-120"/>
              </a:rPr>
              <a:t>CRC-16</a:t>
            </a:r>
            <a:endParaRPr lang="en-US" sz="1500" dirty="0"/>
          </a:p>
        </p:txBody>
      </p:sp>
      <p:sp>
        <p:nvSpPr>
          <p:cNvPr id="40" name="Text 32"/>
          <p:cNvSpPr txBox="1"/>
          <p:nvPr/>
        </p:nvSpPr>
        <p:spPr>
          <a:xfrm>
            <a:off x="8207654" y="3429000"/>
            <a:ext cx="1435608" cy="1005840"/>
          </a:xfrm>
          <a:prstGeom prst="rect">
            <a:avLst/>
          </a:prstGeom>
          <a:noFill/>
          <a:ln/>
        </p:spPr>
        <p:txBody>
          <a:bodyPr wrap="square" lIns="0" tIns="0" rIns="0" bIns="0" rtlCol="0" anchor="t"/>
          <a:lstStyle/>
          <a:p>
            <a:pPr algn="ctr" indent="0" marL="0">
              <a:buNone/>
            </a:pPr>
            <a:r>
              <a:rPr lang="en-US" sz="1200" dirty="0">
                <a:solidFill>
                  <a:srgbClr val="5B6472"/>
                </a:solidFill>
                <a:latin typeface="Arial" pitchFamily="34" charset="0"/>
                <a:ea typeface="Arial" pitchFamily="34" charset="-122"/>
                <a:cs typeface="Arial" pitchFamily="34" charset="-120"/>
              </a:rPr>
              <a:t>Bit-serial engine, 128 cycles</a:t>
            </a:r>
            <a:endParaRPr lang="en-US" sz="1200" dirty="0"/>
          </a:p>
        </p:txBody>
      </p:sp>
      <p:sp>
        <p:nvSpPr>
          <p:cNvPr id="41" name="Shape 33"/>
          <p:cNvSpPr/>
          <p:nvPr/>
        </p:nvSpPr>
        <p:spPr>
          <a:xfrm>
            <a:off x="9771278" y="3268980"/>
            <a:ext cx="195682" cy="0"/>
          </a:xfrm>
          <a:prstGeom prst="line">
            <a:avLst/>
          </a:prstGeom>
          <a:noFill/>
          <a:ln w="22225">
            <a:solidFill>
              <a:srgbClr val="FF5757"/>
            </a:solidFill>
            <a:prstDash val="solid"/>
            <a:tailEnd type="triangle"/>
          </a:ln>
        </p:spPr>
      </p:sp>
      <p:sp>
        <p:nvSpPr>
          <p:cNvPr id="42" name="Shape 34"/>
          <p:cNvSpPr/>
          <p:nvPr/>
        </p:nvSpPr>
        <p:spPr>
          <a:xfrm>
            <a:off x="9985248" y="2011680"/>
            <a:ext cx="1655064" cy="2514600"/>
          </a:xfrm>
          <a:prstGeom prst="roundRect">
            <a:avLst>
              <a:gd name="adj" fmla="val 6630"/>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43" name="Shape 35"/>
          <p:cNvSpPr/>
          <p:nvPr/>
        </p:nvSpPr>
        <p:spPr>
          <a:xfrm>
            <a:off x="10492740" y="2240280"/>
            <a:ext cx="640080" cy="640080"/>
          </a:xfrm>
          <a:prstGeom prst="ellipse">
            <a:avLst/>
          </a:prstGeom>
          <a:solidFill>
            <a:srgbClr val="FF5757"/>
          </a:solidFill>
          <a:ln w="12700">
            <a:solidFill>
              <a:srgbClr val="FF5757"/>
            </a:solidFill>
            <a:prstDash val="solid"/>
          </a:ln>
        </p:spPr>
      </p:sp>
      <p:pic>
        <p:nvPicPr>
          <p:cNvPr id="44" name="Image 6" descr="preencoded.png">    </p:cNvPr>
          <p:cNvPicPr>
            <a:picLocks noChangeAspect="1"/>
          </p:cNvPicPr>
          <p:nvPr/>
        </p:nvPicPr>
        <p:blipFill>
          <a:blip r:embed="rId7"/>
          <a:stretch>
            <a:fillRect/>
          </a:stretch>
        </p:blipFill>
        <p:spPr>
          <a:xfrm>
            <a:off x="10659161" y="2406701"/>
            <a:ext cx="307238" cy="307238"/>
          </a:xfrm>
          <a:prstGeom prst="rect">
            <a:avLst/>
          </a:prstGeom>
        </p:spPr>
      </p:pic>
      <p:sp>
        <p:nvSpPr>
          <p:cNvPr id="45" name="Text 36"/>
          <p:cNvSpPr txBox="1"/>
          <p:nvPr/>
        </p:nvSpPr>
        <p:spPr>
          <a:xfrm>
            <a:off x="10076688" y="2103120"/>
            <a:ext cx="274320" cy="274320"/>
          </a:xfrm>
          <a:prstGeom prst="rect">
            <a:avLst/>
          </a:prstGeom>
          <a:noFill/>
          <a:ln/>
        </p:spPr>
        <p:txBody>
          <a:bodyPr wrap="square" lIns="0" tIns="0" rIns="0" bIns="0" rtlCol="0" anchor="t"/>
          <a:lstStyle/>
          <a:p>
            <a:pPr indent="0" marL="0">
              <a:buNone/>
            </a:pPr>
            <a:r>
              <a:rPr lang="en-US" sz="1200" b="1" dirty="0">
                <a:solidFill>
                  <a:srgbClr val="5B6472"/>
                </a:solidFill>
                <a:latin typeface="Arial" pitchFamily="34" charset="0"/>
                <a:ea typeface="Arial" pitchFamily="34" charset="-122"/>
                <a:cs typeface="Arial" pitchFamily="34" charset="-120"/>
              </a:rPr>
              <a:t>6</a:t>
            </a:r>
            <a:endParaRPr lang="en-US" sz="1200" dirty="0"/>
          </a:p>
        </p:txBody>
      </p:sp>
      <p:sp>
        <p:nvSpPr>
          <p:cNvPr id="46" name="Text 37"/>
          <p:cNvSpPr txBox="1"/>
          <p:nvPr/>
        </p:nvSpPr>
        <p:spPr>
          <a:xfrm>
            <a:off x="10076688" y="3017520"/>
            <a:ext cx="1472184" cy="365760"/>
          </a:xfrm>
          <a:prstGeom prst="rect">
            <a:avLst/>
          </a:prstGeom>
          <a:noFill/>
          <a:ln/>
        </p:spPr>
        <p:txBody>
          <a:bodyPr wrap="square" lIns="0" tIns="0" rIns="0" bIns="0" rtlCol="0" anchor="t"/>
          <a:lstStyle/>
          <a:p>
            <a:pPr algn="ctr" indent="0" marL="0">
              <a:buNone/>
            </a:pPr>
            <a:r>
              <a:rPr lang="en-US" sz="1500" b="1" dirty="0">
                <a:solidFill>
                  <a:srgbClr val="0B1F44"/>
                </a:solidFill>
                <a:latin typeface="Arial" pitchFamily="34" charset="0"/>
                <a:ea typeface="Arial" pitchFamily="34" charset="-122"/>
                <a:cs typeface="Arial" pitchFamily="34" charset="-120"/>
              </a:rPr>
              <a:t>Integration</a:t>
            </a:r>
            <a:endParaRPr lang="en-US" sz="1500" dirty="0"/>
          </a:p>
        </p:txBody>
      </p:sp>
      <p:sp>
        <p:nvSpPr>
          <p:cNvPr id="47" name="Text 38"/>
          <p:cNvSpPr txBox="1"/>
          <p:nvPr/>
        </p:nvSpPr>
        <p:spPr>
          <a:xfrm>
            <a:off x="10094976" y="3429000"/>
            <a:ext cx="1435608" cy="1005840"/>
          </a:xfrm>
          <a:prstGeom prst="rect">
            <a:avLst/>
          </a:prstGeom>
          <a:noFill/>
          <a:ln/>
        </p:spPr>
        <p:txBody>
          <a:bodyPr wrap="square" lIns="0" tIns="0" rIns="0" bIns="0" rtlCol="0" anchor="t"/>
          <a:lstStyle/>
          <a:p>
            <a:pPr algn="ctr" indent="0" marL="0">
              <a:buNone/>
            </a:pPr>
            <a:r>
              <a:rPr lang="en-US" sz="1200" dirty="0">
                <a:solidFill>
                  <a:srgbClr val="5B6472"/>
                </a:solidFill>
                <a:latin typeface="Arial" pitchFamily="34" charset="0"/>
                <a:ea typeface="Arial" pitchFamily="34" charset="-122"/>
                <a:cs typeface="Arial" pitchFamily="34" charset="-120"/>
              </a:rPr>
              <a:t>Top-level FSM and handshakes</a:t>
            </a:r>
            <a:endParaRPr lang="en-US" sz="1200" dirty="0"/>
          </a:p>
        </p:txBody>
      </p:sp>
      <p:sp>
        <p:nvSpPr>
          <p:cNvPr id="48" name="Text 39"/>
          <p:cNvSpPr txBox="1"/>
          <p:nvPr/>
        </p:nvSpPr>
        <p:spPr>
          <a:xfrm>
            <a:off x="548640" y="4846320"/>
            <a:ext cx="2743200" cy="274320"/>
          </a:xfrm>
          <a:prstGeom prst="rect">
            <a:avLst/>
          </a:prstGeom>
          <a:noFill/>
          <a:ln/>
        </p:spPr>
        <p:txBody>
          <a:bodyPr wrap="square" lIns="0" tIns="0" rIns="0" bIns="0" rtlCol="0" anchor="t"/>
          <a:lstStyle/>
          <a:p>
            <a:pPr indent="0" marL="0">
              <a:buNone/>
            </a:pPr>
            <a:r>
              <a:rPr lang="en-US" sz="1200" b="1" spc="300" kern="0" dirty="0">
                <a:solidFill>
                  <a:srgbClr val="FF5757"/>
                </a:solidFill>
                <a:latin typeface="Arial" pitchFamily="34" charset="0"/>
                <a:ea typeface="Arial" pitchFamily="34" charset="-122"/>
                <a:cs typeface="Arial" pitchFamily="34" charset="-120"/>
              </a:rPr>
              <a:t>VERIFIED WITH</a:t>
            </a:r>
            <a:endParaRPr lang="en-US" sz="1200" dirty="0"/>
          </a:p>
        </p:txBody>
      </p:sp>
      <p:sp>
        <p:nvSpPr>
          <p:cNvPr id="49" name="Shape 40"/>
          <p:cNvSpPr/>
          <p:nvPr/>
        </p:nvSpPr>
        <p:spPr>
          <a:xfrm>
            <a:off x="548640" y="5212080"/>
            <a:ext cx="2606040" cy="914400"/>
          </a:xfrm>
          <a:prstGeom prst="roundRect">
            <a:avLst>
              <a:gd name="adj" fmla="val 12000"/>
            </a:avLst>
          </a:prstGeom>
          <a:solidFill>
            <a:srgbClr val="0B1F44"/>
          </a:solidFill>
          <a:ln w="12700">
            <a:solidFill>
              <a:srgbClr val="0B1F44"/>
            </a:solidFill>
            <a:prstDash val="solid"/>
          </a:ln>
        </p:spPr>
      </p:sp>
      <p:sp>
        <p:nvSpPr>
          <p:cNvPr id="50" name="Shape 41"/>
          <p:cNvSpPr/>
          <p:nvPr/>
        </p:nvSpPr>
        <p:spPr>
          <a:xfrm>
            <a:off x="731520" y="5458968"/>
            <a:ext cx="420624" cy="420624"/>
          </a:xfrm>
          <a:prstGeom prst="ellipse">
            <a:avLst/>
          </a:prstGeom>
          <a:solidFill>
            <a:srgbClr val="FF5757"/>
          </a:solidFill>
          <a:ln w="12700">
            <a:solidFill>
              <a:srgbClr val="FF5757"/>
            </a:solidFill>
            <a:prstDash val="solid"/>
          </a:ln>
        </p:spPr>
      </p:sp>
      <p:pic>
        <p:nvPicPr>
          <p:cNvPr id="51" name="Image 7" descr="preencoded.png">    </p:cNvPr>
          <p:cNvPicPr>
            <a:picLocks noChangeAspect="1"/>
          </p:cNvPicPr>
          <p:nvPr/>
        </p:nvPicPr>
        <p:blipFill>
          <a:blip r:embed="rId8"/>
          <a:stretch>
            <a:fillRect/>
          </a:stretch>
        </p:blipFill>
        <p:spPr>
          <a:xfrm>
            <a:off x="840882" y="5568330"/>
            <a:ext cx="201900" cy="201900"/>
          </a:xfrm>
          <a:prstGeom prst="rect">
            <a:avLst/>
          </a:prstGeom>
        </p:spPr>
      </p:pic>
      <p:sp>
        <p:nvSpPr>
          <p:cNvPr id="52" name="Text 42"/>
          <p:cNvSpPr txBox="1"/>
          <p:nvPr/>
        </p:nvSpPr>
        <p:spPr>
          <a:xfrm>
            <a:off x="1280160" y="5340096"/>
            <a:ext cx="1783080" cy="36576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UART loopback</a:t>
            </a:r>
            <a:endParaRPr lang="en-US" sz="1300" dirty="0"/>
          </a:p>
        </p:txBody>
      </p:sp>
      <p:sp>
        <p:nvSpPr>
          <p:cNvPr id="53" name="Text 43"/>
          <p:cNvSpPr txBox="1"/>
          <p:nvPr/>
        </p:nvSpPr>
        <p:spPr>
          <a:xfrm>
            <a:off x="1280160" y="5687568"/>
            <a:ext cx="1783080" cy="384048"/>
          </a:xfrm>
          <a:prstGeom prst="rect">
            <a:avLst/>
          </a:prstGeom>
          <a:noFill/>
          <a:ln/>
        </p:spPr>
        <p:txBody>
          <a:bodyPr wrap="square" lIns="0" tIns="0" rIns="0" bIns="0" rtlCol="0" anchor="t"/>
          <a:lstStyle/>
          <a:p>
            <a:pPr indent="0" marL="0">
              <a:buNone/>
            </a:pPr>
            <a:r>
              <a:rPr lang="en-US" sz="1050" dirty="0">
                <a:solidFill>
                  <a:srgbClr val="CADCFC"/>
                </a:solidFill>
                <a:latin typeface="Arial" pitchFamily="34" charset="0"/>
                <a:ea typeface="Arial" pitchFamily="34" charset="-122"/>
                <a:cs typeface="Arial" pitchFamily="34" charset="-120"/>
              </a:rPr>
              <a:t>3 byte patterns</a:t>
            </a:r>
            <a:endParaRPr lang="en-US" sz="1050" dirty="0"/>
          </a:p>
        </p:txBody>
      </p:sp>
      <p:sp>
        <p:nvSpPr>
          <p:cNvPr id="54" name="Shape 44"/>
          <p:cNvSpPr/>
          <p:nvPr/>
        </p:nvSpPr>
        <p:spPr>
          <a:xfrm>
            <a:off x="3355848" y="5212080"/>
            <a:ext cx="2606040" cy="914400"/>
          </a:xfrm>
          <a:prstGeom prst="roundRect">
            <a:avLst>
              <a:gd name="adj" fmla="val 12000"/>
            </a:avLst>
          </a:prstGeom>
          <a:solidFill>
            <a:srgbClr val="0B1F44"/>
          </a:solidFill>
          <a:ln w="12700">
            <a:solidFill>
              <a:srgbClr val="0B1F44"/>
            </a:solidFill>
            <a:prstDash val="solid"/>
          </a:ln>
        </p:spPr>
      </p:sp>
      <p:sp>
        <p:nvSpPr>
          <p:cNvPr id="55" name="Shape 45"/>
          <p:cNvSpPr/>
          <p:nvPr/>
        </p:nvSpPr>
        <p:spPr>
          <a:xfrm>
            <a:off x="3538728" y="5458968"/>
            <a:ext cx="420624" cy="420624"/>
          </a:xfrm>
          <a:prstGeom prst="ellipse">
            <a:avLst/>
          </a:prstGeom>
          <a:solidFill>
            <a:srgbClr val="FF5757"/>
          </a:solidFill>
          <a:ln w="12700">
            <a:solidFill>
              <a:srgbClr val="FF5757"/>
            </a:solidFill>
            <a:prstDash val="solid"/>
          </a:ln>
        </p:spPr>
      </p:sp>
      <p:pic>
        <p:nvPicPr>
          <p:cNvPr id="56" name="Image 8" descr="preencoded.png">    </p:cNvPr>
          <p:cNvPicPr>
            <a:picLocks noChangeAspect="1"/>
          </p:cNvPicPr>
          <p:nvPr/>
        </p:nvPicPr>
        <p:blipFill>
          <a:blip r:embed="rId9"/>
          <a:stretch>
            <a:fillRect/>
          </a:stretch>
        </p:blipFill>
        <p:spPr>
          <a:xfrm>
            <a:off x="3648090" y="5568330"/>
            <a:ext cx="201900" cy="201900"/>
          </a:xfrm>
          <a:prstGeom prst="rect">
            <a:avLst/>
          </a:prstGeom>
        </p:spPr>
      </p:pic>
      <p:sp>
        <p:nvSpPr>
          <p:cNvPr id="57" name="Text 46"/>
          <p:cNvSpPr txBox="1"/>
          <p:nvPr/>
        </p:nvSpPr>
        <p:spPr>
          <a:xfrm>
            <a:off x="4087368" y="5340096"/>
            <a:ext cx="1783080" cy="36576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tb_AES_FSM</a:t>
            </a:r>
            <a:endParaRPr lang="en-US" sz="1300" dirty="0"/>
          </a:p>
        </p:txBody>
      </p:sp>
      <p:sp>
        <p:nvSpPr>
          <p:cNvPr id="58" name="Text 47"/>
          <p:cNvSpPr txBox="1"/>
          <p:nvPr/>
        </p:nvSpPr>
        <p:spPr>
          <a:xfrm>
            <a:off x="4087368" y="5687568"/>
            <a:ext cx="1783080" cy="384048"/>
          </a:xfrm>
          <a:prstGeom prst="rect">
            <a:avLst/>
          </a:prstGeom>
          <a:noFill/>
          <a:ln/>
        </p:spPr>
        <p:txBody>
          <a:bodyPr wrap="square" lIns="0" tIns="0" rIns="0" bIns="0" rtlCol="0" anchor="t"/>
          <a:lstStyle/>
          <a:p>
            <a:pPr indent="0" marL="0">
              <a:buNone/>
            </a:pPr>
            <a:r>
              <a:rPr lang="en-US" sz="1050" dirty="0">
                <a:solidFill>
                  <a:srgbClr val="CADCFC"/>
                </a:solidFill>
                <a:latin typeface="Arial" pitchFamily="34" charset="0"/>
                <a:ea typeface="Arial" pitchFamily="34" charset="-122"/>
                <a:cs typeface="Arial" pitchFamily="34" charset="-120"/>
              </a:rPr>
              <a:t>reset, latch, pulse, wait for done</a:t>
            </a:r>
            <a:endParaRPr lang="en-US" sz="1050" dirty="0"/>
          </a:p>
        </p:txBody>
      </p:sp>
      <p:sp>
        <p:nvSpPr>
          <p:cNvPr id="59" name="Shape 48"/>
          <p:cNvSpPr/>
          <p:nvPr/>
        </p:nvSpPr>
        <p:spPr>
          <a:xfrm>
            <a:off x="6163056" y="5212080"/>
            <a:ext cx="2606040" cy="914400"/>
          </a:xfrm>
          <a:prstGeom prst="roundRect">
            <a:avLst>
              <a:gd name="adj" fmla="val 12000"/>
            </a:avLst>
          </a:prstGeom>
          <a:solidFill>
            <a:srgbClr val="0B1F44"/>
          </a:solidFill>
          <a:ln w="12700">
            <a:solidFill>
              <a:srgbClr val="0B1F44"/>
            </a:solidFill>
            <a:prstDash val="solid"/>
          </a:ln>
        </p:spPr>
      </p:sp>
      <p:sp>
        <p:nvSpPr>
          <p:cNvPr id="60" name="Shape 49"/>
          <p:cNvSpPr/>
          <p:nvPr/>
        </p:nvSpPr>
        <p:spPr>
          <a:xfrm>
            <a:off x="6345936" y="5458968"/>
            <a:ext cx="420624" cy="420624"/>
          </a:xfrm>
          <a:prstGeom prst="ellipse">
            <a:avLst/>
          </a:prstGeom>
          <a:solidFill>
            <a:srgbClr val="FF5757"/>
          </a:solidFill>
          <a:ln w="12700">
            <a:solidFill>
              <a:srgbClr val="FF5757"/>
            </a:solidFill>
            <a:prstDash val="solid"/>
          </a:ln>
        </p:spPr>
      </p:sp>
      <p:pic>
        <p:nvPicPr>
          <p:cNvPr id="61" name="Image 9" descr="preencoded.png">    </p:cNvPr>
          <p:cNvPicPr>
            <a:picLocks noChangeAspect="1"/>
          </p:cNvPicPr>
          <p:nvPr/>
        </p:nvPicPr>
        <p:blipFill>
          <a:blip r:embed="rId10"/>
          <a:stretch>
            <a:fillRect/>
          </a:stretch>
        </p:blipFill>
        <p:spPr>
          <a:xfrm>
            <a:off x="6455298" y="5568330"/>
            <a:ext cx="201900" cy="201900"/>
          </a:xfrm>
          <a:prstGeom prst="rect">
            <a:avLst/>
          </a:prstGeom>
        </p:spPr>
      </p:pic>
      <p:sp>
        <p:nvSpPr>
          <p:cNvPr id="62" name="Text 50"/>
          <p:cNvSpPr txBox="1"/>
          <p:nvPr/>
        </p:nvSpPr>
        <p:spPr>
          <a:xfrm>
            <a:off x="6894576" y="5340096"/>
            <a:ext cx="1783080" cy="36576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CRC testbench</a:t>
            </a:r>
            <a:endParaRPr lang="en-US" sz="1300" dirty="0"/>
          </a:p>
        </p:txBody>
      </p:sp>
      <p:sp>
        <p:nvSpPr>
          <p:cNvPr id="63" name="Text 51"/>
          <p:cNvSpPr txBox="1"/>
          <p:nvPr/>
        </p:nvSpPr>
        <p:spPr>
          <a:xfrm>
            <a:off x="6894576" y="5687568"/>
            <a:ext cx="1783080" cy="384048"/>
          </a:xfrm>
          <a:prstGeom prst="rect">
            <a:avLst/>
          </a:prstGeom>
          <a:noFill/>
          <a:ln/>
        </p:spPr>
        <p:txBody>
          <a:bodyPr wrap="square" lIns="0" tIns="0" rIns="0" bIns="0" rtlCol="0" anchor="t"/>
          <a:lstStyle/>
          <a:p>
            <a:pPr indent="0" marL="0">
              <a:buNone/>
            </a:pPr>
            <a:r>
              <a:rPr lang="en-US" sz="1050" dirty="0">
                <a:solidFill>
                  <a:srgbClr val="CADCFC"/>
                </a:solidFill>
                <a:latin typeface="Arial" pitchFamily="34" charset="0"/>
                <a:ea typeface="Arial" pitchFamily="34" charset="-122"/>
                <a:cs typeface="Arial" pitchFamily="34" charset="-120"/>
              </a:rPr>
              <a:t>3 reference vectors</a:t>
            </a:r>
            <a:endParaRPr lang="en-US" sz="1050" dirty="0"/>
          </a:p>
        </p:txBody>
      </p:sp>
      <p:sp>
        <p:nvSpPr>
          <p:cNvPr id="64" name="Shape 52"/>
          <p:cNvSpPr/>
          <p:nvPr/>
        </p:nvSpPr>
        <p:spPr>
          <a:xfrm>
            <a:off x="8970264" y="5212080"/>
            <a:ext cx="2606040" cy="914400"/>
          </a:xfrm>
          <a:prstGeom prst="roundRect">
            <a:avLst>
              <a:gd name="adj" fmla="val 12000"/>
            </a:avLst>
          </a:prstGeom>
          <a:solidFill>
            <a:srgbClr val="0B1F44"/>
          </a:solidFill>
          <a:ln w="12700">
            <a:solidFill>
              <a:srgbClr val="0B1F44"/>
            </a:solidFill>
            <a:prstDash val="solid"/>
          </a:ln>
        </p:spPr>
      </p:sp>
      <p:sp>
        <p:nvSpPr>
          <p:cNvPr id="65" name="Shape 53"/>
          <p:cNvSpPr/>
          <p:nvPr/>
        </p:nvSpPr>
        <p:spPr>
          <a:xfrm>
            <a:off x="9153144" y="5458968"/>
            <a:ext cx="420624" cy="420624"/>
          </a:xfrm>
          <a:prstGeom prst="ellipse">
            <a:avLst/>
          </a:prstGeom>
          <a:solidFill>
            <a:srgbClr val="FF5757"/>
          </a:solidFill>
          <a:ln w="12700">
            <a:solidFill>
              <a:srgbClr val="FF5757"/>
            </a:solidFill>
            <a:prstDash val="solid"/>
          </a:ln>
        </p:spPr>
      </p:sp>
      <p:pic>
        <p:nvPicPr>
          <p:cNvPr id="66" name="Image 10" descr="preencoded.png">    </p:cNvPr>
          <p:cNvPicPr>
            <a:picLocks noChangeAspect="1"/>
          </p:cNvPicPr>
          <p:nvPr/>
        </p:nvPicPr>
        <p:blipFill>
          <a:blip r:embed="rId11"/>
          <a:stretch>
            <a:fillRect/>
          </a:stretch>
        </p:blipFill>
        <p:spPr>
          <a:xfrm>
            <a:off x="9262506" y="5568330"/>
            <a:ext cx="201900" cy="201900"/>
          </a:xfrm>
          <a:prstGeom prst="rect">
            <a:avLst/>
          </a:prstGeom>
        </p:spPr>
      </p:pic>
      <p:sp>
        <p:nvSpPr>
          <p:cNvPr id="67" name="Text 54"/>
          <p:cNvSpPr txBox="1"/>
          <p:nvPr/>
        </p:nvSpPr>
        <p:spPr>
          <a:xfrm>
            <a:off x="9701784" y="5340096"/>
            <a:ext cx="1783080" cy="36576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tb_TOP_LEVEL</a:t>
            </a:r>
            <a:endParaRPr lang="en-US" sz="1300" dirty="0"/>
          </a:p>
        </p:txBody>
      </p:sp>
      <p:sp>
        <p:nvSpPr>
          <p:cNvPr id="68" name="Text 55"/>
          <p:cNvSpPr txBox="1"/>
          <p:nvPr/>
        </p:nvSpPr>
        <p:spPr>
          <a:xfrm>
            <a:off x="9701784" y="5687568"/>
            <a:ext cx="1783080" cy="384048"/>
          </a:xfrm>
          <a:prstGeom prst="rect">
            <a:avLst/>
          </a:prstGeom>
          <a:noFill/>
          <a:ln/>
        </p:spPr>
        <p:txBody>
          <a:bodyPr wrap="square" lIns="0" tIns="0" rIns="0" bIns="0" rtlCol="0" anchor="t"/>
          <a:lstStyle/>
          <a:p>
            <a:pPr indent="0" marL="0">
              <a:buNone/>
            </a:pPr>
            <a:r>
              <a:rPr lang="en-US" sz="1050" dirty="0">
                <a:solidFill>
                  <a:srgbClr val="CADCFC"/>
                </a:solidFill>
                <a:latin typeface="Arial" pitchFamily="34" charset="0"/>
                <a:ea typeface="Arial" pitchFamily="34" charset="-122"/>
                <a:cs typeface="Arial" pitchFamily="34" charset="-120"/>
              </a:rPr>
              <a:t>AES to CRC hand-off</a:t>
            </a:r>
            <a:endParaRPr lang="en-US" sz="10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47472"/>
            <a:ext cx="7315200" cy="228600"/>
          </a:xfrm>
          <a:prstGeom prst="rect">
            <a:avLst/>
          </a:prstGeom>
          <a:noFill/>
          <a:ln/>
        </p:spPr>
        <p:txBody>
          <a:bodyPr wrap="square" lIns="0" tIns="0" rIns="0" bIns="0" rtlCol="0" anchor="t"/>
          <a:lstStyle/>
          <a:p>
            <a:pPr indent="0" marL="0">
              <a:buNone/>
            </a:pPr>
            <a:r>
              <a:rPr lang="en-US" sz="1200" b="1" spc="300" kern="0" dirty="0">
                <a:solidFill>
                  <a:srgbClr val="FF5757"/>
                </a:solidFill>
                <a:latin typeface="Arial" pitchFamily="34" charset="0"/>
                <a:ea typeface="Arial" pitchFamily="34" charset="-122"/>
                <a:cs typeface="Arial" pitchFamily="34" charset="-120"/>
              </a:rPr>
              <a:t>03  DEVELOPMENT JOURNEY</a:t>
            </a:r>
            <a:endParaRPr lang="en-US" sz="1200" dirty="0"/>
          </a:p>
        </p:txBody>
      </p:sp>
      <p:sp>
        <p:nvSpPr>
          <p:cNvPr id="3" name="Text 1"/>
          <p:cNvSpPr txBox="1"/>
          <p:nvPr/>
        </p:nvSpPr>
        <p:spPr>
          <a:xfrm>
            <a:off x="548640" y="603504"/>
            <a:ext cx="9966960" cy="685800"/>
          </a:xfrm>
          <a:prstGeom prst="rect">
            <a:avLst/>
          </a:prstGeom>
          <a:noFill/>
          <a:ln/>
        </p:spPr>
        <p:txBody>
          <a:bodyPr wrap="square" lIns="0" tIns="0" rIns="0" bIns="0" rtlCol="0" anchor="ctr"/>
          <a:lstStyle/>
          <a:p>
            <a:pPr indent="0" marL="0">
              <a:buNone/>
            </a:pPr>
            <a:r>
              <a:rPr lang="en-US" sz="3200" b="1" dirty="0">
                <a:solidFill>
                  <a:srgbClr val="0B1F44"/>
                </a:solidFill>
                <a:latin typeface="Arial" pitchFamily="34" charset="0"/>
                <a:ea typeface="Arial" pitchFamily="34" charset="-122"/>
                <a:cs typeface="Arial" pitchFamily="34" charset="-120"/>
              </a:rPr>
              <a:t>System architecture and frame format</a:t>
            </a:r>
            <a:endParaRPr lang="en-US" sz="3200" dirty="0"/>
          </a:p>
        </p:txBody>
      </p:sp>
      <p:pic>
        <p:nvPicPr>
          <p:cNvPr id="4" name="Image 0" descr="/home/claude/assets/logo.png">    </p:cNvPr>
          <p:cNvPicPr>
            <a:picLocks noChangeAspect="1"/>
          </p:cNvPicPr>
          <p:nvPr/>
        </p:nvPicPr>
        <p:blipFill>
          <a:blip r:embed="rId1"/>
          <a:stretch>
            <a:fillRect/>
          </a:stretch>
        </p:blipFill>
        <p:spPr>
          <a:xfrm>
            <a:off x="10744200" y="365760"/>
            <a:ext cx="896112" cy="434340"/>
          </a:xfrm>
          <a:prstGeom prst="rect">
            <a:avLst/>
          </a:prstGeom>
        </p:spPr>
      </p:pic>
      <p:sp>
        <p:nvSpPr>
          <p:cNvPr id="5" name="Text 2"/>
          <p:cNvSpPr txBox="1"/>
          <p:nvPr/>
        </p:nvSpPr>
        <p:spPr>
          <a:xfrm>
            <a:off x="548640" y="6428232"/>
            <a:ext cx="6400800" cy="228600"/>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Secure UART Communication System  ·  NTI Digital Design Project</a:t>
            </a:r>
            <a:endParaRPr lang="en-US" sz="1000" dirty="0"/>
          </a:p>
        </p:txBody>
      </p:sp>
      <p:sp>
        <p:nvSpPr>
          <p:cNvPr id="6" name="Text 3"/>
          <p:cNvSpPr txBox="1"/>
          <p:nvPr/>
        </p:nvSpPr>
        <p:spPr>
          <a:xfrm>
            <a:off x="548640" y="1371600"/>
            <a:ext cx="10058400" cy="320040"/>
          </a:xfrm>
          <a:prstGeom prst="rect">
            <a:avLst/>
          </a:prstGeom>
          <a:noFill/>
          <a:ln/>
        </p:spPr>
        <p:txBody>
          <a:bodyPr wrap="square" lIns="0" tIns="0" rIns="0" bIns="0" rtlCol="0" anchor="t"/>
          <a:lstStyle/>
          <a:p>
            <a:pPr indent="0" marL="0">
              <a:buNone/>
            </a:pPr>
            <a:r>
              <a:rPr lang="en-US" sz="1500" dirty="0">
                <a:solidFill>
                  <a:srgbClr val="5B6472"/>
                </a:solidFill>
                <a:latin typeface="Arial" pitchFamily="34" charset="0"/>
                <a:ea typeface="Arial" pitchFamily="34" charset="-122"/>
                <a:cs typeface="Arial" pitchFamily="34" charset="-120"/>
              </a:rPr>
              <a:t>UART byte stream sent MSB first: AES ciphertext, then CRC (high byte, then low byte)</a:t>
            </a:r>
            <a:endParaRPr lang="en-US" sz="1500" dirty="0"/>
          </a:p>
        </p:txBody>
      </p:sp>
      <p:sp>
        <p:nvSpPr>
          <p:cNvPr id="7" name="Shape 4"/>
          <p:cNvSpPr/>
          <p:nvPr/>
        </p:nvSpPr>
        <p:spPr>
          <a:xfrm>
            <a:off x="690372" y="1828800"/>
            <a:ext cx="548640" cy="566928"/>
          </a:xfrm>
          <a:prstGeom prst="roundRect">
            <a:avLst>
              <a:gd name="adj" fmla="val 10000"/>
            </a:avLst>
          </a:prstGeom>
          <a:solidFill>
            <a:srgbClr val="004AAD"/>
          </a:solidFill>
          <a:ln w="12700">
            <a:solidFill>
              <a:srgbClr val="004AAD"/>
            </a:solidFill>
            <a:prstDash val="solid"/>
          </a:ln>
        </p:spPr>
      </p:sp>
      <p:sp>
        <p:nvSpPr>
          <p:cNvPr id="8" name="Text 5"/>
          <p:cNvSpPr txBox="1"/>
          <p:nvPr/>
        </p:nvSpPr>
        <p:spPr>
          <a:xfrm>
            <a:off x="690372" y="1828800"/>
            <a:ext cx="5486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B0</a:t>
            </a:r>
            <a:endParaRPr lang="en-US" sz="1200" dirty="0"/>
          </a:p>
        </p:txBody>
      </p:sp>
      <p:sp>
        <p:nvSpPr>
          <p:cNvPr id="9" name="Shape 6"/>
          <p:cNvSpPr/>
          <p:nvPr/>
        </p:nvSpPr>
        <p:spPr>
          <a:xfrm>
            <a:off x="1293876" y="1828800"/>
            <a:ext cx="548640" cy="566928"/>
          </a:xfrm>
          <a:prstGeom prst="roundRect">
            <a:avLst>
              <a:gd name="adj" fmla="val 10000"/>
            </a:avLst>
          </a:prstGeom>
          <a:solidFill>
            <a:srgbClr val="004AAD"/>
          </a:solidFill>
          <a:ln w="12700">
            <a:solidFill>
              <a:srgbClr val="004AAD"/>
            </a:solidFill>
            <a:prstDash val="solid"/>
          </a:ln>
        </p:spPr>
      </p:sp>
      <p:sp>
        <p:nvSpPr>
          <p:cNvPr id="10" name="Text 7"/>
          <p:cNvSpPr txBox="1"/>
          <p:nvPr/>
        </p:nvSpPr>
        <p:spPr>
          <a:xfrm>
            <a:off x="1293876" y="1828800"/>
            <a:ext cx="5486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B1</a:t>
            </a:r>
            <a:endParaRPr lang="en-US" sz="1200" dirty="0"/>
          </a:p>
        </p:txBody>
      </p:sp>
      <p:sp>
        <p:nvSpPr>
          <p:cNvPr id="11" name="Shape 8"/>
          <p:cNvSpPr/>
          <p:nvPr/>
        </p:nvSpPr>
        <p:spPr>
          <a:xfrm>
            <a:off x="1897380" y="1828800"/>
            <a:ext cx="548640" cy="566928"/>
          </a:xfrm>
          <a:prstGeom prst="roundRect">
            <a:avLst>
              <a:gd name="adj" fmla="val 10000"/>
            </a:avLst>
          </a:prstGeom>
          <a:solidFill>
            <a:srgbClr val="004AAD"/>
          </a:solidFill>
          <a:ln w="12700">
            <a:solidFill>
              <a:srgbClr val="004AAD"/>
            </a:solidFill>
            <a:prstDash val="solid"/>
          </a:ln>
        </p:spPr>
      </p:sp>
      <p:sp>
        <p:nvSpPr>
          <p:cNvPr id="12" name="Text 9"/>
          <p:cNvSpPr txBox="1"/>
          <p:nvPr/>
        </p:nvSpPr>
        <p:spPr>
          <a:xfrm>
            <a:off x="1897380" y="1828800"/>
            <a:ext cx="5486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B2</a:t>
            </a:r>
            <a:endParaRPr lang="en-US" sz="1200" dirty="0"/>
          </a:p>
        </p:txBody>
      </p:sp>
      <p:sp>
        <p:nvSpPr>
          <p:cNvPr id="13" name="Shape 10"/>
          <p:cNvSpPr/>
          <p:nvPr/>
        </p:nvSpPr>
        <p:spPr>
          <a:xfrm>
            <a:off x="2500884" y="1828800"/>
            <a:ext cx="548640" cy="566928"/>
          </a:xfrm>
          <a:prstGeom prst="roundRect">
            <a:avLst>
              <a:gd name="adj" fmla="val 10000"/>
            </a:avLst>
          </a:prstGeom>
          <a:solidFill>
            <a:srgbClr val="004AAD"/>
          </a:solidFill>
          <a:ln w="12700">
            <a:solidFill>
              <a:srgbClr val="004AAD"/>
            </a:solidFill>
            <a:prstDash val="solid"/>
          </a:ln>
        </p:spPr>
      </p:sp>
      <p:sp>
        <p:nvSpPr>
          <p:cNvPr id="14" name="Text 11"/>
          <p:cNvSpPr txBox="1"/>
          <p:nvPr/>
        </p:nvSpPr>
        <p:spPr>
          <a:xfrm>
            <a:off x="2500884" y="1828800"/>
            <a:ext cx="5486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B3</a:t>
            </a:r>
            <a:endParaRPr lang="en-US" sz="1200" dirty="0"/>
          </a:p>
        </p:txBody>
      </p:sp>
      <p:sp>
        <p:nvSpPr>
          <p:cNvPr id="15" name="Shape 12"/>
          <p:cNvSpPr/>
          <p:nvPr/>
        </p:nvSpPr>
        <p:spPr>
          <a:xfrm>
            <a:off x="3104388" y="1828800"/>
            <a:ext cx="548640" cy="566928"/>
          </a:xfrm>
          <a:prstGeom prst="roundRect">
            <a:avLst>
              <a:gd name="adj" fmla="val 10000"/>
            </a:avLst>
          </a:prstGeom>
          <a:solidFill>
            <a:srgbClr val="004AAD"/>
          </a:solidFill>
          <a:ln w="12700">
            <a:solidFill>
              <a:srgbClr val="004AAD"/>
            </a:solidFill>
            <a:prstDash val="solid"/>
          </a:ln>
        </p:spPr>
      </p:sp>
      <p:sp>
        <p:nvSpPr>
          <p:cNvPr id="16" name="Text 13"/>
          <p:cNvSpPr txBox="1"/>
          <p:nvPr/>
        </p:nvSpPr>
        <p:spPr>
          <a:xfrm>
            <a:off x="3104388" y="1828800"/>
            <a:ext cx="5486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B4</a:t>
            </a:r>
            <a:endParaRPr lang="en-US" sz="1200" dirty="0"/>
          </a:p>
        </p:txBody>
      </p:sp>
      <p:sp>
        <p:nvSpPr>
          <p:cNvPr id="17" name="Shape 14"/>
          <p:cNvSpPr/>
          <p:nvPr/>
        </p:nvSpPr>
        <p:spPr>
          <a:xfrm>
            <a:off x="3707892" y="1828800"/>
            <a:ext cx="548640" cy="566928"/>
          </a:xfrm>
          <a:prstGeom prst="roundRect">
            <a:avLst>
              <a:gd name="adj" fmla="val 10000"/>
            </a:avLst>
          </a:prstGeom>
          <a:solidFill>
            <a:srgbClr val="004AAD"/>
          </a:solidFill>
          <a:ln w="12700">
            <a:solidFill>
              <a:srgbClr val="004AAD"/>
            </a:solidFill>
            <a:prstDash val="solid"/>
          </a:ln>
        </p:spPr>
      </p:sp>
      <p:sp>
        <p:nvSpPr>
          <p:cNvPr id="18" name="Text 15"/>
          <p:cNvSpPr txBox="1"/>
          <p:nvPr/>
        </p:nvSpPr>
        <p:spPr>
          <a:xfrm>
            <a:off x="3707892" y="1828800"/>
            <a:ext cx="5486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B5</a:t>
            </a:r>
            <a:endParaRPr lang="en-US" sz="1200" dirty="0"/>
          </a:p>
        </p:txBody>
      </p:sp>
      <p:sp>
        <p:nvSpPr>
          <p:cNvPr id="19" name="Shape 16"/>
          <p:cNvSpPr/>
          <p:nvPr/>
        </p:nvSpPr>
        <p:spPr>
          <a:xfrm>
            <a:off x="4311396" y="1828800"/>
            <a:ext cx="548640" cy="566928"/>
          </a:xfrm>
          <a:prstGeom prst="roundRect">
            <a:avLst>
              <a:gd name="adj" fmla="val 10000"/>
            </a:avLst>
          </a:prstGeom>
          <a:solidFill>
            <a:srgbClr val="004AAD"/>
          </a:solidFill>
          <a:ln w="12700">
            <a:solidFill>
              <a:srgbClr val="004AAD"/>
            </a:solidFill>
            <a:prstDash val="solid"/>
          </a:ln>
        </p:spPr>
      </p:sp>
      <p:sp>
        <p:nvSpPr>
          <p:cNvPr id="20" name="Text 17"/>
          <p:cNvSpPr txBox="1"/>
          <p:nvPr/>
        </p:nvSpPr>
        <p:spPr>
          <a:xfrm>
            <a:off x="4311396" y="1828800"/>
            <a:ext cx="5486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B6</a:t>
            </a:r>
            <a:endParaRPr lang="en-US" sz="1200" dirty="0"/>
          </a:p>
        </p:txBody>
      </p:sp>
      <p:sp>
        <p:nvSpPr>
          <p:cNvPr id="21" name="Shape 18"/>
          <p:cNvSpPr/>
          <p:nvPr/>
        </p:nvSpPr>
        <p:spPr>
          <a:xfrm>
            <a:off x="4914900" y="1828800"/>
            <a:ext cx="548640" cy="566928"/>
          </a:xfrm>
          <a:prstGeom prst="roundRect">
            <a:avLst>
              <a:gd name="adj" fmla="val 10000"/>
            </a:avLst>
          </a:prstGeom>
          <a:solidFill>
            <a:srgbClr val="004AAD"/>
          </a:solidFill>
          <a:ln w="12700">
            <a:solidFill>
              <a:srgbClr val="004AAD"/>
            </a:solidFill>
            <a:prstDash val="solid"/>
          </a:ln>
        </p:spPr>
      </p:sp>
      <p:sp>
        <p:nvSpPr>
          <p:cNvPr id="22" name="Text 19"/>
          <p:cNvSpPr txBox="1"/>
          <p:nvPr/>
        </p:nvSpPr>
        <p:spPr>
          <a:xfrm>
            <a:off x="4914900" y="1828800"/>
            <a:ext cx="5486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B7</a:t>
            </a:r>
            <a:endParaRPr lang="en-US" sz="1200" dirty="0"/>
          </a:p>
        </p:txBody>
      </p:sp>
      <p:sp>
        <p:nvSpPr>
          <p:cNvPr id="23" name="Shape 20"/>
          <p:cNvSpPr/>
          <p:nvPr/>
        </p:nvSpPr>
        <p:spPr>
          <a:xfrm>
            <a:off x="5518404" y="1828800"/>
            <a:ext cx="548640" cy="566928"/>
          </a:xfrm>
          <a:prstGeom prst="roundRect">
            <a:avLst>
              <a:gd name="adj" fmla="val 10000"/>
            </a:avLst>
          </a:prstGeom>
          <a:solidFill>
            <a:srgbClr val="004AAD"/>
          </a:solidFill>
          <a:ln w="12700">
            <a:solidFill>
              <a:srgbClr val="004AAD"/>
            </a:solidFill>
            <a:prstDash val="solid"/>
          </a:ln>
        </p:spPr>
      </p:sp>
      <p:sp>
        <p:nvSpPr>
          <p:cNvPr id="24" name="Text 21"/>
          <p:cNvSpPr txBox="1"/>
          <p:nvPr/>
        </p:nvSpPr>
        <p:spPr>
          <a:xfrm>
            <a:off x="5518404" y="1828800"/>
            <a:ext cx="5486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B8</a:t>
            </a:r>
            <a:endParaRPr lang="en-US" sz="1200" dirty="0"/>
          </a:p>
        </p:txBody>
      </p:sp>
      <p:sp>
        <p:nvSpPr>
          <p:cNvPr id="25" name="Shape 22"/>
          <p:cNvSpPr/>
          <p:nvPr/>
        </p:nvSpPr>
        <p:spPr>
          <a:xfrm>
            <a:off x="6121908" y="1828800"/>
            <a:ext cx="548640" cy="566928"/>
          </a:xfrm>
          <a:prstGeom prst="roundRect">
            <a:avLst>
              <a:gd name="adj" fmla="val 10000"/>
            </a:avLst>
          </a:prstGeom>
          <a:solidFill>
            <a:srgbClr val="004AAD"/>
          </a:solidFill>
          <a:ln w="12700">
            <a:solidFill>
              <a:srgbClr val="004AAD"/>
            </a:solidFill>
            <a:prstDash val="solid"/>
          </a:ln>
        </p:spPr>
      </p:sp>
      <p:sp>
        <p:nvSpPr>
          <p:cNvPr id="26" name="Text 23"/>
          <p:cNvSpPr txBox="1"/>
          <p:nvPr/>
        </p:nvSpPr>
        <p:spPr>
          <a:xfrm>
            <a:off x="6121908" y="1828800"/>
            <a:ext cx="5486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B9</a:t>
            </a:r>
            <a:endParaRPr lang="en-US" sz="1200" dirty="0"/>
          </a:p>
        </p:txBody>
      </p:sp>
      <p:sp>
        <p:nvSpPr>
          <p:cNvPr id="27" name="Shape 24"/>
          <p:cNvSpPr/>
          <p:nvPr/>
        </p:nvSpPr>
        <p:spPr>
          <a:xfrm>
            <a:off x="6725412" y="1828800"/>
            <a:ext cx="548640" cy="566928"/>
          </a:xfrm>
          <a:prstGeom prst="roundRect">
            <a:avLst>
              <a:gd name="adj" fmla="val 10000"/>
            </a:avLst>
          </a:prstGeom>
          <a:solidFill>
            <a:srgbClr val="004AAD"/>
          </a:solidFill>
          <a:ln w="12700">
            <a:solidFill>
              <a:srgbClr val="004AAD"/>
            </a:solidFill>
            <a:prstDash val="solid"/>
          </a:ln>
        </p:spPr>
      </p:sp>
      <p:sp>
        <p:nvSpPr>
          <p:cNvPr id="28" name="Text 25"/>
          <p:cNvSpPr txBox="1"/>
          <p:nvPr/>
        </p:nvSpPr>
        <p:spPr>
          <a:xfrm>
            <a:off x="6725412" y="1828800"/>
            <a:ext cx="5486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B10</a:t>
            </a:r>
            <a:endParaRPr lang="en-US" sz="1200" dirty="0"/>
          </a:p>
        </p:txBody>
      </p:sp>
      <p:sp>
        <p:nvSpPr>
          <p:cNvPr id="29" name="Shape 26"/>
          <p:cNvSpPr/>
          <p:nvPr/>
        </p:nvSpPr>
        <p:spPr>
          <a:xfrm>
            <a:off x="7328916" y="1828800"/>
            <a:ext cx="548640" cy="566928"/>
          </a:xfrm>
          <a:prstGeom prst="roundRect">
            <a:avLst>
              <a:gd name="adj" fmla="val 10000"/>
            </a:avLst>
          </a:prstGeom>
          <a:solidFill>
            <a:srgbClr val="004AAD"/>
          </a:solidFill>
          <a:ln w="12700">
            <a:solidFill>
              <a:srgbClr val="004AAD"/>
            </a:solidFill>
            <a:prstDash val="solid"/>
          </a:ln>
        </p:spPr>
      </p:sp>
      <p:sp>
        <p:nvSpPr>
          <p:cNvPr id="30" name="Text 27"/>
          <p:cNvSpPr txBox="1"/>
          <p:nvPr/>
        </p:nvSpPr>
        <p:spPr>
          <a:xfrm>
            <a:off x="7328916" y="1828800"/>
            <a:ext cx="5486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B11</a:t>
            </a:r>
            <a:endParaRPr lang="en-US" sz="1200" dirty="0"/>
          </a:p>
        </p:txBody>
      </p:sp>
      <p:sp>
        <p:nvSpPr>
          <p:cNvPr id="31" name="Shape 28"/>
          <p:cNvSpPr/>
          <p:nvPr/>
        </p:nvSpPr>
        <p:spPr>
          <a:xfrm>
            <a:off x="7932420" y="1828800"/>
            <a:ext cx="548640" cy="566928"/>
          </a:xfrm>
          <a:prstGeom prst="roundRect">
            <a:avLst>
              <a:gd name="adj" fmla="val 10000"/>
            </a:avLst>
          </a:prstGeom>
          <a:solidFill>
            <a:srgbClr val="004AAD"/>
          </a:solidFill>
          <a:ln w="12700">
            <a:solidFill>
              <a:srgbClr val="004AAD"/>
            </a:solidFill>
            <a:prstDash val="solid"/>
          </a:ln>
        </p:spPr>
      </p:sp>
      <p:sp>
        <p:nvSpPr>
          <p:cNvPr id="32" name="Text 29"/>
          <p:cNvSpPr txBox="1"/>
          <p:nvPr/>
        </p:nvSpPr>
        <p:spPr>
          <a:xfrm>
            <a:off x="7932420" y="1828800"/>
            <a:ext cx="5486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B12</a:t>
            </a:r>
            <a:endParaRPr lang="en-US" sz="1200" dirty="0"/>
          </a:p>
        </p:txBody>
      </p:sp>
      <p:sp>
        <p:nvSpPr>
          <p:cNvPr id="33" name="Shape 30"/>
          <p:cNvSpPr/>
          <p:nvPr/>
        </p:nvSpPr>
        <p:spPr>
          <a:xfrm>
            <a:off x="8535924" y="1828800"/>
            <a:ext cx="548640" cy="566928"/>
          </a:xfrm>
          <a:prstGeom prst="roundRect">
            <a:avLst>
              <a:gd name="adj" fmla="val 10000"/>
            </a:avLst>
          </a:prstGeom>
          <a:solidFill>
            <a:srgbClr val="004AAD"/>
          </a:solidFill>
          <a:ln w="12700">
            <a:solidFill>
              <a:srgbClr val="004AAD"/>
            </a:solidFill>
            <a:prstDash val="solid"/>
          </a:ln>
        </p:spPr>
      </p:sp>
      <p:sp>
        <p:nvSpPr>
          <p:cNvPr id="34" name="Text 31"/>
          <p:cNvSpPr txBox="1"/>
          <p:nvPr/>
        </p:nvSpPr>
        <p:spPr>
          <a:xfrm>
            <a:off x="8535924" y="1828800"/>
            <a:ext cx="5486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B13</a:t>
            </a:r>
            <a:endParaRPr lang="en-US" sz="1200" dirty="0"/>
          </a:p>
        </p:txBody>
      </p:sp>
      <p:sp>
        <p:nvSpPr>
          <p:cNvPr id="35" name="Shape 32"/>
          <p:cNvSpPr/>
          <p:nvPr/>
        </p:nvSpPr>
        <p:spPr>
          <a:xfrm>
            <a:off x="9139428" y="1828800"/>
            <a:ext cx="548640" cy="566928"/>
          </a:xfrm>
          <a:prstGeom prst="roundRect">
            <a:avLst>
              <a:gd name="adj" fmla="val 10000"/>
            </a:avLst>
          </a:prstGeom>
          <a:solidFill>
            <a:srgbClr val="004AAD"/>
          </a:solidFill>
          <a:ln w="12700">
            <a:solidFill>
              <a:srgbClr val="004AAD"/>
            </a:solidFill>
            <a:prstDash val="solid"/>
          </a:ln>
        </p:spPr>
      </p:sp>
      <p:sp>
        <p:nvSpPr>
          <p:cNvPr id="36" name="Text 33"/>
          <p:cNvSpPr txBox="1"/>
          <p:nvPr/>
        </p:nvSpPr>
        <p:spPr>
          <a:xfrm>
            <a:off x="9139428" y="1828800"/>
            <a:ext cx="5486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B14</a:t>
            </a:r>
            <a:endParaRPr lang="en-US" sz="1200" dirty="0"/>
          </a:p>
        </p:txBody>
      </p:sp>
      <p:sp>
        <p:nvSpPr>
          <p:cNvPr id="37" name="Shape 34"/>
          <p:cNvSpPr/>
          <p:nvPr/>
        </p:nvSpPr>
        <p:spPr>
          <a:xfrm>
            <a:off x="9742932" y="1828800"/>
            <a:ext cx="548640" cy="566928"/>
          </a:xfrm>
          <a:prstGeom prst="roundRect">
            <a:avLst>
              <a:gd name="adj" fmla="val 10000"/>
            </a:avLst>
          </a:prstGeom>
          <a:solidFill>
            <a:srgbClr val="004AAD"/>
          </a:solidFill>
          <a:ln w="12700">
            <a:solidFill>
              <a:srgbClr val="004AAD"/>
            </a:solidFill>
            <a:prstDash val="solid"/>
          </a:ln>
        </p:spPr>
      </p:sp>
      <p:sp>
        <p:nvSpPr>
          <p:cNvPr id="38" name="Text 35"/>
          <p:cNvSpPr txBox="1"/>
          <p:nvPr/>
        </p:nvSpPr>
        <p:spPr>
          <a:xfrm>
            <a:off x="9742932" y="1828800"/>
            <a:ext cx="5486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B15</a:t>
            </a:r>
            <a:endParaRPr lang="en-US" sz="1200" dirty="0"/>
          </a:p>
        </p:txBody>
      </p:sp>
      <p:sp>
        <p:nvSpPr>
          <p:cNvPr id="39" name="Shape 36"/>
          <p:cNvSpPr/>
          <p:nvPr/>
        </p:nvSpPr>
        <p:spPr>
          <a:xfrm>
            <a:off x="10346436" y="1828800"/>
            <a:ext cx="548640" cy="566928"/>
          </a:xfrm>
          <a:prstGeom prst="roundRect">
            <a:avLst>
              <a:gd name="adj" fmla="val 10000"/>
            </a:avLst>
          </a:prstGeom>
          <a:solidFill>
            <a:srgbClr val="FF5757"/>
          </a:solidFill>
          <a:ln w="12700">
            <a:solidFill>
              <a:srgbClr val="FF5757"/>
            </a:solidFill>
            <a:prstDash val="solid"/>
          </a:ln>
        </p:spPr>
      </p:sp>
      <p:sp>
        <p:nvSpPr>
          <p:cNvPr id="40" name="Text 37"/>
          <p:cNvSpPr txBox="1"/>
          <p:nvPr/>
        </p:nvSpPr>
        <p:spPr>
          <a:xfrm>
            <a:off x="10346436" y="1828800"/>
            <a:ext cx="548640" cy="56692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CRC</a:t>
            </a:r>
            <a:endParaRPr lang="en-US" sz="1000" dirty="0"/>
          </a:p>
          <a:p>
            <a:pPr algn="ctr" indent="0" marL="0">
              <a:buNone/>
            </a:pPr>
            <a:r>
              <a:rPr lang="en-US" sz="1000" b="1" dirty="0">
                <a:solidFill>
                  <a:srgbClr val="FFFFFF"/>
                </a:solidFill>
                <a:latin typeface="Arial" pitchFamily="34" charset="0"/>
                <a:ea typeface="Arial" pitchFamily="34" charset="-122"/>
                <a:cs typeface="Arial" pitchFamily="34" charset="-120"/>
              </a:rPr>
              <a:t>H</a:t>
            </a:r>
            <a:endParaRPr lang="en-US" sz="1000" dirty="0"/>
          </a:p>
        </p:txBody>
      </p:sp>
      <p:sp>
        <p:nvSpPr>
          <p:cNvPr id="41" name="Shape 38"/>
          <p:cNvSpPr/>
          <p:nvPr/>
        </p:nvSpPr>
        <p:spPr>
          <a:xfrm>
            <a:off x="10949940" y="1828800"/>
            <a:ext cx="548640" cy="566928"/>
          </a:xfrm>
          <a:prstGeom prst="roundRect">
            <a:avLst>
              <a:gd name="adj" fmla="val 10000"/>
            </a:avLst>
          </a:prstGeom>
          <a:solidFill>
            <a:srgbClr val="FF5757"/>
          </a:solidFill>
          <a:ln w="12700">
            <a:solidFill>
              <a:srgbClr val="FF5757"/>
            </a:solidFill>
            <a:prstDash val="solid"/>
          </a:ln>
        </p:spPr>
      </p:sp>
      <p:sp>
        <p:nvSpPr>
          <p:cNvPr id="42" name="Text 39"/>
          <p:cNvSpPr txBox="1"/>
          <p:nvPr/>
        </p:nvSpPr>
        <p:spPr>
          <a:xfrm>
            <a:off x="10949940" y="1828800"/>
            <a:ext cx="548640" cy="56692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CRC</a:t>
            </a:r>
            <a:endParaRPr lang="en-US" sz="1000" dirty="0"/>
          </a:p>
          <a:p>
            <a:pPr algn="ctr" indent="0" marL="0">
              <a:buNone/>
            </a:pPr>
            <a:r>
              <a:rPr lang="en-US" sz="1000" b="1" dirty="0">
                <a:solidFill>
                  <a:srgbClr val="FFFFFF"/>
                </a:solidFill>
                <a:latin typeface="Arial" pitchFamily="34" charset="0"/>
                <a:ea typeface="Arial" pitchFamily="34" charset="-122"/>
                <a:cs typeface="Arial" pitchFamily="34" charset="-120"/>
              </a:rPr>
              <a:t>L</a:t>
            </a:r>
            <a:endParaRPr lang="en-US" sz="1000" dirty="0"/>
          </a:p>
        </p:txBody>
      </p:sp>
      <p:sp>
        <p:nvSpPr>
          <p:cNvPr id="43" name="Shape 40"/>
          <p:cNvSpPr/>
          <p:nvPr/>
        </p:nvSpPr>
        <p:spPr>
          <a:xfrm>
            <a:off x="690372" y="2542032"/>
            <a:ext cx="9601200" cy="0"/>
          </a:xfrm>
          <a:prstGeom prst="line">
            <a:avLst/>
          </a:prstGeom>
          <a:noFill/>
          <a:ln w="19050">
            <a:solidFill>
              <a:srgbClr val="004AAD"/>
            </a:solidFill>
            <a:prstDash val="solid"/>
          </a:ln>
        </p:spPr>
      </p:sp>
      <p:sp>
        <p:nvSpPr>
          <p:cNvPr id="44" name="Text 41"/>
          <p:cNvSpPr txBox="1"/>
          <p:nvPr/>
        </p:nvSpPr>
        <p:spPr>
          <a:xfrm>
            <a:off x="690372" y="2606040"/>
            <a:ext cx="9601200" cy="274320"/>
          </a:xfrm>
          <a:prstGeom prst="rect">
            <a:avLst/>
          </a:prstGeom>
          <a:noFill/>
          <a:ln/>
        </p:spPr>
        <p:txBody>
          <a:bodyPr wrap="square" lIns="0" tIns="0" rIns="0" bIns="0" rtlCol="0" anchor="t"/>
          <a:lstStyle/>
          <a:p>
            <a:pPr algn="ctr" indent="0" marL="0">
              <a:buNone/>
            </a:pPr>
            <a:r>
              <a:rPr lang="en-US" sz="1200" b="1" dirty="0">
                <a:solidFill>
                  <a:srgbClr val="004AAD"/>
                </a:solidFill>
                <a:latin typeface="Arial" pitchFamily="34" charset="0"/>
                <a:ea typeface="Arial" pitchFamily="34" charset="-122"/>
                <a:cs typeface="Arial" pitchFamily="34" charset="-120"/>
              </a:rPr>
              <a:t>Ciphertext: 16 bytes  (bits [127:120] = byte 0 ... [7:0] = byte 15)</a:t>
            </a:r>
            <a:endParaRPr lang="en-US" sz="1200" dirty="0"/>
          </a:p>
        </p:txBody>
      </p:sp>
      <p:sp>
        <p:nvSpPr>
          <p:cNvPr id="45" name="Shape 42"/>
          <p:cNvSpPr/>
          <p:nvPr/>
        </p:nvSpPr>
        <p:spPr>
          <a:xfrm>
            <a:off x="10401300" y="2542032"/>
            <a:ext cx="1097280" cy="0"/>
          </a:xfrm>
          <a:prstGeom prst="line">
            <a:avLst/>
          </a:prstGeom>
          <a:noFill/>
          <a:ln w="19050">
            <a:solidFill>
              <a:srgbClr val="FF5757"/>
            </a:solidFill>
            <a:prstDash val="solid"/>
          </a:ln>
        </p:spPr>
      </p:sp>
      <p:sp>
        <p:nvSpPr>
          <p:cNvPr id="46" name="Text 43"/>
          <p:cNvSpPr txBox="1"/>
          <p:nvPr/>
        </p:nvSpPr>
        <p:spPr>
          <a:xfrm>
            <a:off x="10383012" y="2606040"/>
            <a:ext cx="1261872" cy="274320"/>
          </a:xfrm>
          <a:prstGeom prst="rect">
            <a:avLst/>
          </a:prstGeom>
          <a:noFill/>
          <a:ln/>
        </p:spPr>
        <p:txBody>
          <a:bodyPr wrap="square" lIns="0" tIns="0" rIns="0" bIns="0" rtlCol="0" anchor="t"/>
          <a:lstStyle/>
          <a:p>
            <a:pPr algn="ctr" indent="0" marL="0">
              <a:buNone/>
            </a:pPr>
            <a:r>
              <a:rPr lang="en-US" sz="1200" b="1" dirty="0">
                <a:solidFill>
                  <a:srgbClr val="FF5757"/>
                </a:solidFill>
                <a:latin typeface="Arial" pitchFamily="34" charset="0"/>
                <a:ea typeface="Arial" pitchFamily="34" charset="-122"/>
                <a:cs typeface="Arial" pitchFamily="34" charset="-120"/>
              </a:rPr>
              <a:t>CRC: 2 bytes</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3383280"/>
          <a:ext cx="11091672" cy="914400"/>
        </p:xfrm>
        <a:graphic>
          <a:graphicData uri="http://schemas.openxmlformats.org/drawingml/2006/table">
            <a:tbl>
              <a:tblPr/>
              <a:tblGrid>
                <a:gridCol w="2103120"/>
                <a:gridCol w="2926080"/>
                <a:gridCol w="3200400"/>
                <a:gridCol w="2862072"/>
              </a:tblGrid>
              <a:tr h="384048">
                <a:tc>
                  <a:txBody>
                    <a:bodyPr/>
                    <a:lstStyle/>
                    <a:p>
                      <a:pPr indent="0" marL="0">
                        <a:buNone/>
                      </a:pPr>
                      <a:r>
                        <a:rPr lang="en-US" sz="1300" b="1" dirty="0">
                          <a:solidFill>
                            <a:srgbClr val="FFFFFF"/>
                          </a:solidFill>
                          <a:latin typeface="Arial" pitchFamily="34" charset="0"/>
                          <a:ea typeface="Arial" pitchFamily="34" charset="-122"/>
                          <a:cs typeface="Arial" pitchFamily="34" charset="-120"/>
                        </a:rPr>
                        <a:t>Stage</a:t>
                      </a:r>
                      <a:endParaRPr lang="en-US" sz="1300" dirty="0">
                        <a:latin typeface="Arial" charset="0"/>
                        <a:ea typeface="Arial" charset="0"/>
                        <a:cs typeface="Arial" charset="0"/>
                      </a:endParaRPr>
                    </a:p>
                  </a:txBody>
                  <a:tcPr marL="109728" marR="109728" marT="36576" marB="36576"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004AAD"/>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Input</a:t>
                      </a:r>
                      <a:endParaRPr lang="en-US" sz="1300" dirty="0">
                        <a:latin typeface="Arial" charset="0"/>
                        <a:ea typeface="Arial" charset="0"/>
                        <a:cs typeface="Arial" charset="0"/>
                      </a:endParaRPr>
                    </a:p>
                  </a:txBody>
                  <a:tcPr marL="109728" marR="109728" marT="36576" marB="36576"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004AAD"/>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Processing</a:t>
                      </a:r>
                      <a:endParaRPr lang="en-US" sz="1300" dirty="0">
                        <a:latin typeface="Arial" charset="0"/>
                        <a:ea typeface="Arial" charset="0"/>
                        <a:cs typeface="Arial" charset="0"/>
                      </a:endParaRPr>
                    </a:p>
                  </a:txBody>
                  <a:tcPr marL="109728" marR="109728" marT="36576" marB="36576"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004AAD"/>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Output</a:t>
                      </a:r>
                      <a:endParaRPr lang="en-US" sz="1300" dirty="0">
                        <a:latin typeface="Arial" charset="0"/>
                        <a:ea typeface="Arial" charset="0"/>
                        <a:cs typeface="Arial" charset="0"/>
                      </a:endParaRPr>
                    </a:p>
                  </a:txBody>
                  <a:tcPr marL="109728" marR="109728" marT="36576" marB="36576"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004AAD"/>
                    </a:solidFill>
                  </a:tcPr>
                </a:tc>
              </a:tr>
              <a:tr h="566928">
                <a:tc>
                  <a:txBody>
                    <a:bodyPr/>
                    <a:lstStyle/>
                    <a:p>
                      <a:pPr indent="0" marL="0">
                        <a:buNone/>
                      </a:pPr>
                      <a:r>
                        <a:rPr lang="en-US" sz="1300" b="1" dirty="0">
                          <a:solidFill>
                            <a:srgbClr val="0B1F44"/>
                          </a:solidFill>
                          <a:latin typeface="Arial" pitchFamily="34" charset="0"/>
                          <a:ea typeface="Arial" pitchFamily="34" charset="-122"/>
                          <a:cs typeface="Arial" pitchFamily="34" charset="-120"/>
                        </a:rPr>
                        <a:t>AES-128</a:t>
                      </a:r>
                      <a:endParaRPr lang="en-US" sz="1300" dirty="0">
                        <a:latin typeface="Arial" charset="0"/>
                        <a:ea typeface="Arial" charset="0"/>
                        <a:cs typeface="Arial" charset="0"/>
                      </a:endParaRPr>
                    </a:p>
                  </a:txBody>
                  <a:tcPr marL="109728" marR="109728" marT="36576" marB="36576"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Arial" pitchFamily="34" charset="0"/>
                          <a:ea typeface="Arial" pitchFamily="34" charset="-122"/>
                          <a:cs typeface="Arial" pitchFamily="34" charset="-120"/>
                        </a:rPr>
                        <a:t>128-bit plaintext + 128-bit key</a:t>
                      </a:r>
                      <a:endParaRPr lang="en-US" sz="1300" dirty="0">
                        <a:latin typeface="Arial" charset="0"/>
                        <a:ea typeface="Arial" charset="0"/>
                        <a:cs typeface="Arial" charset="0"/>
                      </a:endParaRPr>
                    </a:p>
                  </a:txBody>
                  <a:tcPr marL="109728" marR="109728" marT="36576" marB="36576"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Arial" pitchFamily="34" charset="0"/>
                          <a:ea typeface="Arial" pitchFamily="34" charset="-122"/>
                          <a:cs typeface="Arial" pitchFamily="34" charset="-120"/>
                        </a:rPr>
                        <a:t>Key expansion + 10 rounds</a:t>
                      </a:r>
                      <a:endParaRPr lang="en-US" sz="1300" dirty="0">
                        <a:latin typeface="Arial" charset="0"/>
                        <a:ea typeface="Arial" charset="0"/>
                        <a:cs typeface="Arial" charset="0"/>
                      </a:endParaRPr>
                    </a:p>
                  </a:txBody>
                  <a:tcPr marL="109728" marR="109728" marT="36576" marB="36576"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Arial" pitchFamily="34" charset="0"/>
                          <a:ea typeface="Arial" pitchFamily="34" charset="-122"/>
                          <a:cs typeface="Arial" pitchFamily="34" charset="-120"/>
                        </a:rPr>
                        <a:t>128-bit ciphertext</a:t>
                      </a:r>
                      <a:endParaRPr lang="en-US" sz="1300" dirty="0">
                        <a:latin typeface="Arial" charset="0"/>
                        <a:ea typeface="Arial" charset="0"/>
                        <a:cs typeface="Arial" charset="0"/>
                      </a:endParaRPr>
                    </a:p>
                  </a:txBody>
                  <a:tcPr marL="109728" marR="109728" marT="36576" marB="36576"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0B1F44"/>
                          </a:solidFill>
                          <a:latin typeface="Arial" pitchFamily="34" charset="0"/>
                          <a:ea typeface="Arial" pitchFamily="34" charset="-122"/>
                          <a:cs typeface="Arial" pitchFamily="34" charset="-120"/>
                        </a:rPr>
                        <a:t>CRC-16/XMODEM</a:t>
                      </a:r>
                      <a:endParaRPr lang="en-US" sz="1300" dirty="0">
                        <a:latin typeface="Arial" charset="0"/>
                        <a:ea typeface="Arial" charset="0"/>
                        <a:cs typeface="Arial" charset="0"/>
                      </a:endParaRPr>
                    </a:p>
                  </a:txBody>
                  <a:tcPr marL="109728" marR="109728" marT="36576" marB="36576"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5F8FD"/>
                    </a:solidFill>
                  </a:tcPr>
                </a:tc>
                <a:tc>
                  <a:txBody>
                    <a:bodyPr/>
                    <a:lstStyle/>
                    <a:p>
                      <a:pPr indent="0" marL="0">
                        <a:buNone/>
                      </a:pPr>
                      <a:r>
                        <a:rPr lang="en-US" sz="1300" dirty="0">
                          <a:solidFill>
                            <a:srgbClr val="1B2333"/>
                          </a:solidFill>
                          <a:latin typeface="Arial" pitchFamily="34" charset="0"/>
                          <a:ea typeface="Arial" pitchFamily="34" charset="-122"/>
                          <a:cs typeface="Arial" pitchFamily="34" charset="-120"/>
                        </a:rPr>
                        <a:t>Ciphertext block</a:t>
                      </a:r>
                      <a:endParaRPr lang="en-US" sz="1300" dirty="0">
                        <a:latin typeface="Arial" charset="0"/>
                        <a:ea typeface="Arial" charset="0"/>
                        <a:cs typeface="Arial" charset="0"/>
                      </a:endParaRPr>
                    </a:p>
                  </a:txBody>
                  <a:tcPr marL="109728" marR="109728" marT="36576" marB="36576"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5F8FD"/>
                    </a:solidFill>
                  </a:tcPr>
                </a:tc>
                <a:tc>
                  <a:txBody>
                    <a:bodyPr/>
                    <a:lstStyle/>
                    <a:p>
                      <a:pPr indent="0" marL="0">
                        <a:buNone/>
                      </a:pPr>
                      <a:r>
                        <a:rPr lang="en-US" sz="1300" dirty="0">
                          <a:solidFill>
                            <a:srgbClr val="1B2333"/>
                          </a:solidFill>
                          <a:latin typeface="Arial" pitchFamily="34" charset="0"/>
                          <a:ea typeface="Arial" pitchFamily="34" charset="-122"/>
                          <a:cs typeface="Arial" pitchFamily="34" charset="-120"/>
                        </a:rPr>
                        <a:t>Polynomial division, bit-serial</a:t>
                      </a:r>
                      <a:endParaRPr lang="en-US" sz="1300" dirty="0">
                        <a:latin typeface="Arial" charset="0"/>
                        <a:ea typeface="Arial" charset="0"/>
                        <a:cs typeface="Arial" charset="0"/>
                      </a:endParaRPr>
                    </a:p>
                  </a:txBody>
                  <a:tcPr marL="109728" marR="109728" marT="36576" marB="36576"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5F8FD"/>
                    </a:solidFill>
                  </a:tcPr>
                </a:tc>
                <a:tc>
                  <a:txBody>
                    <a:bodyPr/>
                    <a:lstStyle/>
                    <a:p>
                      <a:pPr indent="0" marL="0">
                        <a:buNone/>
                      </a:pPr>
                      <a:r>
                        <a:rPr lang="en-US" sz="1300" dirty="0">
                          <a:solidFill>
                            <a:srgbClr val="1B2333"/>
                          </a:solidFill>
                          <a:latin typeface="Arial" pitchFamily="34" charset="0"/>
                          <a:ea typeface="Arial" pitchFamily="34" charset="-122"/>
                          <a:cs typeface="Arial" pitchFamily="34" charset="-120"/>
                        </a:rPr>
                        <a:t>16-bit CRC (144-bit with data)</a:t>
                      </a:r>
                      <a:endParaRPr lang="en-US" sz="1300" dirty="0">
                        <a:latin typeface="Arial" charset="0"/>
                        <a:ea typeface="Arial" charset="0"/>
                        <a:cs typeface="Arial" charset="0"/>
                      </a:endParaRPr>
                    </a:p>
                  </a:txBody>
                  <a:tcPr marL="109728" marR="109728" marT="36576" marB="36576"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5F8FD"/>
                    </a:solidFill>
                  </a:tcPr>
                </a:tc>
              </a:tr>
              <a:tr h="566928">
                <a:tc>
                  <a:txBody>
                    <a:bodyPr/>
                    <a:lstStyle/>
                    <a:p>
                      <a:pPr indent="0" marL="0">
                        <a:buNone/>
                      </a:pPr>
                      <a:r>
                        <a:rPr lang="en-US" sz="1300" b="1" dirty="0">
                          <a:solidFill>
                            <a:srgbClr val="0B1F44"/>
                          </a:solidFill>
                          <a:latin typeface="Arial" pitchFamily="34" charset="0"/>
                          <a:ea typeface="Arial" pitchFamily="34" charset="-122"/>
                          <a:cs typeface="Arial" pitchFamily="34" charset="-120"/>
                        </a:rPr>
                        <a:t>Framing (top-level)</a:t>
                      </a:r>
                      <a:endParaRPr lang="en-US" sz="1300" dirty="0">
                        <a:latin typeface="Arial" charset="0"/>
                        <a:ea typeface="Arial" charset="0"/>
                        <a:cs typeface="Arial" charset="0"/>
                      </a:endParaRPr>
                    </a:p>
                  </a:txBody>
                  <a:tcPr marL="109728" marR="109728" marT="36576" marB="36576"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Arial" pitchFamily="34" charset="0"/>
                          <a:ea typeface="Arial" pitchFamily="34" charset="-122"/>
                          <a:cs typeface="Arial" pitchFamily="34" charset="-120"/>
                        </a:rPr>
                        <a:t>Ciphertext + CRC</a:t>
                      </a:r>
                      <a:endParaRPr lang="en-US" sz="1300" dirty="0">
                        <a:latin typeface="Arial" charset="0"/>
                        <a:ea typeface="Arial" charset="0"/>
                        <a:cs typeface="Arial" charset="0"/>
                      </a:endParaRPr>
                    </a:p>
                  </a:txBody>
                  <a:tcPr marL="109728" marR="109728" marT="36576" marB="36576"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Arial" pitchFamily="34" charset="0"/>
                          <a:ea typeface="Arial" pitchFamily="34" charset="-122"/>
                          <a:cs typeface="Arial" pitchFamily="34" charset="-120"/>
                        </a:rPr>
                        <a:t>Serialize MSB first into bytes</a:t>
                      </a:r>
                      <a:endParaRPr lang="en-US" sz="1300" dirty="0">
                        <a:latin typeface="Arial" charset="0"/>
                        <a:ea typeface="Arial" charset="0"/>
                        <a:cs typeface="Arial" charset="0"/>
                      </a:endParaRPr>
                    </a:p>
                  </a:txBody>
                  <a:tcPr marL="109728" marR="109728" marT="36576" marB="36576"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Arial" pitchFamily="34" charset="0"/>
                          <a:ea typeface="Arial" pitchFamily="34" charset="-122"/>
                          <a:cs typeface="Arial" pitchFamily="34" charset="-120"/>
                        </a:rPr>
                        <a:t>18-byte UART stream</a:t>
                      </a:r>
                      <a:endParaRPr lang="en-US" sz="1300" dirty="0">
                        <a:latin typeface="Arial" charset="0"/>
                        <a:ea typeface="Arial" charset="0"/>
                        <a:cs typeface="Arial" charset="0"/>
                      </a:endParaRPr>
                    </a:p>
                  </a:txBody>
                  <a:tcPr marL="109728" marR="109728" marT="36576" marB="36576"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0B1F44"/>
                          </a:solidFill>
                          <a:latin typeface="Arial" pitchFamily="34" charset="0"/>
                          <a:ea typeface="Arial" pitchFamily="34" charset="-122"/>
                          <a:cs typeface="Arial" pitchFamily="34" charset="-120"/>
                        </a:rPr>
                        <a:t>UART TX / RX</a:t>
                      </a:r>
                      <a:endParaRPr lang="en-US" sz="1300" dirty="0">
                        <a:latin typeface="Arial" charset="0"/>
                        <a:ea typeface="Arial" charset="0"/>
                        <a:cs typeface="Arial" charset="0"/>
                      </a:endParaRPr>
                    </a:p>
                  </a:txBody>
                  <a:tcPr marL="109728" marR="109728" marT="36576" marB="36576"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5F8FD"/>
                    </a:solidFill>
                  </a:tcPr>
                </a:tc>
                <a:tc>
                  <a:txBody>
                    <a:bodyPr/>
                    <a:lstStyle/>
                    <a:p>
                      <a:pPr indent="0" marL="0">
                        <a:buNone/>
                      </a:pPr>
                      <a:r>
                        <a:rPr lang="en-US" sz="1300" dirty="0">
                          <a:solidFill>
                            <a:srgbClr val="1B2333"/>
                          </a:solidFill>
                          <a:latin typeface="Arial" pitchFamily="34" charset="0"/>
                          <a:ea typeface="Arial" pitchFamily="34" charset="-122"/>
                          <a:cs typeface="Arial" pitchFamily="34" charset="-120"/>
                        </a:rPr>
                        <a:t>8-bit byte + tx_en</a:t>
                      </a:r>
                      <a:endParaRPr lang="en-US" sz="1300" dirty="0">
                        <a:latin typeface="Arial" charset="0"/>
                        <a:ea typeface="Arial" charset="0"/>
                        <a:cs typeface="Arial" charset="0"/>
                      </a:endParaRPr>
                    </a:p>
                  </a:txBody>
                  <a:tcPr marL="109728" marR="109728" marT="36576" marB="36576"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5F8FD"/>
                    </a:solidFill>
                  </a:tcPr>
                </a:tc>
                <a:tc>
                  <a:txBody>
                    <a:bodyPr/>
                    <a:lstStyle/>
                    <a:p>
                      <a:pPr indent="0" marL="0">
                        <a:buNone/>
                      </a:pPr>
                      <a:r>
                        <a:rPr lang="en-US" sz="1300" dirty="0">
                          <a:solidFill>
                            <a:srgbClr val="1B2333"/>
                          </a:solidFill>
                          <a:latin typeface="Arial" pitchFamily="34" charset="0"/>
                          <a:ea typeface="Arial" pitchFamily="34" charset="-122"/>
                          <a:cs typeface="Arial" pitchFamily="34" charset="-120"/>
                        </a:rPr>
                        <a:t>Start + 8 data bits + stop; RX samples mid-bit</a:t>
                      </a:r>
                      <a:endParaRPr lang="en-US" sz="1300" dirty="0">
                        <a:latin typeface="Arial" charset="0"/>
                        <a:ea typeface="Arial" charset="0"/>
                        <a:cs typeface="Arial" charset="0"/>
                      </a:endParaRPr>
                    </a:p>
                  </a:txBody>
                  <a:tcPr marL="109728" marR="109728" marT="36576" marB="36576"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5F8FD"/>
                    </a:solidFill>
                  </a:tcPr>
                </a:tc>
                <a:tc>
                  <a:txBody>
                    <a:bodyPr/>
                    <a:lstStyle/>
                    <a:p>
                      <a:pPr indent="0" marL="0">
                        <a:buNone/>
                      </a:pPr>
                      <a:r>
                        <a:rPr lang="en-US" sz="1300" dirty="0">
                          <a:solidFill>
                            <a:srgbClr val="1B2333"/>
                          </a:solidFill>
                          <a:latin typeface="Arial" pitchFamily="34" charset="0"/>
                          <a:ea typeface="Arial" pitchFamily="34" charset="-122"/>
                          <a:cs typeface="Arial" pitchFamily="34" charset="-120"/>
                        </a:rPr>
                        <a:t>Serial line, recovered byte, done / err</a:t>
                      </a:r>
                      <a:endParaRPr lang="en-US" sz="1300" dirty="0">
                        <a:latin typeface="Arial" charset="0"/>
                        <a:ea typeface="Arial" charset="0"/>
                        <a:cs typeface="Arial" charset="0"/>
                      </a:endParaRPr>
                    </a:p>
                  </a:txBody>
                  <a:tcPr marL="109728" marR="109728" marT="36576" marB="36576"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5F8FD"/>
                    </a:solidFill>
                  </a:tcPr>
                </a:tc>
              </a:tr>
            </a:tbl>
          </a:graphicData>
        </a:graphic>
      </p:graphicFrame>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47472"/>
            <a:ext cx="7315200" cy="228600"/>
          </a:xfrm>
          <a:prstGeom prst="rect">
            <a:avLst/>
          </a:prstGeom>
          <a:noFill/>
          <a:ln/>
        </p:spPr>
        <p:txBody>
          <a:bodyPr wrap="square" lIns="0" tIns="0" rIns="0" bIns="0" rtlCol="0" anchor="t"/>
          <a:lstStyle/>
          <a:p>
            <a:pPr indent="0" marL="0">
              <a:buNone/>
            </a:pPr>
            <a:r>
              <a:rPr lang="en-US" sz="1200" b="1" spc="300" kern="0" dirty="0">
                <a:solidFill>
                  <a:srgbClr val="FF5757"/>
                </a:solidFill>
                <a:latin typeface="Arial" pitchFamily="34" charset="0"/>
                <a:ea typeface="Arial" pitchFamily="34" charset="-122"/>
                <a:cs typeface="Arial" pitchFamily="34" charset="-120"/>
              </a:rPr>
              <a:t>03  DEVELOPMENT JOURNEY</a:t>
            </a:r>
            <a:endParaRPr lang="en-US" sz="1200" dirty="0"/>
          </a:p>
        </p:txBody>
      </p:sp>
      <p:sp>
        <p:nvSpPr>
          <p:cNvPr id="3" name="Text 1"/>
          <p:cNvSpPr txBox="1"/>
          <p:nvPr/>
        </p:nvSpPr>
        <p:spPr>
          <a:xfrm>
            <a:off x="548640" y="603504"/>
            <a:ext cx="9966960" cy="685800"/>
          </a:xfrm>
          <a:prstGeom prst="rect">
            <a:avLst/>
          </a:prstGeom>
          <a:noFill/>
          <a:ln/>
        </p:spPr>
        <p:txBody>
          <a:bodyPr wrap="square" lIns="0" tIns="0" rIns="0" bIns="0" rtlCol="0" anchor="ctr"/>
          <a:lstStyle/>
          <a:p>
            <a:pPr indent="0" marL="0">
              <a:buNone/>
            </a:pPr>
            <a:r>
              <a:rPr lang="en-US" sz="3200" b="1" dirty="0">
                <a:solidFill>
                  <a:srgbClr val="0B1F44"/>
                </a:solidFill>
                <a:latin typeface="Arial" pitchFamily="34" charset="0"/>
                <a:ea typeface="Arial" pitchFamily="34" charset="-122"/>
                <a:cs typeface="Arial" pitchFamily="34" charset="-120"/>
              </a:rPr>
              <a:t>UART communication module</a:t>
            </a:r>
            <a:endParaRPr lang="en-US" sz="3200" dirty="0"/>
          </a:p>
        </p:txBody>
      </p:sp>
      <p:pic>
        <p:nvPicPr>
          <p:cNvPr id="4" name="Image 0" descr="/home/claude/assets/logo.png">    </p:cNvPr>
          <p:cNvPicPr>
            <a:picLocks noChangeAspect="1"/>
          </p:cNvPicPr>
          <p:nvPr/>
        </p:nvPicPr>
        <p:blipFill>
          <a:blip r:embed="rId1"/>
          <a:stretch>
            <a:fillRect/>
          </a:stretch>
        </p:blipFill>
        <p:spPr>
          <a:xfrm>
            <a:off x="10744200" y="365760"/>
            <a:ext cx="896112" cy="434340"/>
          </a:xfrm>
          <a:prstGeom prst="rect">
            <a:avLst/>
          </a:prstGeom>
        </p:spPr>
      </p:pic>
      <p:sp>
        <p:nvSpPr>
          <p:cNvPr id="5" name="Text 2"/>
          <p:cNvSpPr txBox="1"/>
          <p:nvPr/>
        </p:nvSpPr>
        <p:spPr>
          <a:xfrm>
            <a:off x="548640" y="6428232"/>
            <a:ext cx="6400800" cy="228600"/>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Secure UART Communication System  ·  NTI Digital Design Project</a:t>
            </a:r>
            <a:endParaRPr lang="en-US" sz="1000" dirty="0"/>
          </a:p>
        </p:txBody>
      </p:sp>
      <p:sp>
        <p:nvSpPr>
          <p:cNvPr id="6" name="Shape 3"/>
          <p:cNvSpPr/>
          <p:nvPr/>
        </p:nvSpPr>
        <p:spPr>
          <a:xfrm>
            <a:off x="548640" y="1554480"/>
            <a:ext cx="6583680" cy="3062655"/>
          </a:xfrm>
          <a:prstGeom prst="roundRect">
            <a:avLst>
              <a:gd name="adj" fmla="val 1791"/>
            </a:avLst>
          </a:prstGeom>
          <a:solidFill>
            <a:srgbClr val="FFFFFF"/>
          </a:solidFill>
          <a:ln w="12700">
            <a:solidFill>
              <a:srgbClr val="D5DEEC"/>
            </a:solidFill>
            <a:prstDash val="solid"/>
          </a:ln>
        </p:spPr>
      </p:sp>
      <p:pic>
        <p:nvPicPr>
          <p:cNvPr id="7" name="Image 1" descr="/home/claude/assets/r2.png">    </p:cNvPr>
          <p:cNvPicPr>
            <a:picLocks noChangeAspect="1"/>
          </p:cNvPicPr>
          <p:nvPr/>
        </p:nvPicPr>
        <p:blipFill>
          <a:blip r:embed="rId2"/>
          <a:stretch>
            <a:fillRect/>
          </a:stretch>
        </p:blipFill>
        <p:spPr>
          <a:xfrm>
            <a:off x="603504" y="1609344"/>
            <a:ext cx="6473952" cy="2952927"/>
          </a:xfrm>
          <a:prstGeom prst="rect">
            <a:avLst/>
          </a:prstGeom>
        </p:spPr>
      </p:pic>
      <p:sp>
        <p:nvSpPr>
          <p:cNvPr id="8" name="Text 4"/>
          <p:cNvSpPr txBox="1"/>
          <p:nvPr/>
        </p:nvSpPr>
        <p:spPr>
          <a:xfrm>
            <a:off x="548640" y="4726863"/>
            <a:ext cx="6583680" cy="274320"/>
          </a:xfrm>
          <a:prstGeom prst="rect">
            <a:avLst/>
          </a:prstGeom>
          <a:noFill/>
          <a:ln/>
        </p:spPr>
        <p:txBody>
          <a:bodyPr wrap="square" lIns="0" tIns="0" rIns="0" bIns="0" rtlCol="0" anchor="t"/>
          <a:lstStyle/>
          <a:p>
            <a:pPr indent="0" marL="0">
              <a:buNone/>
            </a:pPr>
            <a:r>
              <a:rPr lang="en-US" sz="1200" dirty="0">
                <a:solidFill>
                  <a:srgbClr val="5B6472"/>
                </a:solidFill>
                <a:latin typeface="Arial" pitchFamily="34" charset="0"/>
                <a:ea typeface="Arial" pitchFamily="34" charset="-122"/>
                <a:cs typeface="Arial" pitchFamily="34" charset="-120"/>
              </a:rPr>
              <a:t>UART_TOP: transmitter and receiver, with tx looped to rx for verification</a:t>
            </a:r>
            <a:endParaRPr lang="en-US" sz="1200" dirty="0"/>
          </a:p>
        </p:txBody>
      </p:sp>
      <p:sp>
        <p:nvSpPr>
          <p:cNvPr id="9" name="Shape 5"/>
          <p:cNvSpPr/>
          <p:nvPr/>
        </p:nvSpPr>
        <p:spPr>
          <a:xfrm>
            <a:off x="7498080" y="1554480"/>
            <a:ext cx="2011680" cy="1371600"/>
          </a:xfrm>
          <a:prstGeom prst="roundRect">
            <a:avLst>
              <a:gd name="adj" fmla="val 8000"/>
            </a:avLst>
          </a:prstGeom>
          <a:solidFill>
            <a:srgbClr val="004AAD"/>
          </a:solidFill>
          <a:ln w="12700">
            <a:solidFill>
              <a:srgbClr val="004AAD"/>
            </a:solidFill>
            <a:prstDash val="solid"/>
          </a:ln>
        </p:spPr>
      </p:sp>
      <p:sp>
        <p:nvSpPr>
          <p:cNvPr id="10" name="Text 6"/>
          <p:cNvSpPr txBox="1"/>
          <p:nvPr/>
        </p:nvSpPr>
        <p:spPr>
          <a:xfrm>
            <a:off x="7498080" y="1737360"/>
            <a:ext cx="2011680" cy="64008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8-N-1</a:t>
            </a:r>
            <a:endParaRPr lang="en-US" sz="3000" dirty="0"/>
          </a:p>
        </p:txBody>
      </p:sp>
      <p:sp>
        <p:nvSpPr>
          <p:cNvPr id="11" name="Text 7"/>
          <p:cNvSpPr txBox="1"/>
          <p:nvPr/>
        </p:nvSpPr>
        <p:spPr>
          <a:xfrm>
            <a:off x="7589520" y="2395728"/>
            <a:ext cx="1828800" cy="411480"/>
          </a:xfrm>
          <a:prstGeom prst="rect">
            <a:avLst/>
          </a:prstGeom>
          <a:noFill/>
          <a:ln/>
        </p:spPr>
        <p:txBody>
          <a:bodyPr wrap="square" lIns="0" tIns="0" rIns="0" bIns="0" rtlCol="0" anchor="t"/>
          <a:lstStyle/>
          <a:p>
            <a:pPr algn="ctr" indent="0" marL="0">
              <a:buNone/>
            </a:pPr>
            <a:r>
              <a:rPr lang="en-US" sz="1200" dirty="0">
                <a:solidFill>
                  <a:srgbClr val="CADCFC"/>
                </a:solidFill>
                <a:latin typeface="Arial" pitchFamily="34" charset="0"/>
                <a:ea typeface="Arial" pitchFamily="34" charset="-122"/>
                <a:cs typeface="Arial" pitchFamily="34" charset="-120"/>
              </a:rPr>
              <a:t>frame format</a:t>
            </a:r>
            <a:endParaRPr lang="en-US" sz="1200" dirty="0"/>
          </a:p>
        </p:txBody>
      </p:sp>
      <p:sp>
        <p:nvSpPr>
          <p:cNvPr id="12" name="Shape 8"/>
          <p:cNvSpPr/>
          <p:nvPr/>
        </p:nvSpPr>
        <p:spPr>
          <a:xfrm>
            <a:off x="9646920" y="1554480"/>
            <a:ext cx="2011680" cy="1371600"/>
          </a:xfrm>
          <a:prstGeom prst="roundRect">
            <a:avLst>
              <a:gd name="adj" fmla="val 8000"/>
            </a:avLst>
          </a:prstGeom>
          <a:solidFill>
            <a:srgbClr val="004AAD"/>
          </a:solidFill>
          <a:ln w="12700">
            <a:solidFill>
              <a:srgbClr val="004AAD"/>
            </a:solidFill>
            <a:prstDash val="solid"/>
          </a:ln>
        </p:spPr>
      </p:sp>
      <p:sp>
        <p:nvSpPr>
          <p:cNvPr id="13" name="Text 9"/>
          <p:cNvSpPr txBox="1"/>
          <p:nvPr/>
        </p:nvSpPr>
        <p:spPr>
          <a:xfrm>
            <a:off x="9646920" y="1737360"/>
            <a:ext cx="2011680" cy="64008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9600</a:t>
            </a:r>
            <a:endParaRPr lang="en-US" sz="3000" dirty="0"/>
          </a:p>
        </p:txBody>
      </p:sp>
      <p:sp>
        <p:nvSpPr>
          <p:cNvPr id="14" name="Text 10"/>
          <p:cNvSpPr txBox="1"/>
          <p:nvPr/>
        </p:nvSpPr>
        <p:spPr>
          <a:xfrm>
            <a:off x="9738360" y="2395728"/>
            <a:ext cx="1828800" cy="411480"/>
          </a:xfrm>
          <a:prstGeom prst="rect">
            <a:avLst/>
          </a:prstGeom>
          <a:noFill/>
          <a:ln/>
        </p:spPr>
        <p:txBody>
          <a:bodyPr wrap="square" lIns="0" tIns="0" rIns="0" bIns="0" rtlCol="0" anchor="t"/>
          <a:lstStyle/>
          <a:p>
            <a:pPr algn="ctr" indent="0" marL="0">
              <a:buNone/>
            </a:pPr>
            <a:r>
              <a:rPr lang="en-US" sz="1200" dirty="0">
                <a:solidFill>
                  <a:srgbClr val="CADCFC"/>
                </a:solidFill>
                <a:latin typeface="Arial" pitchFamily="34" charset="0"/>
                <a:ea typeface="Arial" pitchFamily="34" charset="-122"/>
                <a:cs typeface="Arial" pitchFamily="34" charset="-120"/>
              </a:rPr>
              <a:t>baud rate (default)</a:t>
            </a:r>
            <a:endParaRPr lang="en-US" sz="1200" dirty="0"/>
          </a:p>
        </p:txBody>
      </p:sp>
      <p:sp>
        <p:nvSpPr>
          <p:cNvPr id="15" name="Shape 11"/>
          <p:cNvSpPr/>
          <p:nvPr/>
        </p:nvSpPr>
        <p:spPr>
          <a:xfrm>
            <a:off x="7498080" y="3108960"/>
            <a:ext cx="2011680" cy="1371600"/>
          </a:xfrm>
          <a:prstGeom prst="roundRect">
            <a:avLst>
              <a:gd name="adj" fmla="val 8000"/>
            </a:avLst>
          </a:prstGeom>
          <a:solidFill>
            <a:srgbClr val="004AAD"/>
          </a:solidFill>
          <a:ln w="12700">
            <a:solidFill>
              <a:srgbClr val="004AAD"/>
            </a:solidFill>
            <a:prstDash val="solid"/>
          </a:ln>
        </p:spPr>
      </p:sp>
      <p:sp>
        <p:nvSpPr>
          <p:cNvPr id="16" name="Text 12"/>
          <p:cNvSpPr txBox="1"/>
          <p:nvPr/>
        </p:nvSpPr>
        <p:spPr>
          <a:xfrm>
            <a:off x="7498080" y="3291840"/>
            <a:ext cx="2011680" cy="64008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50 MHz</a:t>
            </a:r>
            <a:endParaRPr lang="en-US" sz="3000" dirty="0"/>
          </a:p>
        </p:txBody>
      </p:sp>
      <p:sp>
        <p:nvSpPr>
          <p:cNvPr id="17" name="Text 13"/>
          <p:cNvSpPr txBox="1"/>
          <p:nvPr/>
        </p:nvSpPr>
        <p:spPr>
          <a:xfrm>
            <a:off x="7589520" y="3950208"/>
            <a:ext cx="1828800" cy="411480"/>
          </a:xfrm>
          <a:prstGeom prst="rect">
            <a:avLst/>
          </a:prstGeom>
          <a:noFill/>
          <a:ln/>
        </p:spPr>
        <p:txBody>
          <a:bodyPr wrap="square" lIns="0" tIns="0" rIns="0" bIns="0" rtlCol="0" anchor="t"/>
          <a:lstStyle/>
          <a:p>
            <a:pPr algn="ctr" indent="0" marL="0">
              <a:buNone/>
            </a:pPr>
            <a:r>
              <a:rPr lang="en-US" sz="1200" dirty="0">
                <a:solidFill>
                  <a:srgbClr val="CADCFC"/>
                </a:solidFill>
                <a:latin typeface="Arial" pitchFamily="34" charset="0"/>
                <a:ea typeface="Arial" pitchFamily="34" charset="-122"/>
                <a:cs typeface="Arial" pitchFamily="34" charset="-120"/>
              </a:rPr>
              <a:t>system clock</a:t>
            </a:r>
            <a:endParaRPr lang="en-US" sz="1200" dirty="0"/>
          </a:p>
        </p:txBody>
      </p:sp>
      <p:sp>
        <p:nvSpPr>
          <p:cNvPr id="18" name="Shape 14"/>
          <p:cNvSpPr/>
          <p:nvPr/>
        </p:nvSpPr>
        <p:spPr>
          <a:xfrm>
            <a:off x="9646920" y="3108960"/>
            <a:ext cx="2011680" cy="1371600"/>
          </a:xfrm>
          <a:prstGeom prst="roundRect">
            <a:avLst>
              <a:gd name="adj" fmla="val 8000"/>
            </a:avLst>
          </a:prstGeom>
          <a:solidFill>
            <a:srgbClr val="004AAD"/>
          </a:solidFill>
          <a:ln w="12700">
            <a:solidFill>
              <a:srgbClr val="004AAD"/>
            </a:solidFill>
            <a:prstDash val="solid"/>
          </a:ln>
        </p:spPr>
      </p:sp>
      <p:sp>
        <p:nvSpPr>
          <p:cNvPr id="19" name="Text 15"/>
          <p:cNvSpPr txBox="1"/>
          <p:nvPr/>
        </p:nvSpPr>
        <p:spPr>
          <a:xfrm>
            <a:off x="9646920" y="3291840"/>
            <a:ext cx="2011680" cy="64008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10 bit</a:t>
            </a:r>
            <a:endParaRPr lang="en-US" sz="3000" dirty="0"/>
          </a:p>
        </p:txBody>
      </p:sp>
      <p:sp>
        <p:nvSpPr>
          <p:cNvPr id="20" name="Text 16"/>
          <p:cNvSpPr txBox="1"/>
          <p:nvPr/>
        </p:nvSpPr>
        <p:spPr>
          <a:xfrm>
            <a:off x="9738360" y="3950208"/>
            <a:ext cx="1828800" cy="411480"/>
          </a:xfrm>
          <a:prstGeom prst="rect">
            <a:avLst/>
          </a:prstGeom>
          <a:noFill/>
          <a:ln/>
        </p:spPr>
        <p:txBody>
          <a:bodyPr wrap="square" lIns="0" tIns="0" rIns="0" bIns="0" rtlCol="0" anchor="t"/>
          <a:lstStyle/>
          <a:p>
            <a:pPr algn="ctr" indent="0" marL="0">
              <a:buNone/>
            </a:pPr>
            <a:r>
              <a:rPr lang="en-US" sz="1200" dirty="0">
                <a:solidFill>
                  <a:srgbClr val="CADCFC"/>
                </a:solidFill>
                <a:latin typeface="Arial" pitchFamily="34" charset="0"/>
                <a:ea typeface="Arial" pitchFamily="34" charset="-122"/>
                <a:cs typeface="Arial" pitchFamily="34" charset="-120"/>
              </a:rPr>
              <a:t>start + 8 data + stop</a:t>
            </a:r>
            <a:endParaRPr lang="en-US" sz="1200" dirty="0"/>
          </a:p>
        </p:txBody>
      </p:sp>
      <p:sp>
        <p:nvSpPr>
          <p:cNvPr id="21" name="Shape 17"/>
          <p:cNvSpPr/>
          <p:nvPr/>
        </p:nvSpPr>
        <p:spPr>
          <a:xfrm>
            <a:off x="7498080" y="4709160"/>
            <a:ext cx="4160520" cy="1417320"/>
          </a:xfrm>
          <a:prstGeom prst="roundRect">
            <a:avLst>
              <a:gd name="adj" fmla="val 7742"/>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22" name="Text 18"/>
          <p:cNvSpPr txBox="1"/>
          <p:nvPr/>
        </p:nvSpPr>
        <p:spPr>
          <a:xfrm>
            <a:off x="7680960" y="4828032"/>
            <a:ext cx="3840480" cy="1234440"/>
          </a:xfrm>
          <a:prstGeom prst="rect">
            <a:avLst/>
          </a:prstGeom>
          <a:noFill/>
          <a:ln/>
        </p:spPr>
        <p:txBody>
          <a:bodyPr wrap="square" lIns="0" tIns="0" rIns="0" bIns="0" rtlCol="0" anchor="t"/>
          <a:lstStyle/>
          <a:p>
            <a:pPr indent="0" marL="0">
              <a:spcAft>
                <a:spcPts val="300"/>
              </a:spcAft>
              <a:buNone/>
            </a:pPr>
            <a:r>
              <a:rPr lang="en-US" sz="1400" b="1" dirty="0">
                <a:solidFill>
                  <a:srgbClr val="0B1F44"/>
                </a:solidFill>
                <a:latin typeface="Arial" pitchFamily="34" charset="0"/>
                <a:ea typeface="Arial" pitchFamily="34" charset="-122"/>
                <a:cs typeface="Arial" pitchFamily="34" charset="-120"/>
              </a:rPr>
              <a:t>Status signals</a:t>
            </a:r>
            <a:endParaRPr lang="en-US" sz="1400" dirty="0"/>
          </a:p>
          <a:p>
            <a:pPr marL="342900" indent="-342900">
              <a:spcAft>
                <a:spcPts val="300"/>
              </a:spcAft>
              <a:buSzPct val="100000"/>
              <a:buChar char="•"/>
            </a:pPr>
            <a:r>
              <a:rPr lang="en-US" sz="1250" dirty="0">
                <a:solidFill>
                  <a:srgbClr val="1B2333"/>
                </a:solidFill>
                <a:latin typeface="Arial" pitchFamily="34" charset="0"/>
                <a:ea typeface="Arial" pitchFamily="34" charset="-122"/>
                <a:cs typeface="Arial" pitchFamily="34" charset="-120"/>
              </a:rPr>
              <a:t>busy: a byte is in flight, do not load another</a:t>
            </a:r>
            <a:endParaRPr lang="en-US" sz="1400" dirty="0"/>
          </a:p>
          <a:p>
            <a:pPr marL="342900" indent="-342900">
              <a:spcAft>
                <a:spcPts val="300"/>
              </a:spcAft>
              <a:buSzPct val="100000"/>
              <a:buChar char="•"/>
            </a:pPr>
            <a:r>
              <a:rPr lang="en-US" sz="1250" dirty="0">
                <a:solidFill>
                  <a:srgbClr val="1B2333"/>
                </a:solidFill>
                <a:latin typeface="Arial" pitchFamily="34" charset="0"/>
                <a:ea typeface="Arial" pitchFamily="34" charset="-122"/>
                <a:cs typeface="Arial" pitchFamily="34" charset="-120"/>
              </a:rPr>
              <a:t>done: pulse when a byte completes</a:t>
            </a:r>
            <a:endParaRPr lang="en-US" sz="1400" dirty="0"/>
          </a:p>
          <a:p>
            <a:pPr marL="342900" indent="-342900">
              <a:spcAft>
                <a:spcPts val="300"/>
              </a:spcAft>
              <a:buSzPct val="100000"/>
              <a:buChar char="•"/>
            </a:pPr>
            <a:r>
              <a:rPr lang="en-US" sz="1250" dirty="0">
                <a:solidFill>
                  <a:srgbClr val="1B2333"/>
                </a:solidFill>
                <a:latin typeface="Arial" pitchFamily="34" charset="0"/>
                <a:ea typeface="Arial" pitchFamily="34" charset="-122"/>
                <a:cs typeface="Arial" pitchFamily="34" charset="-120"/>
              </a:rPr>
              <a:t>err: invalid stop bit (framing error)</a:t>
            </a:r>
            <a:endParaRPr lang="en-US" sz="1400" dirty="0"/>
          </a:p>
        </p:txBody>
      </p:sp>
      <p:sp>
        <p:nvSpPr>
          <p:cNvPr id="23" name="Shape 19"/>
          <p:cNvSpPr/>
          <p:nvPr/>
        </p:nvSpPr>
        <p:spPr>
          <a:xfrm>
            <a:off x="548640" y="5029200"/>
            <a:ext cx="6583680" cy="1143000"/>
          </a:xfrm>
          <a:prstGeom prst="roundRect">
            <a:avLst>
              <a:gd name="adj" fmla="val 9600"/>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24" name="Text 20"/>
          <p:cNvSpPr txBox="1"/>
          <p:nvPr/>
        </p:nvSpPr>
        <p:spPr>
          <a:xfrm>
            <a:off x="777240" y="5138928"/>
            <a:ext cx="6126480" cy="960120"/>
          </a:xfrm>
          <a:prstGeom prst="rect">
            <a:avLst/>
          </a:prstGeom>
          <a:noFill/>
          <a:ln/>
        </p:spPr>
        <p:txBody>
          <a:bodyPr wrap="square" lIns="0" tIns="0" rIns="0" bIns="0" rtlCol="0" anchor="t"/>
          <a:lstStyle/>
          <a:p>
            <a:pPr indent="0" marL="0">
              <a:spcAft>
                <a:spcPts val="300"/>
              </a:spcAft>
              <a:buNone/>
            </a:pPr>
            <a:r>
              <a:rPr lang="en-US" sz="1400" b="1" dirty="0">
                <a:solidFill>
                  <a:srgbClr val="0B1F44"/>
                </a:solidFill>
                <a:latin typeface="Arial" pitchFamily="34" charset="0"/>
                <a:ea typeface="Arial" pitchFamily="34" charset="-122"/>
                <a:cs typeface="Arial" pitchFamily="34" charset="-120"/>
              </a:rPr>
              <a:t>Reset inputs</a:t>
            </a:r>
            <a:endParaRPr lang="en-US" sz="1400" dirty="0"/>
          </a:p>
          <a:p>
            <a:pPr marL="342900" indent="-342900">
              <a:spcAft>
                <a:spcPts val="300"/>
              </a:spcAft>
              <a:buSzPct val="100000"/>
              <a:buChar char="•"/>
            </a:pPr>
            <a:r>
              <a:rPr lang="en-US" sz="1250" dirty="0">
                <a:solidFill>
                  <a:srgbClr val="1B2333"/>
                </a:solidFill>
                <a:latin typeface="Arial" pitchFamily="34" charset="0"/>
                <a:ea typeface="Arial" pitchFamily="34" charset="-122"/>
                <a:cs typeface="Arial" pitchFamily="34" charset="-120"/>
              </a:rPr>
              <a:t>rst: synchronous, active high</a:t>
            </a:r>
            <a:endParaRPr lang="en-US" sz="1400" dirty="0"/>
          </a:p>
          <a:p>
            <a:pPr marL="342900" indent="-342900">
              <a:spcAft>
                <a:spcPts val="300"/>
              </a:spcAft>
              <a:buSzPct val="100000"/>
              <a:buChar char="•"/>
            </a:pPr>
            <a:r>
              <a:rPr lang="en-US" sz="1250" dirty="0">
                <a:solidFill>
                  <a:srgbClr val="1B2333"/>
                </a:solidFill>
                <a:latin typeface="Arial" pitchFamily="34" charset="0"/>
                <a:ea typeface="Arial" pitchFamily="34" charset="-122"/>
                <a:cs typeface="Arial" pitchFamily="34" charset="-120"/>
              </a:rPr>
              <a:t>arst_n: asynchronous, active low</a:t>
            </a:r>
            <a:endParaRPr lang="en-US"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47472"/>
            <a:ext cx="7315200" cy="228600"/>
          </a:xfrm>
          <a:prstGeom prst="rect">
            <a:avLst/>
          </a:prstGeom>
          <a:noFill/>
          <a:ln/>
        </p:spPr>
        <p:txBody>
          <a:bodyPr wrap="square" lIns="0" tIns="0" rIns="0" bIns="0" rtlCol="0" anchor="t"/>
          <a:lstStyle/>
          <a:p>
            <a:pPr indent="0" marL="0">
              <a:buNone/>
            </a:pPr>
            <a:r>
              <a:rPr lang="en-US" sz="1200" b="1" spc="300" kern="0" dirty="0">
                <a:solidFill>
                  <a:srgbClr val="FF5757"/>
                </a:solidFill>
                <a:latin typeface="Arial" pitchFamily="34" charset="0"/>
                <a:ea typeface="Arial" pitchFamily="34" charset="-122"/>
                <a:cs typeface="Arial" pitchFamily="34" charset="-120"/>
              </a:rPr>
              <a:t>03  DEVELOPMENT JOURNEY</a:t>
            </a:r>
            <a:endParaRPr lang="en-US" sz="1200" dirty="0"/>
          </a:p>
        </p:txBody>
      </p:sp>
      <p:sp>
        <p:nvSpPr>
          <p:cNvPr id="3" name="Text 1"/>
          <p:cNvSpPr txBox="1"/>
          <p:nvPr/>
        </p:nvSpPr>
        <p:spPr>
          <a:xfrm>
            <a:off x="548640" y="603504"/>
            <a:ext cx="9966960" cy="685800"/>
          </a:xfrm>
          <a:prstGeom prst="rect">
            <a:avLst/>
          </a:prstGeom>
          <a:noFill/>
          <a:ln/>
        </p:spPr>
        <p:txBody>
          <a:bodyPr wrap="square" lIns="0" tIns="0" rIns="0" bIns="0" rtlCol="0" anchor="ctr"/>
          <a:lstStyle/>
          <a:p>
            <a:pPr indent="0" marL="0">
              <a:buNone/>
            </a:pPr>
            <a:r>
              <a:rPr lang="en-US" sz="3200" b="1" dirty="0">
                <a:solidFill>
                  <a:srgbClr val="0B1F44"/>
                </a:solidFill>
                <a:latin typeface="Arial" pitchFamily="34" charset="0"/>
                <a:ea typeface="Arial" pitchFamily="34" charset="-122"/>
                <a:cs typeface="Arial" pitchFamily="34" charset="-120"/>
              </a:rPr>
              <a:t>UART transmitter and receiver operation</a:t>
            </a:r>
            <a:endParaRPr lang="en-US" sz="3200" dirty="0"/>
          </a:p>
        </p:txBody>
      </p:sp>
      <p:pic>
        <p:nvPicPr>
          <p:cNvPr id="4" name="Image 0" descr="/home/claude/assets/logo.png">    </p:cNvPr>
          <p:cNvPicPr>
            <a:picLocks noChangeAspect="1"/>
          </p:cNvPicPr>
          <p:nvPr/>
        </p:nvPicPr>
        <p:blipFill>
          <a:blip r:embed="rId1"/>
          <a:stretch>
            <a:fillRect/>
          </a:stretch>
        </p:blipFill>
        <p:spPr>
          <a:xfrm>
            <a:off x="10744200" y="365760"/>
            <a:ext cx="896112" cy="434340"/>
          </a:xfrm>
          <a:prstGeom prst="rect">
            <a:avLst/>
          </a:prstGeom>
        </p:spPr>
      </p:pic>
      <p:sp>
        <p:nvSpPr>
          <p:cNvPr id="5" name="Text 2"/>
          <p:cNvSpPr txBox="1"/>
          <p:nvPr/>
        </p:nvSpPr>
        <p:spPr>
          <a:xfrm>
            <a:off x="548640" y="6428232"/>
            <a:ext cx="6400800" cy="228600"/>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Secure UART Communication System  ·  NTI Digital Design Project</a:t>
            </a:r>
            <a:endParaRPr lang="en-US" sz="1000" dirty="0"/>
          </a:p>
        </p:txBody>
      </p:sp>
      <p:sp>
        <p:nvSpPr>
          <p:cNvPr id="6" name="Text 3"/>
          <p:cNvSpPr txBox="1"/>
          <p:nvPr/>
        </p:nvSpPr>
        <p:spPr>
          <a:xfrm>
            <a:off x="548640" y="1463040"/>
            <a:ext cx="7315200" cy="320040"/>
          </a:xfrm>
          <a:prstGeom prst="rect">
            <a:avLst/>
          </a:prstGeom>
          <a:noFill/>
          <a:ln/>
        </p:spPr>
        <p:txBody>
          <a:bodyPr wrap="square" lIns="0" tIns="0" rIns="0" bIns="0" rtlCol="0" anchor="t"/>
          <a:lstStyle/>
          <a:p>
            <a:pPr indent="0" marL="0">
              <a:buNone/>
            </a:pPr>
            <a:r>
              <a:rPr lang="en-US" sz="1600" b="1" dirty="0">
                <a:solidFill>
                  <a:srgbClr val="004AAD"/>
                </a:solidFill>
                <a:latin typeface="Arial" pitchFamily="34" charset="0"/>
                <a:ea typeface="Arial" pitchFamily="34" charset="-122"/>
                <a:cs typeface="Arial" pitchFamily="34" charset="-120"/>
              </a:rPr>
              <a:t>Transmitter  (FSM: IDLE, ON)</a:t>
            </a:r>
            <a:endParaRPr lang="en-US" sz="1600" dirty="0"/>
          </a:p>
        </p:txBody>
      </p:sp>
      <p:sp>
        <p:nvSpPr>
          <p:cNvPr id="7" name="Shape 4"/>
          <p:cNvSpPr/>
          <p:nvPr/>
        </p:nvSpPr>
        <p:spPr>
          <a:xfrm>
            <a:off x="548640" y="1874520"/>
            <a:ext cx="2514600" cy="1417320"/>
          </a:xfrm>
          <a:prstGeom prst="roundRect">
            <a:avLst>
              <a:gd name="adj" fmla="val 7742"/>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8" name="Shape 5"/>
          <p:cNvSpPr/>
          <p:nvPr/>
        </p:nvSpPr>
        <p:spPr>
          <a:xfrm>
            <a:off x="731520" y="2057400"/>
            <a:ext cx="384048" cy="384048"/>
          </a:xfrm>
          <a:prstGeom prst="ellipse">
            <a:avLst/>
          </a:prstGeom>
          <a:solidFill>
            <a:srgbClr val="004AAD"/>
          </a:solidFill>
          <a:ln w="12700">
            <a:solidFill>
              <a:srgbClr val="004AAD"/>
            </a:solidFill>
            <a:prstDash val="solid"/>
          </a:ln>
        </p:spPr>
      </p:sp>
      <p:sp>
        <p:nvSpPr>
          <p:cNvPr id="9" name="Text 6"/>
          <p:cNvSpPr txBox="1"/>
          <p:nvPr/>
        </p:nvSpPr>
        <p:spPr>
          <a:xfrm>
            <a:off x="731520" y="20574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7"/>
          <p:cNvSpPr txBox="1"/>
          <p:nvPr/>
        </p:nvSpPr>
        <p:spPr>
          <a:xfrm>
            <a:off x="1234440" y="2057400"/>
            <a:ext cx="1691640" cy="384048"/>
          </a:xfrm>
          <a:prstGeom prst="rect">
            <a:avLst/>
          </a:prstGeom>
          <a:noFill/>
          <a:ln/>
        </p:spPr>
        <p:txBody>
          <a:bodyPr wrap="square" lIns="0" tIns="0" rIns="0" bIns="0" rtlCol="0" anchor="ctr"/>
          <a:lstStyle/>
          <a:p>
            <a:pPr indent="0" marL="0">
              <a:buNone/>
            </a:pPr>
            <a:r>
              <a:rPr lang="en-US" sz="1400" b="1" dirty="0">
                <a:solidFill>
                  <a:srgbClr val="0B1F44"/>
                </a:solidFill>
                <a:latin typeface="Arial" pitchFamily="34" charset="0"/>
                <a:ea typeface="Arial" pitchFamily="34" charset="-122"/>
                <a:cs typeface="Arial" pitchFamily="34" charset="-120"/>
              </a:rPr>
              <a:t>Idle</a:t>
            </a:r>
            <a:endParaRPr lang="en-US" sz="1400" dirty="0"/>
          </a:p>
        </p:txBody>
      </p:sp>
      <p:sp>
        <p:nvSpPr>
          <p:cNvPr id="11" name="Text 8"/>
          <p:cNvSpPr txBox="1"/>
          <p:nvPr/>
        </p:nvSpPr>
        <p:spPr>
          <a:xfrm>
            <a:off x="731520" y="2560320"/>
            <a:ext cx="2148840" cy="685800"/>
          </a:xfrm>
          <a:prstGeom prst="rect">
            <a:avLst/>
          </a:prstGeom>
          <a:noFill/>
          <a:ln/>
        </p:spPr>
        <p:txBody>
          <a:bodyPr wrap="square" lIns="0" tIns="0" rIns="0" bIns="0" rtlCol="0" anchor="t"/>
          <a:lstStyle/>
          <a:p>
            <a:pPr indent="0" marL="0">
              <a:buNone/>
            </a:pPr>
            <a:r>
              <a:rPr lang="en-US" sz="1250" dirty="0">
                <a:solidFill>
                  <a:srgbClr val="1B2333"/>
                </a:solidFill>
                <a:latin typeface="Arial" pitchFamily="34" charset="0"/>
                <a:ea typeface="Arial" pitchFamily="34" charset="-122"/>
                <a:cs typeface="Arial" pitchFamily="34" charset="-120"/>
              </a:rPr>
              <a:t>Wait in IDLE with the tx line held high.</a:t>
            </a:r>
            <a:endParaRPr lang="en-US" sz="1250" dirty="0"/>
          </a:p>
        </p:txBody>
      </p:sp>
      <p:sp>
        <p:nvSpPr>
          <p:cNvPr id="12" name="Shape 9"/>
          <p:cNvSpPr/>
          <p:nvPr/>
        </p:nvSpPr>
        <p:spPr>
          <a:xfrm>
            <a:off x="3090672" y="2583180"/>
            <a:ext cx="289865" cy="0"/>
          </a:xfrm>
          <a:prstGeom prst="line">
            <a:avLst/>
          </a:prstGeom>
          <a:noFill/>
          <a:ln w="22225">
            <a:solidFill>
              <a:srgbClr val="004AAD"/>
            </a:solidFill>
            <a:prstDash val="solid"/>
            <a:tailEnd type="triangle"/>
          </a:ln>
        </p:spPr>
      </p:sp>
      <p:sp>
        <p:nvSpPr>
          <p:cNvPr id="13" name="Shape 10"/>
          <p:cNvSpPr/>
          <p:nvPr/>
        </p:nvSpPr>
        <p:spPr>
          <a:xfrm>
            <a:off x="3407969" y="1874520"/>
            <a:ext cx="2514600" cy="1417320"/>
          </a:xfrm>
          <a:prstGeom prst="roundRect">
            <a:avLst>
              <a:gd name="adj" fmla="val 7742"/>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14" name="Shape 11"/>
          <p:cNvSpPr/>
          <p:nvPr/>
        </p:nvSpPr>
        <p:spPr>
          <a:xfrm>
            <a:off x="3590849" y="2057400"/>
            <a:ext cx="384048" cy="384048"/>
          </a:xfrm>
          <a:prstGeom prst="ellipse">
            <a:avLst/>
          </a:prstGeom>
          <a:solidFill>
            <a:srgbClr val="004AAD"/>
          </a:solidFill>
          <a:ln w="12700">
            <a:solidFill>
              <a:srgbClr val="004AAD"/>
            </a:solidFill>
            <a:prstDash val="solid"/>
          </a:ln>
        </p:spPr>
      </p:sp>
      <p:sp>
        <p:nvSpPr>
          <p:cNvPr id="15" name="Text 12"/>
          <p:cNvSpPr txBox="1"/>
          <p:nvPr/>
        </p:nvSpPr>
        <p:spPr>
          <a:xfrm>
            <a:off x="3590849" y="20574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txBox="1"/>
          <p:nvPr/>
        </p:nvSpPr>
        <p:spPr>
          <a:xfrm>
            <a:off x="4093769" y="2057400"/>
            <a:ext cx="1691640" cy="384048"/>
          </a:xfrm>
          <a:prstGeom prst="rect">
            <a:avLst/>
          </a:prstGeom>
          <a:noFill/>
          <a:ln/>
        </p:spPr>
        <p:txBody>
          <a:bodyPr wrap="square" lIns="0" tIns="0" rIns="0" bIns="0" rtlCol="0" anchor="ctr"/>
          <a:lstStyle/>
          <a:p>
            <a:pPr indent="0" marL="0">
              <a:buNone/>
            </a:pPr>
            <a:r>
              <a:rPr lang="en-US" sz="1400" b="1" dirty="0">
                <a:solidFill>
                  <a:srgbClr val="0B1F44"/>
                </a:solidFill>
                <a:latin typeface="Arial" pitchFamily="34" charset="0"/>
                <a:ea typeface="Arial" pitchFamily="34" charset="-122"/>
                <a:cs typeface="Arial" pitchFamily="34" charset="-120"/>
              </a:rPr>
              <a:t>Load frame</a:t>
            </a:r>
            <a:endParaRPr lang="en-US" sz="1400" dirty="0"/>
          </a:p>
        </p:txBody>
      </p:sp>
      <p:sp>
        <p:nvSpPr>
          <p:cNvPr id="17" name="Text 14"/>
          <p:cNvSpPr txBox="1"/>
          <p:nvPr/>
        </p:nvSpPr>
        <p:spPr>
          <a:xfrm>
            <a:off x="3590849" y="2560320"/>
            <a:ext cx="2148840" cy="685800"/>
          </a:xfrm>
          <a:prstGeom prst="rect">
            <a:avLst/>
          </a:prstGeom>
          <a:noFill/>
          <a:ln/>
        </p:spPr>
        <p:txBody>
          <a:bodyPr wrap="square" lIns="0" tIns="0" rIns="0" bIns="0" rtlCol="0" anchor="t"/>
          <a:lstStyle/>
          <a:p>
            <a:pPr indent="0" marL="0">
              <a:buNone/>
            </a:pPr>
            <a:r>
              <a:rPr lang="en-US" sz="1250" dirty="0">
                <a:solidFill>
                  <a:srgbClr val="1B2333"/>
                </a:solidFill>
                <a:latin typeface="Arial" pitchFamily="34" charset="0"/>
                <a:ea typeface="Arial" pitchFamily="34" charset="-122"/>
                <a:cs typeface="Arial" pitchFamily="34" charset="-120"/>
              </a:rPr>
              <a:t>Build the 10-bit frame {1, data, 0}: stop, 8 data bits, start.</a:t>
            </a:r>
            <a:endParaRPr lang="en-US" sz="1250" dirty="0"/>
          </a:p>
        </p:txBody>
      </p:sp>
      <p:sp>
        <p:nvSpPr>
          <p:cNvPr id="18" name="Shape 15"/>
          <p:cNvSpPr/>
          <p:nvPr/>
        </p:nvSpPr>
        <p:spPr>
          <a:xfrm>
            <a:off x="5950001" y="2583180"/>
            <a:ext cx="289865" cy="0"/>
          </a:xfrm>
          <a:prstGeom prst="line">
            <a:avLst/>
          </a:prstGeom>
          <a:noFill/>
          <a:ln w="22225">
            <a:solidFill>
              <a:srgbClr val="004AAD"/>
            </a:solidFill>
            <a:prstDash val="solid"/>
            <a:tailEnd type="triangle"/>
          </a:ln>
        </p:spPr>
      </p:sp>
      <p:sp>
        <p:nvSpPr>
          <p:cNvPr id="19" name="Shape 16"/>
          <p:cNvSpPr/>
          <p:nvPr/>
        </p:nvSpPr>
        <p:spPr>
          <a:xfrm>
            <a:off x="6267298" y="1874520"/>
            <a:ext cx="2514600" cy="1417320"/>
          </a:xfrm>
          <a:prstGeom prst="roundRect">
            <a:avLst>
              <a:gd name="adj" fmla="val 7742"/>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20" name="Shape 17"/>
          <p:cNvSpPr/>
          <p:nvPr/>
        </p:nvSpPr>
        <p:spPr>
          <a:xfrm>
            <a:off x="6450178" y="2057400"/>
            <a:ext cx="384048" cy="384048"/>
          </a:xfrm>
          <a:prstGeom prst="ellipse">
            <a:avLst/>
          </a:prstGeom>
          <a:solidFill>
            <a:srgbClr val="004AAD"/>
          </a:solidFill>
          <a:ln w="12700">
            <a:solidFill>
              <a:srgbClr val="004AAD"/>
            </a:solidFill>
            <a:prstDash val="solid"/>
          </a:ln>
        </p:spPr>
      </p:sp>
      <p:sp>
        <p:nvSpPr>
          <p:cNvPr id="21" name="Text 18"/>
          <p:cNvSpPr txBox="1"/>
          <p:nvPr/>
        </p:nvSpPr>
        <p:spPr>
          <a:xfrm>
            <a:off x="6450178" y="20574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2" name="Text 19"/>
          <p:cNvSpPr txBox="1"/>
          <p:nvPr/>
        </p:nvSpPr>
        <p:spPr>
          <a:xfrm>
            <a:off x="6953098" y="2057400"/>
            <a:ext cx="1691640" cy="384048"/>
          </a:xfrm>
          <a:prstGeom prst="rect">
            <a:avLst/>
          </a:prstGeom>
          <a:noFill/>
          <a:ln/>
        </p:spPr>
        <p:txBody>
          <a:bodyPr wrap="square" lIns="0" tIns="0" rIns="0" bIns="0" rtlCol="0" anchor="ctr"/>
          <a:lstStyle/>
          <a:p>
            <a:pPr indent="0" marL="0">
              <a:buNone/>
            </a:pPr>
            <a:r>
              <a:rPr lang="en-US" sz="1400" b="1" dirty="0">
                <a:solidFill>
                  <a:srgbClr val="0B1F44"/>
                </a:solidFill>
                <a:latin typeface="Arial" pitchFamily="34" charset="0"/>
                <a:ea typeface="Arial" pitchFamily="34" charset="-122"/>
                <a:cs typeface="Arial" pitchFamily="34" charset="-120"/>
              </a:rPr>
              <a:t>Transmit</a:t>
            </a:r>
            <a:endParaRPr lang="en-US" sz="1400" dirty="0"/>
          </a:p>
        </p:txBody>
      </p:sp>
      <p:sp>
        <p:nvSpPr>
          <p:cNvPr id="23" name="Text 20"/>
          <p:cNvSpPr txBox="1"/>
          <p:nvPr/>
        </p:nvSpPr>
        <p:spPr>
          <a:xfrm>
            <a:off x="6450178" y="2560320"/>
            <a:ext cx="2148840" cy="685800"/>
          </a:xfrm>
          <a:prstGeom prst="rect">
            <a:avLst/>
          </a:prstGeom>
          <a:noFill/>
          <a:ln/>
        </p:spPr>
        <p:txBody>
          <a:bodyPr wrap="square" lIns="0" tIns="0" rIns="0" bIns="0" rtlCol="0" anchor="t"/>
          <a:lstStyle/>
          <a:p>
            <a:pPr indent="0" marL="0">
              <a:buNone/>
            </a:pPr>
            <a:r>
              <a:rPr lang="en-US" sz="1250" dirty="0">
                <a:solidFill>
                  <a:srgbClr val="1B2333"/>
                </a:solidFill>
                <a:latin typeface="Arial" pitchFamily="34" charset="0"/>
                <a:ea typeface="Arial" pitchFamily="34" charset="-122"/>
                <a:cs typeface="Arial" pitchFamily="34" charset="-120"/>
              </a:rPr>
              <a:t>Go to ON, assert busy, shift out one bit per baud tick, LSB first.</a:t>
            </a:r>
            <a:endParaRPr lang="en-US" sz="1250" dirty="0"/>
          </a:p>
        </p:txBody>
      </p:sp>
      <p:sp>
        <p:nvSpPr>
          <p:cNvPr id="24" name="Shape 21"/>
          <p:cNvSpPr/>
          <p:nvPr/>
        </p:nvSpPr>
        <p:spPr>
          <a:xfrm>
            <a:off x="8809330" y="2583180"/>
            <a:ext cx="289865" cy="0"/>
          </a:xfrm>
          <a:prstGeom prst="line">
            <a:avLst/>
          </a:prstGeom>
          <a:noFill/>
          <a:ln w="22225">
            <a:solidFill>
              <a:srgbClr val="004AAD"/>
            </a:solidFill>
            <a:prstDash val="solid"/>
            <a:tailEnd type="triangle"/>
          </a:ln>
        </p:spPr>
      </p:sp>
      <p:sp>
        <p:nvSpPr>
          <p:cNvPr id="25" name="Shape 22"/>
          <p:cNvSpPr/>
          <p:nvPr/>
        </p:nvSpPr>
        <p:spPr>
          <a:xfrm>
            <a:off x="9126626" y="1874520"/>
            <a:ext cx="2514600" cy="1417320"/>
          </a:xfrm>
          <a:prstGeom prst="roundRect">
            <a:avLst>
              <a:gd name="adj" fmla="val 7742"/>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26" name="Shape 23"/>
          <p:cNvSpPr/>
          <p:nvPr/>
        </p:nvSpPr>
        <p:spPr>
          <a:xfrm>
            <a:off x="9309506" y="2057400"/>
            <a:ext cx="384048" cy="384048"/>
          </a:xfrm>
          <a:prstGeom prst="ellipse">
            <a:avLst/>
          </a:prstGeom>
          <a:solidFill>
            <a:srgbClr val="004AAD"/>
          </a:solidFill>
          <a:ln w="12700">
            <a:solidFill>
              <a:srgbClr val="004AAD"/>
            </a:solidFill>
            <a:prstDash val="solid"/>
          </a:ln>
        </p:spPr>
      </p:sp>
      <p:sp>
        <p:nvSpPr>
          <p:cNvPr id="27" name="Text 24"/>
          <p:cNvSpPr txBox="1"/>
          <p:nvPr/>
        </p:nvSpPr>
        <p:spPr>
          <a:xfrm>
            <a:off x="9309506" y="20574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8" name="Text 25"/>
          <p:cNvSpPr txBox="1"/>
          <p:nvPr/>
        </p:nvSpPr>
        <p:spPr>
          <a:xfrm>
            <a:off x="9812426" y="2057400"/>
            <a:ext cx="1691640" cy="384048"/>
          </a:xfrm>
          <a:prstGeom prst="rect">
            <a:avLst/>
          </a:prstGeom>
          <a:noFill/>
          <a:ln/>
        </p:spPr>
        <p:txBody>
          <a:bodyPr wrap="square" lIns="0" tIns="0" rIns="0" bIns="0" rtlCol="0" anchor="ctr"/>
          <a:lstStyle/>
          <a:p>
            <a:pPr indent="0" marL="0">
              <a:buNone/>
            </a:pPr>
            <a:r>
              <a:rPr lang="en-US" sz="1400" b="1" dirty="0">
                <a:solidFill>
                  <a:srgbClr val="0B1F44"/>
                </a:solidFill>
                <a:latin typeface="Arial" pitchFamily="34" charset="0"/>
                <a:ea typeface="Arial" pitchFamily="34" charset="-122"/>
                <a:cs typeface="Arial" pitchFamily="34" charset="-120"/>
              </a:rPr>
              <a:t>Complete</a:t>
            </a:r>
            <a:endParaRPr lang="en-US" sz="1400" dirty="0"/>
          </a:p>
        </p:txBody>
      </p:sp>
      <p:sp>
        <p:nvSpPr>
          <p:cNvPr id="29" name="Text 26"/>
          <p:cNvSpPr txBox="1"/>
          <p:nvPr/>
        </p:nvSpPr>
        <p:spPr>
          <a:xfrm>
            <a:off x="9309506" y="2560320"/>
            <a:ext cx="2148840" cy="685800"/>
          </a:xfrm>
          <a:prstGeom prst="rect">
            <a:avLst/>
          </a:prstGeom>
          <a:noFill/>
          <a:ln/>
        </p:spPr>
        <p:txBody>
          <a:bodyPr wrap="square" lIns="0" tIns="0" rIns="0" bIns="0" rtlCol="0" anchor="t"/>
          <a:lstStyle/>
          <a:p>
            <a:pPr indent="0" marL="0">
              <a:buNone/>
            </a:pPr>
            <a:r>
              <a:rPr lang="en-US" sz="1250" dirty="0">
                <a:solidFill>
                  <a:srgbClr val="1B2333"/>
                </a:solidFill>
                <a:latin typeface="Arial" pitchFamily="34" charset="0"/>
                <a:ea typeface="Arial" pitchFamily="34" charset="-122"/>
                <a:cs typeface="Arial" pitchFamily="34" charset="-120"/>
              </a:rPr>
              <a:t>Clear busy, pulse done, reset the index and return to IDLE.</a:t>
            </a:r>
            <a:endParaRPr lang="en-US" sz="1250" dirty="0"/>
          </a:p>
        </p:txBody>
      </p:sp>
      <p:sp>
        <p:nvSpPr>
          <p:cNvPr id="30" name="Text 27"/>
          <p:cNvSpPr txBox="1"/>
          <p:nvPr/>
        </p:nvSpPr>
        <p:spPr>
          <a:xfrm>
            <a:off x="548640" y="3611880"/>
            <a:ext cx="7315200" cy="320040"/>
          </a:xfrm>
          <a:prstGeom prst="rect">
            <a:avLst/>
          </a:prstGeom>
          <a:noFill/>
          <a:ln/>
        </p:spPr>
        <p:txBody>
          <a:bodyPr wrap="square" lIns="0" tIns="0" rIns="0" bIns="0" rtlCol="0" anchor="t"/>
          <a:lstStyle/>
          <a:p>
            <a:pPr indent="0" marL="0">
              <a:buNone/>
            </a:pPr>
            <a:r>
              <a:rPr lang="en-US" sz="1600" b="1" dirty="0">
                <a:solidFill>
                  <a:srgbClr val="FF5757"/>
                </a:solidFill>
                <a:latin typeface="Arial" pitchFamily="34" charset="0"/>
                <a:ea typeface="Arial" pitchFamily="34" charset="-122"/>
                <a:cs typeface="Arial" pitchFamily="34" charset="-120"/>
              </a:rPr>
              <a:t>Receiver</a:t>
            </a:r>
            <a:endParaRPr lang="en-US" sz="1600" dirty="0"/>
          </a:p>
        </p:txBody>
      </p:sp>
      <p:sp>
        <p:nvSpPr>
          <p:cNvPr id="31" name="Shape 28"/>
          <p:cNvSpPr/>
          <p:nvPr/>
        </p:nvSpPr>
        <p:spPr>
          <a:xfrm>
            <a:off x="548640" y="4023360"/>
            <a:ext cx="2514600" cy="1417320"/>
          </a:xfrm>
          <a:prstGeom prst="roundRect">
            <a:avLst>
              <a:gd name="adj" fmla="val 7742"/>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32" name="Shape 29"/>
          <p:cNvSpPr/>
          <p:nvPr/>
        </p:nvSpPr>
        <p:spPr>
          <a:xfrm>
            <a:off x="731520" y="4206240"/>
            <a:ext cx="384048" cy="384048"/>
          </a:xfrm>
          <a:prstGeom prst="ellipse">
            <a:avLst/>
          </a:prstGeom>
          <a:solidFill>
            <a:srgbClr val="FF5757"/>
          </a:solidFill>
          <a:ln w="12700">
            <a:solidFill>
              <a:srgbClr val="FF5757"/>
            </a:solidFill>
            <a:prstDash val="solid"/>
          </a:ln>
        </p:spPr>
      </p:sp>
      <p:sp>
        <p:nvSpPr>
          <p:cNvPr id="33" name="Text 30"/>
          <p:cNvSpPr txBox="1"/>
          <p:nvPr/>
        </p:nvSpPr>
        <p:spPr>
          <a:xfrm>
            <a:off x="731520" y="4206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34" name="Text 31"/>
          <p:cNvSpPr txBox="1"/>
          <p:nvPr/>
        </p:nvSpPr>
        <p:spPr>
          <a:xfrm>
            <a:off x="1234440" y="4206240"/>
            <a:ext cx="1691640" cy="384048"/>
          </a:xfrm>
          <a:prstGeom prst="rect">
            <a:avLst/>
          </a:prstGeom>
          <a:noFill/>
          <a:ln/>
        </p:spPr>
        <p:txBody>
          <a:bodyPr wrap="square" lIns="0" tIns="0" rIns="0" bIns="0" rtlCol="0" anchor="ctr"/>
          <a:lstStyle/>
          <a:p>
            <a:pPr indent="0" marL="0">
              <a:buNone/>
            </a:pPr>
            <a:r>
              <a:rPr lang="en-US" sz="1400" b="1" dirty="0">
                <a:solidFill>
                  <a:srgbClr val="0B1F44"/>
                </a:solidFill>
                <a:latin typeface="Arial" pitchFamily="34" charset="0"/>
                <a:ea typeface="Arial" pitchFamily="34" charset="-122"/>
                <a:cs typeface="Arial" pitchFamily="34" charset="-120"/>
              </a:rPr>
              <a:t>Detect start</a:t>
            </a:r>
            <a:endParaRPr lang="en-US" sz="1400" dirty="0"/>
          </a:p>
        </p:txBody>
      </p:sp>
      <p:sp>
        <p:nvSpPr>
          <p:cNvPr id="35" name="Text 32"/>
          <p:cNvSpPr txBox="1"/>
          <p:nvPr/>
        </p:nvSpPr>
        <p:spPr>
          <a:xfrm>
            <a:off x="731520" y="4709160"/>
            <a:ext cx="2148840" cy="685800"/>
          </a:xfrm>
          <a:prstGeom prst="rect">
            <a:avLst/>
          </a:prstGeom>
          <a:noFill/>
          <a:ln/>
        </p:spPr>
        <p:txBody>
          <a:bodyPr wrap="square" lIns="0" tIns="0" rIns="0" bIns="0" rtlCol="0" anchor="t"/>
          <a:lstStyle/>
          <a:p>
            <a:pPr indent="0" marL="0">
              <a:buNone/>
            </a:pPr>
            <a:r>
              <a:rPr lang="en-US" sz="1250" dirty="0">
                <a:solidFill>
                  <a:srgbClr val="1B2333"/>
                </a:solidFill>
                <a:latin typeface="Arial" pitchFamily="34" charset="0"/>
                <a:ea typeface="Arial" pitchFamily="34" charset="-122"/>
                <a:cs typeface="Arial" pitchFamily="34" charset="-120"/>
              </a:rPr>
              <a:t>Watch rx in IDLE for a falling edge (high to low).</a:t>
            </a:r>
            <a:endParaRPr lang="en-US" sz="1250" dirty="0"/>
          </a:p>
        </p:txBody>
      </p:sp>
      <p:sp>
        <p:nvSpPr>
          <p:cNvPr id="36" name="Shape 33"/>
          <p:cNvSpPr/>
          <p:nvPr/>
        </p:nvSpPr>
        <p:spPr>
          <a:xfrm>
            <a:off x="3090672" y="4732020"/>
            <a:ext cx="289865" cy="0"/>
          </a:xfrm>
          <a:prstGeom prst="line">
            <a:avLst/>
          </a:prstGeom>
          <a:noFill/>
          <a:ln w="22225">
            <a:solidFill>
              <a:srgbClr val="FF5757"/>
            </a:solidFill>
            <a:prstDash val="solid"/>
            <a:tailEnd type="triangle"/>
          </a:ln>
        </p:spPr>
      </p:sp>
      <p:sp>
        <p:nvSpPr>
          <p:cNvPr id="37" name="Shape 34"/>
          <p:cNvSpPr/>
          <p:nvPr/>
        </p:nvSpPr>
        <p:spPr>
          <a:xfrm>
            <a:off x="3407969" y="4023360"/>
            <a:ext cx="2514600" cy="1417320"/>
          </a:xfrm>
          <a:prstGeom prst="roundRect">
            <a:avLst>
              <a:gd name="adj" fmla="val 7742"/>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38" name="Shape 35"/>
          <p:cNvSpPr/>
          <p:nvPr/>
        </p:nvSpPr>
        <p:spPr>
          <a:xfrm>
            <a:off x="3590849" y="4206240"/>
            <a:ext cx="384048" cy="384048"/>
          </a:xfrm>
          <a:prstGeom prst="ellipse">
            <a:avLst/>
          </a:prstGeom>
          <a:solidFill>
            <a:srgbClr val="FF5757"/>
          </a:solidFill>
          <a:ln w="12700">
            <a:solidFill>
              <a:srgbClr val="FF5757"/>
            </a:solidFill>
            <a:prstDash val="solid"/>
          </a:ln>
        </p:spPr>
      </p:sp>
      <p:sp>
        <p:nvSpPr>
          <p:cNvPr id="39" name="Text 36"/>
          <p:cNvSpPr txBox="1"/>
          <p:nvPr/>
        </p:nvSpPr>
        <p:spPr>
          <a:xfrm>
            <a:off x="3590849" y="4206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40" name="Text 37"/>
          <p:cNvSpPr txBox="1"/>
          <p:nvPr/>
        </p:nvSpPr>
        <p:spPr>
          <a:xfrm>
            <a:off x="4093769" y="4206240"/>
            <a:ext cx="1691640" cy="384048"/>
          </a:xfrm>
          <a:prstGeom prst="rect">
            <a:avLst/>
          </a:prstGeom>
          <a:noFill/>
          <a:ln/>
        </p:spPr>
        <p:txBody>
          <a:bodyPr wrap="square" lIns="0" tIns="0" rIns="0" bIns="0" rtlCol="0" anchor="ctr"/>
          <a:lstStyle/>
          <a:p>
            <a:pPr indent="0" marL="0">
              <a:buNone/>
            </a:pPr>
            <a:r>
              <a:rPr lang="en-US" sz="1400" b="1" dirty="0">
                <a:solidFill>
                  <a:srgbClr val="0B1F44"/>
                </a:solidFill>
                <a:latin typeface="Arial" pitchFamily="34" charset="0"/>
                <a:ea typeface="Arial" pitchFamily="34" charset="-122"/>
                <a:cs typeface="Arial" pitchFamily="34" charset="-120"/>
              </a:rPr>
              <a:t>Mid-bit sample</a:t>
            </a:r>
            <a:endParaRPr lang="en-US" sz="1400" dirty="0"/>
          </a:p>
        </p:txBody>
      </p:sp>
      <p:sp>
        <p:nvSpPr>
          <p:cNvPr id="41" name="Text 38"/>
          <p:cNvSpPr txBox="1"/>
          <p:nvPr/>
        </p:nvSpPr>
        <p:spPr>
          <a:xfrm>
            <a:off x="3590849" y="4709160"/>
            <a:ext cx="2148840" cy="685800"/>
          </a:xfrm>
          <a:prstGeom prst="rect">
            <a:avLst/>
          </a:prstGeom>
          <a:noFill/>
          <a:ln/>
        </p:spPr>
        <p:txBody>
          <a:bodyPr wrap="square" lIns="0" tIns="0" rIns="0" bIns="0" rtlCol="0" anchor="t"/>
          <a:lstStyle/>
          <a:p>
            <a:pPr indent="0" marL="0">
              <a:buNone/>
            </a:pPr>
            <a:r>
              <a:rPr lang="en-US" sz="1250" dirty="0">
                <a:solidFill>
                  <a:srgbClr val="1B2333"/>
                </a:solidFill>
                <a:latin typeface="Arial" pitchFamily="34" charset="0"/>
                <a:ea typeface="Arial" pitchFamily="34" charset="-122"/>
                <a:cs typeface="Arial" pitchFamily="34" charset="-120"/>
              </a:rPr>
              <a:t>Wait 1.5 bit periods to land mid start bit, then 1 bit period per data bit.</a:t>
            </a:r>
            <a:endParaRPr lang="en-US" sz="1250" dirty="0"/>
          </a:p>
        </p:txBody>
      </p:sp>
      <p:sp>
        <p:nvSpPr>
          <p:cNvPr id="42" name="Shape 39"/>
          <p:cNvSpPr/>
          <p:nvPr/>
        </p:nvSpPr>
        <p:spPr>
          <a:xfrm>
            <a:off x="5950001" y="4732020"/>
            <a:ext cx="289865" cy="0"/>
          </a:xfrm>
          <a:prstGeom prst="line">
            <a:avLst/>
          </a:prstGeom>
          <a:noFill/>
          <a:ln w="22225">
            <a:solidFill>
              <a:srgbClr val="FF5757"/>
            </a:solidFill>
            <a:prstDash val="solid"/>
            <a:tailEnd type="triangle"/>
          </a:ln>
        </p:spPr>
      </p:sp>
      <p:sp>
        <p:nvSpPr>
          <p:cNvPr id="43" name="Shape 40"/>
          <p:cNvSpPr/>
          <p:nvPr/>
        </p:nvSpPr>
        <p:spPr>
          <a:xfrm>
            <a:off x="6267298" y="4023360"/>
            <a:ext cx="2514600" cy="1417320"/>
          </a:xfrm>
          <a:prstGeom prst="roundRect">
            <a:avLst>
              <a:gd name="adj" fmla="val 7742"/>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44" name="Shape 41"/>
          <p:cNvSpPr/>
          <p:nvPr/>
        </p:nvSpPr>
        <p:spPr>
          <a:xfrm>
            <a:off x="6450178" y="4206240"/>
            <a:ext cx="384048" cy="384048"/>
          </a:xfrm>
          <a:prstGeom prst="ellipse">
            <a:avLst/>
          </a:prstGeom>
          <a:solidFill>
            <a:srgbClr val="FF5757"/>
          </a:solidFill>
          <a:ln w="12700">
            <a:solidFill>
              <a:srgbClr val="FF5757"/>
            </a:solidFill>
            <a:prstDash val="solid"/>
          </a:ln>
        </p:spPr>
      </p:sp>
      <p:sp>
        <p:nvSpPr>
          <p:cNvPr id="45" name="Text 42"/>
          <p:cNvSpPr txBox="1"/>
          <p:nvPr/>
        </p:nvSpPr>
        <p:spPr>
          <a:xfrm>
            <a:off x="6450178" y="4206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46" name="Text 43"/>
          <p:cNvSpPr txBox="1"/>
          <p:nvPr/>
        </p:nvSpPr>
        <p:spPr>
          <a:xfrm>
            <a:off x="6953098" y="4206240"/>
            <a:ext cx="1691640" cy="384048"/>
          </a:xfrm>
          <a:prstGeom prst="rect">
            <a:avLst/>
          </a:prstGeom>
          <a:noFill/>
          <a:ln/>
        </p:spPr>
        <p:txBody>
          <a:bodyPr wrap="square" lIns="0" tIns="0" rIns="0" bIns="0" rtlCol="0" anchor="ctr"/>
          <a:lstStyle/>
          <a:p>
            <a:pPr indent="0" marL="0">
              <a:buNone/>
            </a:pPr>
            <a:r>
              <a:rPr lang="en-US" sz="1400" b="1" dirty="0">
                <a:solidFill>
                  <a:srgbClr val="0B1F44"/>
                </a:solidFill>
                <a:latin typeface="Arial" pitchFamily="34" charset="0"/>
                <a:ea typeface="Arial" pitchFamily="34" charset="-122"/>
                <a:cs typeface="Arial" pitchFamily="34" charset="-120"/>
              </a:rPr>
              <a:t>Shift in</a:t>
            </a:r>
            <a:endParaRPr lang="en-US" sz="1400" dirty="0"/>
          </a:p>
        </p:txBody>
      </p:sp>
      <p:sp>
        <p:nvSpPr>
          <p:cNvPr id="47" name="Text 44"/>
          <p:cNvSpPr txBox="1"/>
          <p:nvPr/>
        </p:nvSpPr>
        <p:spPr>
          <a:xfrm>
            <a:off x="6450178" y="4709160"/>
            <a:ext cx="2148840" cy="685800"/>
          </a:xfrm>
          <a:prstGeom prst="rect">
            <a:avLst/>
          </a:prstGeom>
          <a:noFill/>
          <a:ln/>
        </p:spPr>
        <p:txBody>
          <a:bodyPr wrap="square" lIns="0" tIns="0" rIns="0" bIns="0" rtlCol="0" anchor="t"/>
          <a:lstStyle/>
          <a:p>
            <a:pPr indent="0" marL="0">
              <a:buNone/>
            </a:pPr>
            <a:r>
              <a:rPr lang="en-US" sz="1250" dirty="0">
                <a:solidFill>
                  <a:srgbClr val="1B2333"/>
                </a:solidFill>
                <a:latin typeface="Arial" pitchFamily="34" charset="0"/>
                <a:ea typeface="Arial" pitchFamily="34" charset="-122"/>
                <a:cs typeface="Arial" pitchFamily="34" charset="-120"/>
              </a:rPr>
              <a:t>Shift the 8 bits LSB first into the SIPO register on each tick.</a:t>
            </a:r>
            <a:endParaRPr lang="en-US" sz="1250" dirty="0"/>
          </a:p>
        </p:txBody>
      </p:sp>
      <p:sp>
        <p:nvSpPr>
          <p:cNvPr id="48" name="Shape 45"/>
          <p:cNvSpPr/>
          <p:nvPr/>
        </p:nvSpPr>
        <p:spPr>
          <a:xfrm>
            <a:off x="8809330" y="4732020"/>
            <a:ext cx="289865" cy="0"/>
          </a:xfrm>
          <a:prstGeom prst="line">
            <a:avLst/>
          </a:prstGeom>
          <a:noFill/>
          <a:ln w="22225">
            <a:solidFill>
              <a:srgbClr val="FF5757"/>
            </a:solidFill>
            <a:prstDash val="solid"/>
            <a:tailEnd type="triangle"/>
          </a:ln>
        </p:spPr>
      </p:sp>
      <p:sp>
        <p:nvSpPr>
          <p:cNvPr id="49" name="Shape 46"/>
          <p:cNvSpPr/>
          <p:nvPr/>
        </p:nvSpPr>
        <p:spPr>
          <a:xfrm>
            <a:off x="9126626" y="4023360"/>
            <a:ext cx="2514600" cy="1417320"/>
          </a:xfrm>
          <a:prstGeom prst="roundRect">
            <a:avLst>
              <a:gd name="adj" fmla="val 7742"/>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50" name="Shape 47"/>
          <p:cNvSpPr/>
          <p:nvPr/>
        </p:nvSpPr>
        <p:spPr>
          <a:xfrm>
            <a:off x="9309506" y="4206240"/>
            <a:ext cx="384048" cy="384048"/>
          </a:xfrm>
          <a:prstGeom prst="ellipse">
            <a:avLst/>
          </a:prstGeom>
          <a:solidFill>
            <a:srgbClr val="FF5757"/>
          </a:solidFill>
          <a:ln w="12700">
            <a:solidFill>
              <a:srgbClr val="FF5757"/>
            </a:solidFill>
            <a:prstDash val="solid"/>
          </a:ln>
        </p:spPr>
      </p:sp>
      <p:sp>
        <p:nvSpPr>
          <p:cNvPr id="51" name="Text 48"/>
          <p:cNvSpPr txBox="1"/>
          <p:nvPr/>
        </p:nvSpPr>
        <p:spPr>
          <a:xfrm>
            <a:off x="9309506" y="4206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52" name="Text 49"/>
          <p:cNvSpPr txBox="1"/>
          <p:nvPr/>
        </p:nvSpPr>
        <p:spPr>
          <a:xfrm>
            <a:off x="9812426" y="4206240"/>
            <a:ext cx="1691640" cy="384048"/>
          </a:xfrm>
          <a:prstGeom prst="rect">
            <a:avLst/>
          </a:prstGeom>
          <a:noFill/>
          <a:ln/>
        </p:spPr>
        <p:txBody>
          <a:bodyPr wrap="square" lIns="0" tIns="0" rIns="0" bIns="0" rtlCol="0" anchor="ctr"/>
          <a:lstStyle/>
          <a:p>
            <a:pPr indent="0" marL="0">
              <a:buNone/>
            </a:pPr>
            <a:r>
              <a:rPr lang="en-US" sz="1400" b="1" dirty="0">
                <a:solidFill>
                  <a:srgbClr val="0B1F44"/>
                </a:solidFill>
                <a:latin typeface="Arial" pitchFamily="34" charset="0"/>
                <a:ea typeface="Arial" pitchFamily="34" charset="-122"/>
                <a:cs typeface="Arial" pitchFamily="34" charset="-120"/>
              </a:rPr>
              <a:t>Validate stop</a:t>
            </a:r>
            <a:endParaRPr lang="en-US" sz="1400" dirty="0"/>
          </a:p>
        </p:txBody>
      </p:sp>
      <p:sp>
        <p:nvSpPr>
          <p:cNvPr id="53" name="Text 50"/>
          <p:cNvSpPr txBox="1"/>
          <p:nvPr/>
        </p:nvSpPr>
        <p:spPr>
          <a:xfrm>
            <a:off x="9309506" y="4709160"/>
            <a:ext cx="2148840" cy="685800"/>
          </a:xfrm>
          <a:prstGeom prst="rect">
            <a:avLst/>
          </a:prstGeom>
          <a:noFill/>
          <a:ln/>
        </p:spPr>
        <p:txBody>
          <a:bodyPr wrap="square" lIns="0" tIns="0" rIns="0" bIns="0" rtlCol="0" anchor="t"/>
          <a:lstStyle/>
          <a:p>
            <a:pPr indent="0" marL="0">
              <a:buNone/>
            </a:pPr>
            <a:r>
              <a:rPr lang="en-US" sz="1250" dirty="0">
                <a:solidFill>
                  <a:srgbClr val="1B2333"/>
                </a:solidFill>
                <a:latin typeface="Arial" pitchFamily="34" charset="0"/>
                <a:ea typeface="Arial" pitchFamily="34" charset="-122"/>
                <a:cs typeface="Arial" pitchFamily="34" charset="-120"/>
              </a:rPr>
              <a:t>Stop bit high: assert done. Stop bit low: enter ERR and assert err.</a:t>
            </a:r>
            <a:endParaRPr lang="en-US" sz="1250" dirty="0"/>
          </a:p>
        </p:txBody>
      </p:sp>
      <p:sp>
        <p:nvSpPr>
          <p:cNvPr id="54" name="Shape 51"/>
          <p:cNvSpPr/>
          <p:nvPr/>
        </p:nvSpPr>
        <p:spPr>
          <a:xfrm>
            <a:off x="548640" y="5760720"/>
            <a:ext cx="11091672" cy="502920"/>
          </a:xfrm>
          <a:prstGeom prst="roundRect">
            <a:avLst>
              <a:gd name="adj" fmla="val 21818"/>
            </a:avLst>
          </a:prstGeom>
          <a:solidFill>
            <a:srgbClr val="0B1F44"/>
          </a:solidFill>
          <a:ln w="12700">
            <a:solidFill>
              <a:srgbClr val="0B1F44"/>
            </a:solidFill>
            <a:prstDash val="solid"/>
          </a:ln>
        </p:spPr>
      </p:sp>
      <p:sp>
        <p:nvSpPr>
          <p:cNvPr id="55" name="Text 52"/>
          <p:cNvSpPr txBox="1"/>
          <p:nvPr/>
        </p:nvSpPr>
        <p:spPr>
          <a:xfrm>
            <a:off x="822960" y="5760720"/>
            <a:ext cx="10515600" cy="502920"/>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Sampling in the middle of each bit period makes the receiver robust against edge jitter.</a:t>
            </a:r>
            <a:endParaRPr lang="en-US"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47472"/>
            <a:ext cx="7315200" cy="228600"/>
          </a:xfrm>
          <a:prstGeom prst="rect">
            <a:avLst/>
          </a:prstGeom>
          <a:noFill/>
          <a:ln/>
        </p:spPr>
        <p:txBody>
          <a:bodyPr wrap="square" lIns="0" tIns="0" rIns="0" bIns="0" rtlCol="0" anchor="t"/>
          <a:lstStyle/>
          <a:p>
            <a:pPr indent="0" marL="0">
              <a:buNone/>
            </a:pPr>
            <a:r>
              <a:rPr lang="en-US" sz="1200" b="1" spc="300" kern="0" dirty="0">
                <a:solidFill>
                  <a:srgbClr val="FF5757"/>
                </a:solidFill>
                <a:latin typeface="Arial" pitchFamily="34" charset="0"/>
                <a:ea typeface="Arial" pitchFamily="34" charset="-122"/>
                <a:cs typeface="Arial" pitchFamily="34" charset="-120"/>
              </a:rPr>
              <a:t>03  DEVELOPMENT JOURNEY</a:t>
            </a:r>
            <a:endParaRPr lang="en-US" sz="1200" dirty="0"/>
          </a:p>
        </p:txBody>
      </p:sp>
      <p:sp>
        <p:nvSpPr>
          <p:cNvPr id="3" name="Text 1"/>
          <p:cNvSpPr txBox="1"/>
          <p:nvPr/>
        </p:nvSpPr>
        <p:spPr>
          <a:xfrm>
            <a:off x="548640" y="603504"/>
            <a:ext cx="9966960" cy="685800"/>
          </a:xfrm>
          <a:prstGeom prst="rect">
            <a:avLst/>
          </a:prstGeom>
          <a:noFill/>
          <a:ln/>
        </p:spPr>
        <p:txBody>
          <a:bodyPr wrap="square" lIns="0" tIns="0" rIns="0" bIns="0" rtlCol="0" anchor="ctr"/>
          <a:lstStyle/>
          <a:p>
            <a:pPr indent="0" marL="0">
              <a:buNone/>
            </a:pPr>
            <a:r>
              <a:rPr lang="en-US" sz="3200" b="1" dirty="0">
                <a:solidFill>
                  <a:srgbClr val="0B1F44"/>
                </a:solidFill>
                <a:latin typeface="Arial" pitchFamily="34" charset="0"/>
                <a:ea typeface="Arial" pitchFamily="34" charset="-122"/>
                <a:cs typeface="Arial" pitchFamily="34" charset="-120"/>
              </a:rPr>
              <a:t>UART verification: loopback testbench</a:t>
            </a:r>
            <a:endParaRPr lang="en-US" sz="3200" dirty="0"/>
          </a:p>
        </p:txBody>
      </p:sp>
      <p:pic>
        <p:nvPicPr>
          <p:cNvPr id="4" name="Image 0" descr="/home/claude/assets/logo.png">    </p:cNvPr>
          <p:cNvPicPr>
            <a:picLocks noChangeAspect="1"/>
          </p:cNvPicPr>
          <p:nvPr/>
        </p:nvPicPr>
        <p:blipFill>
          <a:blip r:embed="rId1"/>
          <a:stretch>
            <a:fillRect/>
          </a:stretch>
        </p:blipFill>
        <p:spPr>
          <a:xfrm>
            <a:off x="10744200" y="365760"/>
            <a:ext cx="896112" cy="434340"/>
          </a:xfrm>
          <a:prstGeom prst="rect">
            <a:avLst/>
          </a:prstGeom>
        </p:spPr>
      </p:pic>
      <p:sp>
        <p:nvSpPr>
          <p:cNvPr id="5" name="Text 2"/>
          <p:cNvSpPr txBox="1"/>
          <p:nvPr/>
        </p:nvSpPr>
        <p:spPr>
          <a:xfrm>
            <a:off x="548640" y="6428232"/>
            <a:ext cx="6400800" cy="228600"/>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Secure UART Communication System  ·  NTI Digital Design Project</a:t>
            </a:r>
            <a:endParaRPr lang="en-US" sz="1000" dirty="0"/>
          </a:p>
        </p:txBody>
      </p:sp>
      <p:sp>
        <p:nvSpPr>
          <p:cNvPr id="6" name="Text 3"/>
          <p:cNvSpPr txBox="1"/>
          <p:nvPr/>
        </p:nvSpPr>
        <p:spPr>
          <a:xfrm>
            <a:off x="548640" y="1371600"/>
            <a:ext cx="5212080" cy="320040"/>
          </a:xfrm>
          <a:prstGeom prst="rect">
            <a:avLst/>
          </a:prstGeom>
          <a:noFill/>
          <a:ln/>
        </p:spPr>
        <p:txBody>
          <a:bodyPr wrap="square" lIns="0" tIns="0" rIns="0" bIns="0" rtlCol="0" anchor="t"/>
          <a:lstStyle/>
          <a:p>
            <a:pPr indent="0" marL="0">
              <a:buNone/>
            </a:pPr>
            <a:r>
              <a:rPr lang="en-US" sz="1500" dirty="0">
                <a:solidFill>
                  <a:srgbClr val="5B6472"/>
                </a:solidFill>
                <a:latin typeface="Arial" pitchFamily="34" charset="0"/>
                <a:ea typeface="Arial" pitchFamily="34" charset="-122"/>
                <a:cs typeface="Arial" pitchFamily="34" charset="-120"/>
              </a:rPr>
              <a:t>UART_TOP loopback at 50 MHz: TX feeds RX</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5120640" cy="914400"/>
        </p:xfrm>
        <a:graphic>
          <a:graphicData uri="http://schemas.openxmlformats.org/drawingml/2006/table">
            <a:tbl>
              <a:tblPr/>
              <a:tblGrid>
                <a:gridCol w="1280160"/>
                <a:gridCol w="1828800"/>
                <a:gridCol w="2011680"/>
              </a:tblGrid>
              <a:tr h="411480">
                <a:tc>
                  <a:txBody>
                    <a:bodyPr/>
                    <a:lstStyle/>
                    <a:p>
                      <a:pPr indent="0" marL="0">
                        <a:buNone/>
                      </a:pPr>
                      <a:r>
                        <a:rPr lang="en-US" sz="1300" b="1" dirty="0">
                          <a:solidFill>
                            <a:srgbClr val="FFFFFF"/>
                          </a:solidFill>
                          <a:latin typeface="Arial" pitchFamily="34" charset="0"/>
                          <a:ea typeface="Arial" pitchFamily="34" charset="-122"/>
                          <a:cs typeface="Arial" pitchFamily="34" charset="-120"/>
                        </a:rPr>
                        <a:t>Test</a:t>
                      </a:r>
                      <a:endParaRPr lang="en-US" sz="1300" dirty="0">
                        <a:latin typeface="Arial" charset="0"/>
                        <a:ea typeface="Arial" charset="0"/>
                        <a:cs typeface="Arial" charset="0"/>
                      </a:endParaRPr>
                    </a:p>
                  </a:txBody>
                  <a:tcPr marL="109728" marR="109728" marT="36576" marB="36576"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004AAD"/>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Input byte</a:t>
                      </a:r>
                      <a:endParaRPr lang="en-US" sz="1300" dirty="0">
                        <a:latin typeface="Arial" charset="0"/>
                        <a:ea typeface="Arial" charset="0"/>
                        <a:cs typeface="Arial" charset="0"/>
                      </a:endParaRPr>
                    </a:p>
                  </a:txBody>
                  <a:tcPr marL="109728" marR="109728" marT="36576" marB="36576"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004AAD"/>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Expected received</a:t>
                      </a:r>
                      <a:endParaRPr lang="en-US" sz="1300" dirty="0">
                        <a:latin typeface="Arial" charset="0"/>
                        <a:ea typeface="Arial" charset="0"/>
                        <a:cs typeface="Arial" charset="0"/>
                      </a:endParaRPr>
                    </a:p>
                  </a:txBody>
                  <a:tcPr marL="109728" marR="109728" marT="36576" marB="36576"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004AAD"/>
                    </a:solidFill>
                  </a:tcPr>
                </a:tc>
              </a:tr>
              <a:tr h="457200">
                <a:tc>
                  <a:txBody>
                    <a:bodyPr/>
                    <a:lstStyle/>
                    <a:p>
                      <a:pPr indent="0" marL="0">
                        <a:buNone/>
                      </a:pPr>
                      <a:r>
                        <a:rPr lang="en-US" sz="1300" b="1" dirty="0">
                          <a:solidFill>
                            <a:srgbClr val="0B1F44"/>
                          </a:solidFill>
                          <a:latin typeface="Arial" pitchFamily="34" charset="0"/>
                          <a:ea typeface="Arial" pitchFamily="34" charset="-122"/>
                          <a:cs typeface="Arial" pitchFamily="34" charset="-120"/>
                        </a:rPr>
                        <a:t>TEST 1</a:t>
                      </a:r>
                      <a:endParaRPr lang="en-US" sz="1300" dirty="0">
                        <a:latin typeface="Arial" charset="0"/>
                        <a:ea typeface="Arial" charset="0"/>
                        <a:cs typeface="Arial" charset="0"/>
                      </a:endParaRPr>
                    </a:p>
                  </a:txBody>
                  <a:tcPr marL="109728" marR="109728" marT="36576" marB="36576"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ourier New" pitchFamily="34" charset="0"/>
                          <a:ea typeface="Courier New" pitchFamily="34" charset="-122"/>
                          <a:cs typeface="Courier New" pitchFamily="34" charset="-120"/>
                        </a:rPr>
                        <a:t>8'hA5</a:t>
                      </a:r>
                      <a:endParaRPr lang="en-US" sz="1300" dirty="0">
                        <a:latin typeface="Courier New" charset="0"/>
                        <a:ea typeface="Courier New" charset="0"/>
                        <a:cs typeface="Courier New" charset="0"/>
                      </a:endParaRPr>
                    </a:p>
                  </a:txBody>
                  <a:tcPr marL="109728" marR="109728" marT="36576" marB="36576"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300" b="1" dirty="0">
                          <a:solidFill>
                            <a:srgbClr val="004AAD"/>
                          </a:solidFill>
                          <a:latin typeface="Courier New" pitchFamily="34" charset="0"/>
                          <a:ea typeface="Courier New" pitchFamily="34" charset="-122"/>
                          <a:cs typeface="Courier New" pitchFamily="34" charset="-120"/>
                        </a:rPr>
                        <a:t>8'hA5</a:t>
                      </a:r>
                      <a:endParaRPr lang="en-US" sz="1300" dirty="0">
                        <a:latin typeface="Courier New" charset="0"/>
                        <a:ea typeface="Courier New" charset="0"/>
                        <a:cs typeface="Courier New" charset="0"/>
                      </a:endParaRPr>
                    </a:p>
                  </a:txBody>
                  <a:tcPr marL="109728" marR="109728" marT="36576" marB="36576"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44"/>
                          </a:solidFill>
                          <a:latin typeface="Arial" pitchFamily="34" charset="0"/>
                          <a:ea typeface="Arial" pitchFamily="34" charset="-122"/>
                          <a:cs typeface="Arial" pitchFamily="34" charset="-120"/>
                        </a:rPr>
                        <a:t>TEST 2</a:t>
                      </a:r>
                      <a:endParaRPr lang="en-US" sz="1300" dirty="0">
                        <a:latin typeface="Arial" charset="0"/>
                        <a:ea typeface="Arial" charset="0"/>
                        <a:cs typeface="Arial" charset="0"/>
                      </a:endParaRPr>
                    </a:p>
                  </a:txBody>
                  <a:tcPr marL="109728" marR="109728" marT="36576" marB="36576"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5F8FD"/>
                    </a:solidFill>
                  </a:tcPr>
                </a:tc>
                <a:tc>
                  <a:txBody>
                    <a:bodyPr/>
                    <a:lstStyle/>
                    <a:p>
                      <a:pPr indent="0" marL="0">
                        <a:buNone/>
                      </a:pPr>
                      <a:r>
                        <a:rPr lang="en-US" sz="1300" dirty="0">
                          <a:solidFill>
                            <a:srgbClr val="1B2333"/>
                          </a:solidFill>
                          <a:latin typeface="Courier New" pitchFamily="34" charset="0"/>
                          <a:ea typeface="Courier New" pitchFamily="34" charset="-122"/>
                          <a:cs typeface="Courier New" pitchFamily="34" charset="-120"/>
                        </a:rPr>
                        <a:t>8'h55</a:t>
                      </a:r>
                      <a:endParaRPr lang="en-US" sz="1300" dirty="0">
                        <a:latin typeface="Courier New" charset="0"/>
                        <a:ea typeface="Courier New" charset="0"/>
                        <a:cs typeface="Courier New" charset="0"/>
                      </a:endParaRPr>
                    </a:p>
                  </a:txBody>
                  <a:tcPr marL="109728" marR="109728" marT="36576" marB="36576"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5F8FD"/>
                    </a:solidFill>
                  </a:tcPr>
                </a:tc>
                <a:tc>
                  <a:txBody>
                    <a:bodyPr/>
                    <a:lstStyle/>
                    <a:p>
                      <a:pPr indent="0" marL="0">
                        <a:buNone/>
                      </a:pPr>
                      <a:r>
                        <a:rPr lang="en-US" sz="1300" b="1" dirty="0">
                          <a:solidFill>
                            <a:srgbClr val="004AAD"/>
                          </a:solidFill>
                          <a:latin typeface="Courier New" pitchFamily="34" charset="0"/>
                          <a:ea typeface="Courier New" pitchFamily="34" charset="-122"/>
                          <a:cs typeface="Courier New" pitchFamily="34" charset="-120"/>
                        </a:rPr>
                        <a:t>8'h55</a:t>
                      </a:r>
                      <a:endParaRPr lang="en-US" sz="1300" dirty="0">
                        <a:latin typeface="Courier New" charset="0"/>
                        <a:ea typeface="Courier New" charset="0"/>
                        <a:cs typeface="Courier New" charset="0"/>
                      </a:endParaRPr>
                    </a:p>
                  </a:txBody>
                  <a:tcPr marL="109728" marR="109728" marT="36576" marB="36576"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5F8FD"/>
                    </a:solidFill>
                  </a:tcPr>
                </a:tc>
              </a:tr>
              <a:tr h="457200">
                <a:tc>
                  <a:txBody>
                    <a:bodyPr/>
                    <a:lstStyle/>
                    <a:p>
                      <a:pPr indent="0" marL="0">
                        <a:buNone/>
                      </a:pPr>
                      <a:r>
                        <a:rPr lang="en-US" sz="1300" b="1" dirty="0">
                          <a:solidFill>
                            <a:srgbClr val="0B1F44"/>
                          </a:solidFill>
                          <a:latin typeface="Arial" pitchFamily="34" charset="0"/>
                          <a:ea typeface="Arial" pitchFamily="34" charset="-122"/>
                          <a:cs typeface="Arial" pitchFamily="34" charset="-120"/>
                        </a:rPr>
                        <a:t>TEST 3</a:t>
                      </a:r>
                      <a:endParaRPr lang="en-US" sz="1300" dirty="0">
                        <a:latin typeface="Arial" charset="0"/>
                        <a:ea typeface="Arial" charset="0"/>
                        <a:cs typeface="Arial" charset="0"/>
                      </a:endParaRPr>
                    </a:p>
                  </a:txBody>
                  <a:tcPr marL="109728" marR="109728" marT="36576" marB="36576"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ourier New" pitchFamily="34" charset="0"/>
                          <a:ea typeface="Courier New" pitchFamily="34" charset="-122"/>
                          <a:cs typeface="Courier New" pitchFamily="34" charset="-120"/>
                        </a:rPr>
                        <a:t>8'hFF</a:t>
                      </a:r>
                      <a:endParaRPr lang="en-US" sz="1300" dirty="0">
                        <a:latin typeface="Courier New" charset="0"/>
                        <a:ea typeface="Courier New" charset="0"/>
                        <a:cs typeface="Courier New" charset="0"/>
                      </a:endParaRPr>
                    </a:p>
                  </a:txBody>
                  <a:tcPr marL="109728" marR="109728" marT="36576" marB="36576"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300" b="1" dirty="0">
                          <a:solidFill>
                            <a:srgbClr val="004AAD"/>
                          </a:solidFill>
                          <a:latin typeface="Courier New" pitchFamily="34" charset="0"/>
                          <a:ea typeface="Courier New" pitchFamily="34" charset="-122"/>
                          <a:cs typeface="Courier New" pitchFamily="34" charset="-120"/>
                        </a:rPr>
                        <a:t>8'hFF</a:t>
                      </a:r>
                      <a:endParaRPr lang="en-US" sz="1300" dirty="0">
                        <a:latin typeface="Courier New" charset="0"/>
                        <a:ea typeface="Courier New" charset="0"/>
                        <a:cs typeface="Courier New" charset="0"/>
                      </a:endParaRPr>
                    </a:p>
                  </a:txBody>
                  <a:tcPr marL="109728" marR="109728" marT="36576" marB="36576"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3931920"/>
            <a:ext cx="5120640" cy="2240280"/>
          </a:xfrm>
          <a:prstGeom prst="roundRect">
            <a:avLst>
              <a:gd name="adj" fmla="val 4898"/>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9" name="Text 5"/>
          <p:cNvSpPr txBox="1"/>
          <p:nvPr/>
        </p:nvSpPr>
        <p:spPr>
          <a:xfrm>
            <a:off x="777240" y="4069080"/>
            <a:ext cx="4663440" cy="320040"/>
          </a:xfrm>
          <a:prstGeom prst="rect">
            <a:avLst/>
          </a:prstGeom>
          <a:noFill/>
          <a:ln/>
        </p:spPr>
        <p:txBody>
          <a:bodyPr wrap="square" lIns="0" tIns="0" rIns="0" bIns="0" rtlCol="0" anchor="t"/>
          <a:lstStyle/>
          <a:p>
            <a:pPr indent="0" marL="0">
              <a:buNone/>
            </a:pPr>
            <a:r>
              <a:rPr lang="en-US" sz="1500" b="1" dirty="0">
                <a:solidFill>
                  <a:srgbClr val="0B1F44"/>
                </a:solidFill>
                <a:latin typeface="Arial" pitchFamily="34" charset="0"/>
                <a:ea typeface="Arial" pitchFamily="34" charset="-122"/>
                <a:cs typeface="Arial" pitchFamily="34" charset="-120"/>
              </a:rPr>
              <a:t>Why these patterns</a:t>
            </a:r>
            <a:endParaRPr lang="en-US" sz="1500" dirty="0"/>
          </a:p>
        </p:txBody>
      </p:sp>
      <p:sp>
        <p:nvSpPr>
          <p:cNvPr id="10" name="Text 6"/>
          <p:cNvSpPr txBox="1"/>
          <p:nvPr/>
        </p:nvSpPr>
        <p:spPr>
          <a:xfrm>
            <a:off x="777240" y="4434840"/>
            <a:ext cx="4709160" cy="164592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B2333"/>
                </a:solidFill>
                <a:latin typeface="Arial" pitchFamily="34" charset="0"/>
                <a:ea typeface="Arial" pitchFamily="34" charset="-122"/>
                <a:cs typeface="Arial" pitchFamily="34" charset="-120"/>
              </a:rPr>
              <a:t>A5 (10100101): mixed ones and zeros</a:t>
            </a:r>
            <a:endParaRPr lang="en-US" sz="1300" dirty="0"/>
          </a:p>
          <a:p>
            <a:pPr marL="342900" indent="-342900">
              <a:spcAft>
                <a:spcPts val="500"/>
              </a:spcAft>
              <a:buSzPct val="100000"/>
              <a:buChar char="•"/>
            </a:pPr>
            <a:r>
              <a:rPr lang="en-US" sz="1300" dirty="0">
                <a:solidFill>
                  <a:srgbClr val="1B2333"/>
                </a:solidFill>
                <a:latin typeface="Arial" pitchFamily="34" charset="0"/>
                <a:ea typeface="Arial" pitchFamily="34" charset="-122"/>
                <a:cs typeface="Arial" pitchFamily="34" charset="-120"/>
              </a:rPr>
              <a:t>55 (01010101): toggles on every bit</a:t>
            </a:r>
            <a:endParaRPr lang="en-US" sz="1300" dirty="0"/>
          </a:p>
          <a:p>
            <a:pPr marL="342900" indent="-342900">
              <a:spcAft>
                <a:spcPts val="500"/>
              </a:spcAft>
              <a:buSzPct val="100000"/>
              <a:buChar char="•"/>
            </a:pPr>
            <a:r>
              <a:rPr lang="en-US" sz="1300" dirty="0">
                <a:solidFill>
                  <a:srgbClr val="1B2333"/>
                </a:solidFill>
                <a:latin typeface="Arial" pitchFamily="34" charset="0"/>
                <a:ea typeface="Arial" pitchFamily="34" charset="-122"/>
                <a:cs typeface="Arial" pitchFamily="34" charset="-120"/>
              </a:rPr>
              <a:t>FF (11111111): all ones, so only the start bit falls</a:t>
            </a:r>
            <a:endParaRPr lang="en-US" sz="1300" dirty="0"/>
          </a:p>
          <a:p>
            <a:pPr marL="342900" indent="-342900">
              <a:spcAft>
                <a:spcPts val="500"/>
              </a:spcAft>
              <a:buSzPct val="100000"/>
              <a:buChar char="•"/>
            </a:pPr>
            <a:r>
              <a:rPr lang="en-US" sz="1300" b="1" dirty="0">
                <a:solidFill>
                  <a:srgbClr val="004AAD"/>
                </a:solidFill>
                <a:latin typeface="Arial" pitchFamily="34" charset="0"/>
                <a:ea typeface="Arial" pitchFamily="34" charset="-122"/>
                <a:cs typeface="Arial" pitchFamily="34" charset="-120"/>
              </a:rPr>
              <a:t>Waveform: tx_data = rx_data = A5, done_rx asserted, err_rx low</a:t>
            </a:r>
            <a:endParaRPr lang="en-US" sz="1300" dirty="0"/>
          </a:p>
        </p:txBody>
      </p:sp>
      <p:sp>
        <p:nvSpPr>
          <p:cNvPr id="11" name="Shape 7"/>
          <p:cNvSpPr/>
          <p:nvPr/>
        </p:nvSpPr>
        <p:spPr>
          <a:xfrm>
            <a:off x="6326909" y="1508760"/>
            <a:ext cx="5021534" cy="2057400"/>
          </a:xfrm>
          <a:prstGeom prst="roundRect">
            <a:avLst>
              <a:gd name="adj" fmla="val 2667"/>
            </a:avLst>
          </a:prstGeom>
          <a:solidFill>
            <a:srgbClr val="FFFFFF"/>
          </a:solidFill>
          <a:ln w="12700">
            <a:solidFill>
              <a:srgbClr val="D5DEEC"/>
            </a:solidFill>
            <a:prstDash val="solid"/>
          </a:ln>
        </p:spPr>
      </p:sp>
      <p:pic>
        <p:nvPicPr>
          <p:cNvPr id="12" name="Image 1" descr="/home/claude/assets/r3.png">    </p:cNvPr>
          <p:cNvPicPr>
            <a:picLocks noChangeAspect="1"/>
          </p:cNvPicPr>
          <p:nvPr/>
        </p:nvPicPr>
        <p:blipFill>
          <a:blip r:embed="rId2"/>
          <a:stretch>
            <a:fillRect/>
          </a:stretch>
        </p:blipFill>
        <p:spPr>
          <a:xfrm>
            <a:off x="6381773" y="1563624"/>
            <a:ext cx="4911806" cy="1947672"/>
          </a:xfrm>
          <a:prstGeom prst="rect">
            <a:avLst/>
          </a:prstGeom>
        </p:spPr>
      </p:pic>
      <p:sp>
        <p:nvSpPr>
          <p:cNvPr id="13" name="Text 8"/>
          <p:cNvSpPr txBox="1"/>
          <p:nvPr/>
        </p:nvSpPr>
        <p:spPr>
          <a:xfrm>
            <a:off x="6035040" y="3611880"/>
            <a:ext cx="5605272" cy="228600"/>
          </a:xfrm>
          <a:prstGeom prst="rect">
            <a:avLst/>
          </a:prstGeom>
          <a:noFill/>
          <a:ln/>
        </p:spPr>
        <p:txBody>
          <a:bodyPr wrap="square" lIns="0" tIns="0" rIns="0" bIns="0" rtlCol="0" anchor="t"/>
          <a:lstStyle/>
          <a:p>
            <a:pPr algn="ctr" indent="0" marL="0">
              <a:buNone/>
            </a:pPr>
            <a:r>
              <a:rPr lang="en-US" sz="1100" dirty="0">
                <a:solidFill>
                  <a:srgbClr val="5B6472"/>
                </a:solidFill>
                <a:latin typeface="Arial" pitchFamily="34" charset="0"/>
                <a:ea typeface="Arial" pitchFamily="34" charset="-122"/>
                <a:cs typeface="Arial" pitchFamily="34" charset="-120"/>
              </a:rPr>
              <a:t>Before completion</a:t>
            </a:r>
            <a:endParaRPr lang="en-US" sz="1100" dirty="0"/>
          </a:p>
        </p:txBody>
      </p:sp>
      <p:sp>
        <p:nvSpPr>
          <p:cNvPr id="14" name="Shape 9"/>
          <p:cNvSpPr/>
          <p:nvPr/>
        </p:nvSpPr>
        <p:spPr>
          <a:xfrm>
            <a:off x="6844262" y="3886200"/>
            <a:ext cx="3986828" cy="2103120"/>
          </a:xfrm>
          <a:prstGeom prst="roundRect">
            <a:avLst>
              <a:gd name="adj" fmla="val 2609"/>
            </a:avLst>
          </a:prstGeom>
          <a:solidFill>
            <a:srgbClr val="FFFFFF"/>
          </a:solidFill>
          <a:ln w="12700">
            <a:solidFill>
              <a:srgbClr val="D5DEEC"/>
            </a:solidFill>
            <a:prstDash val="solid"/>
          </a:ln>
        </p:spPr>
      </p:sp>
      <p:pic>
        <p:nvPicPr>
          <p:cNvPr id="15" name="Image 2" descr="/home/claude/assets/r4.png">    </p:cNvPr>
          <p:cNvPicPr>
            <a:picLocks noChangeAspect="1"/>
          </p:cNvPicPr>
          <p:nvPr/>
        </p:nvPicPr>
        <p:blipFill>
          <a:blip r:embed="rId3"/>
          <a:stretch>
            <a:fillRect/>
          </a:stretch>
        </p:blipFill>
        <p:spPr>
          <a:xfrm>
            <a:off x="6899126" y="3941064"/>
            <a:ext cx="3877100" cy="1993392"/>
          </a:xfrm>
          <a:prstGeom prst="rect">
            <a:avLst/>
          </a:prstGeom>
        </p:spPr>
      </p:pic>
      <p:sp>
        <p:nvSpPr>
          <p:cNvPr id="16" name="Text 10"/>
          <p:cNvSpPr txBox="1"/>
          <p:nvPr/>
        </p:nvSpPr>
        <p:spPr>
          <a:xfrm>
            <a:off x="6035040" y="6035040"/>
            <a:ext cx="5605272" cy="228600"/>
          </a:xfrm>
          <a:prstGeom prst="rect">
            <a:avLst/>
          </a:prstGeom>
          <a:noFill/>
          <a:ln/>
        </p:spPr>
        <p:txBody>
          <a:bodyPr wrap="square" lIns="0" tIns="0" rIns="0" bIns="0" rtlCol="0" anchor="t"/>
          <a:lstStyle/>
          <a:p>
            <a:pPr algn="ctr" indent="0" marL="0">
              <a:buNone/>
            </a:pPr>
            <a:r>
              <a:rPr lang="en-US" sz="1100" dirty="0">
                <a:solidFill>
                  <a:srgbClr val="5B6472"/>
                </a:solidFill>
                <a:latin typeface="Arial" pitchFamily="34" charset="0"/>
                <a:ea typeface="Arial" pitchFamily="34" charset="-122"/>
                <a:cs typeface="Arial" pitchFamily="34" charset="-120"/>
              </a:rPr>
              <a:t>After the byte is received</a:t>
            </a:r>
            <a:endParaRPr lang="en-US" sz="11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47472"/>
            <a:ext cx="7315200" cy="228600"/>
          </a:xfrm>
          <a:prstGeom prst="rect">
            <a:avLst/>
          </a:prstGeom>
          <a:noFill/>
          <a:ln/>
        </p:spPr>
        <p:txBody>
          <a:bodyPr wrap="square" lIns="0" tIns="0" rIns="0" bIns="0" rtlCol="0" anchor="t"/>
          <a:lstStyle/>
          <a:p>
            <a:pPr indent="0" marL="0">
              <a:buNone/>
            </a:pPr>
            <a:r>
              <a:rPr lang="en-US" sz="1200" b="1" spc="300" kern="0" dirty="0">
                <a:solidFill>
                  <a:srgbClr val="FF5757"/>
                </a:solidFill>
                <a:latin typeface="Arial" pitchFamily="34" charset="0"/>
                <a:ea typeface="Arial" pitchFamily="34" charset="-122"/>
                <a:cs typeface="Arial" pitchFamily="34" charset="-120"/>
              </a:rPr>
              <a:t>03  DEVELOPMENT JOURNEY</a:t>
            </a:r>
            <a:endParaRPr lang="en-US" sz="1200" dirty="0"/>
          </a:p>
        </p:txBody>
      </p:sp>
      <p:sp>
        <p:nvSpPr>
          <p:cNvPr id="3" name="Text 1"/>
          <p:cNvSpPr txBox="1"/>
          <p:nvPr/>
        </p:nvSpPr>
        <p:spPr>
          <a:xfrm>
            <a:off x="548640" y="603504"/>
            <a:ext cx="9966960" cy="685800"/>
          </a:xfrm>
          <a:prstGeom prst="rect">
            <a:avLst/>
          </a:prstGeom>
          <a:noFill/>
          <a:ln/>
        </p:spPr>
        <p:txBody>
          <a:bodyPr wrap="square" lIns="0" tIns="0" rIns="0" bIns="0" rtlCol="0" anchor="ctr"/>
          <a:lstStyle/>
          <a:p>
            <a:pPr indent="0" marL="0">
              <a:buNone/>
            </a:pPr>
            <a:r>
              <a:rPr lang="en-US" sz="3200" b="1" dirty="0">
                <a:solidFill>
                  <a:srgbClr val="0B1F44"/>
                </a:solidFill>
                <a:latin typeface="Arial" pitchFamily="34" charset="0"/>
                <a:ea typeface="Arial" pitchFamily="34" charset="-122"/>
                <a:cs typeface="Arial" pitchFamily="34" charset="-120"/>
              </a:rPr>
              <a:t>AES-128 encryption module</a:t>
            </a:r>
            <a:endParaRPr lang="en-US" sz="3200" dirty="0"/>
          </a:p>
        </p:txBody>
      </p:sp>
      <p:pic>
        <p:nvPicPr>
          <p:cNvPr id="4" name="Image 0" descr="/home/claude/assets/logo.png">    </p:cNvPr>
          <p:cNvPicPr>
            <a:picLocks noChangeAspect="1"/>
          </p:cNvPicPr>
          <p:nvPr/>
        </p:nvPicPr>
        <p:blipFill>
          <a:blip r:embed="rId1"/>
          <a:stretch>
            <a:fillRect/>
          </a:stretch>
        </p:blipFill>
        <p:spPr>
          <a:xfrm>
            <a:off x="10744200" y="365760"/>
            <a:ext cx="896112" cy="434340"/>
          </a:xfrm>
          <a:prstGeom prst="rect">
            <a:avLst/>
          </a:prstGeom>
        </p:spPr>
      </p:pic>
      <p:sp>
        <p:nvSpPr>
          <p:cNvPr id="5" name="Text 2"/>
          <p:cNvSpPr txBox="1"/>
          <p:nvPr/>
        </p:nvSpPr>
        <p:spPr>
          <a:xfrm>
            <a:off x="548640" y="6428232"/>
            <a:ext cx="6400800" cy="228600"/>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Secure UART Communication System  ·  NTI Digital Design Project</a:t>
            </a:r>
            <a:endParaRPr lang="en-US" sz="1000" dirty="0"/>
          </a:p>
        </p:txBody>
      </p:sp>
      <p:sp>
        <p:nvSpPr>
          <p:cNvPr id="6" name="Shape 3"/>
          <p:cNvSpPr/>
          <p:nvPr/>
        </p:nvSpPr>
        <p:spPr>
          <a:xfrm>
            <a:off x="577088" y="1508760"/>
            <a:ext cx="4149344" cy="2057400"/>
          </a:xfrm>
          <a:prstGeom prst="roundRect">
            <a:avLst>
              <a:gd name="adj" fmla="val 2667"/>
            </a:avLst>
          </a:prstGeom>
          <a:solidFill>
            <a:srgbClr val="FFFFFF"/>
          </a:solidFill>
          <a:ln w="12700">
            <a:solidFill>
              <a:srgbClr val="D5DEEC"/>
            </a:solidFill>
            <a:prstDash val="solid"/>
          </a:ln>
        </p:spPr>
      </p:sp>
      <p:pic>
        <p:nvPicPr>
          <p:cNvPr id="7" name="Image 1" descr="/home/claude/assets/r6.png">    </p:cNvPr>
          <p:cNvPicPr>
            <a:picLocks noChangeAspect="1"/>
          </p:cNvPicPr>
          <p:nvPr/>
        </p:nvPicPr>
        <p:blipFill>
          <a:blip r:embed="rId2"/>
          <a:stretch>
            <a:fillRect/>
          </a:stretch>
        </p:blipFill>
        <p:spPr>
          <a:xfrm>
            <a:off x="631952" y="1563624"/>
            <a:ext cx="4039616" cy="1947672"/>
          </a:xfrm>
          <a:prstGeom prst="rect">
            <a:avLst/>
          </a:prstGeom>
        </p:spPr>
      </p:pic>
      <p:sp>
        <p:nvSpPr>
          <p:cNvPr id="8" name="Shape 4"/>
          <p:cNvSpPr/>
          <p:nvPr/>
        </p:nvSpPr>
        <p:spPr>
          <a:xfrm>
            <a:off x="5120640" y="1508760"/>
            <a:ext cx="1517904" cy="2057400"/>
          </a:xfrm>
          <a:prstGeom prst="roundRect">
            <a:avLst>
              <a:gd name="adj" fmla="val 7229"/>
            </a:avLst>
          </a:prstGeom>
          <a:solidFill>
            <a:srgbClr val="004AAD"/>
          </a:solidFill>
          <a:ln w="12700">
            <a:solidFill>
              <a:srgbClr val="004AAD"/>
            </a:solidFill>
            <a:prstDash val="solid"/>
          </a:ln>
        </p:spPr>
      </p:sp>
      <p:sp>
        <p:nvSpPr>
          <p:cNvPr id="9" name="Text 5"/>
          <p:cNvSpPr txBox="1"/>
          <p:nvPr/>
        </p:nvSpPr>
        <p:spPr>
          <a:xfrm>
            <a:off x="5120640" y="1920240"/>
            <a:ext cx="1517904"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128-bit</a:t>
            </a:r>
            <a:endParaRPr lang="en-US" sz="2000" dirty="0"/>
          </a:p>
        </p:txBody>
      </p:sp>
      <p:sp>
        <p:nvSpPr>
          <p:cNvPr id="10" name="Text 6"/>
          <p:cNvSpPr txBox="1"/>
          <p:nvPr/>
        </p:nvSpPr>
        <p:spPr>
          <a:xfrm>
            <a:off x="5212080" y="2560320"/>
            <a:ext cx="1335024" cy="822960"/>
          </a:xfrm>
          <a:prstGeom prst="rect">
            <a:avLst/>
          </a:prstGeom>
          <a:noFill/>
          <a:ln/>
        </p:spPr>
        <p:txBody>
          <a:bodyPr wrap="square" lIns="0" tIns="0" rIns="0" bIns="0" rtlCol="0" anchor="t"/>
          <a:lstStyle/>
          <a:p>
            <a:pPr algn="ctr" indent="0" marL="0">
              <a:buNone/>
            </a:pPr>
            <a:r>
              <a:rPr lang="en-US" sz="1300" dirty="0">
                <a:solidFill>
                  <a:srgbClr val="CADCFC"/>
                </a:solidFill>
                <a:latin typeface="Arial" pitchFamily="34" charset="0"/>
                <a:ea typeface="Arial" pitchFamily="34" charset="-122"/>
                <a:cs typeface="Arial" pitchFamily="34" charset="-120"/>
              </a:rPr>
              <a:t>plaintext block</a:t>
            </a:r>
            <a:endParaRPr lang="en-US" sz="1300" dirty="0"/>
          </a:p>
        </p:txBody>
      </p:sp>
      <p:sp>
        <p:nvSpPr>
          <p:cNvPr id="11" name="Shape 7"/>
          <p:cNvSpPr/>
          <p:nvPr/>
        </p:nvSpPr>
        <p:spPr>
          <a:xfrm>
            <a:off x="6766560" y="1508760"/>
            <a:ext cx="1517904" cy="2057400"/>
          </a:xfrm>
          <a:prstGeom prst="roundRect">
            <a:avLst>
              <a:gd name="adj" fmla="val 7229"/>
            </a:avLst>
          </a:prstGeom>
          <a:solidFill>
            <a:srgbClr val="004AAD"/>
          </a:solidFill>
          <a:ln w="12700">
            <a:solidFill>
              <a:srgbClr val="004AAD"/>
            </a:solidFill>
            <a:prstDash val="solid"/>
          </a:ln>
        </p:spPr>
      </p:sp>
      <p:sp>
        <p:nvSpPr>
          <p:cNvPr id="12" name="Text 8"/>
          <p:cNvSpPr txBox="1"/>
          <p:nvPr/>
        </p:nvSpPr>
        <p:spPr>
          <a:xfrm>
            <a:off x="6766560" y="1920240"/>
            <a:ext cx="1517904"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128-bit</a:t>
            </a:r>
            <a:endParaRPr lang="en-US" sz="2000" dirty="0"/>
          </a:p>
        </p:txBody>
      </p:sp>
      <p:sp>
        <p:nvSpPr>
          <p:cNvPr id="13" name="Text 9"/>
          <p:cNvSpPr txBox="1"/>
          <p:nvPr/>
        </p:nvSpPr>
        <p:spPr>
          <a:xfrm>
            <a:off x="6858000" y="2560320"/>
            <a:ext cx="1335024" cy="822960"/>
          </a:xfrm>
          <a:prstGeom prst="rect">
            <a:avLst/>
          </a:prstGeom>
          <a:noFill/>
          <a:ln/>
        </p:spPr>
        <p:txBody>
          <a:bodyPr wrap="square" lIns="0" tIns="0" rIns="0" bIns="0" rtlCol="0" anchor="t"/>
          <a:lstStyle/>
          <a:p>
            <a:pPr algn="ctr" indent="0" marL="0">
              <a:buNone/>
            </a:pPr>
            <a:r>
              <a:rPr lang="en-US" sz="1300" dirty="0">
                <a:solidFill>
                  <a:srgbClr val="CADCFC"/>
                </a:solidFill>
                <a:latin typeface="Arial" pitchFamily="34" charset="0"/>
                <a:ea typeface="Arial" pitchFamily="34" charset="-122"/>
                <a:cs typeface="Arial" pitchFamily="34" charset="-120"/>
              </a:rPr>
              <a:t>master key</a:t>
            </a:r>
            <a:endParaRPr lang="en-US" sz="1300" dirty="0"/>
          </a:p>
        </p:txBody>
      </p:sp>
      <p:sp>
        <p:nvSpPr>
          <p:cNvPr id="14" name="Shape 10"/>
          <p:cNvSpPr/>
          <p:nvPr/>
        </p:nvSpPr>
        <p:spPr>
          <a:xfrm>
            <a:off x="8412480" y="1508760"/>
            <a:ext cx="1517904" cy="2057400"/>
          </a:xfrm>
          <a:prstGeom prst="roundRect">
            <a:avLst>
              <a:gd name="adj" fmla="val 7229"/>
            </a:avLst>
          </a:prstGeom>
          <a:solidFill>
            <a:srgbClr val="004AAD"/>
          </a:solidFill>
          <a:ln w="12700">
            <a:solidFill>
              <a:srgbClr val="004AAD"/>
            </a:solidFill>
            <a:prstDash val="solid"/>
          </a:ln>
        </p:spPr>
      </p:sp>
      <p:sp>
        <p:nvSpPr>
          <p:cNvPr id="15" name="Text 11"/>
          <p:cNvSpPr txBox="1"/>
          <p:nvPr/>
        </p:nvSpPr>
        <p:spPr>
          <a:xfrm>
            <a:off x="8412480" y="1920240"/>
            <a:ext cx="1517904"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10 rounds</a:t>
            </a:r>
            <a:endParaRPr lang="en-US" sz="2000" dirty="0"/>
          </a:p>
        </p:txBody>
      </p:sp>
      <p:sp>
        <p:nvSpPr>
          <p:cNvPr id="16" name="Text 12"/>
          <p:cNvSpPr txBox="1"/>
          <p:nvPr/>
        </p:nvSpPr>
        <p:spPr>
          <a:xfrm>
            <a:off x="8503920" y="2560320"/>
            <a:ext cx="1335024" cy="822960"/>
          </a:xfrm>
          <a:prstGeom prst="rect">
            <a:avLst/>
          </a:prstGeom>
          <a:noFill/>
          <a:ln/>
        </p:spPr>
        <p:txBody>
          <a:bodyPr wrap="square" lIns="0" tIns="0" rIns="0" bIns="0" rtlCol="0" anchor="t"/>
          <a:lstStyle/>
          <a:p>
            <a:pPr algn="ctr" indent="0" marL="0">
              <a:buNone/>
            </a:pPr>
            <a:r>
              <a:rPr lang="en-US" sz="1300" dirty="0">
                <a:solidFill>
                  <a:srgbClr val="CADCFC"/>
                </a:solidFill>
                <a:latin typeface="Arial" pitchFamily="34" charset="0"/>
                <a:ea typeface="Arial" pitchFamily="34" charset="-122"/>
                <a:cs typeface="Arial" pitchFamily="34" charset="-120"/>
              </a:rPr>
              <a:t>+ initial AddRoundKey</a:t>
            </a:r>
            <a:endParaRPr lang="en-US" sz="1300" dirty="0"/>
          </a:p>
        </p:txBody>
      </p:sp>
      <p:sp>
        <p:nvSpPr>
          <p:cNvPr id="17" name="Shape 13"/>
          <p:cNvSpPr/>
          <p:nvPr/>
        </p:nvSpPr>
        <p:spPr>
          <a:xfrm>
            <a:off x="10058400" y="1508760"/>
            <a:ext cx="1517904" cy="2057400"/>
          </a:xfrm>
          <a:prstGeom prst="roundRect">
            <a:avLst>
              <a:gd name="adj" fmla="val 7229"/>
            </a:avLst>
          </a:prstGeom>
          <a:solidFill>
            <a:srgbClr val="004AAD"/>
          </a:solidFill>
          <a:ln w="12700">
            <a:solidFill>
              <a:srgbClr val="004AAD"/>
            </a:solidFill>
            <a:prstDash val="solid"/>
          </a:ln>
        </p:spPr>
      </p:sp>
      <p:sp>
        <p:nvSpPr>
          <p:cNvPr id="18" name="Text 14"/>
          <p:cNvSpPr txBox="1"/>
          <p:nvPr/>
        </p:nvSpPr>
        <p:spPr>
          <a:xfrm>
            <a:off x="10058400" y="1920240"/>
            <a:ext cx="1517904"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11 keys</a:t>
            </a:r>
            <a:endParaRPr lang="en-US" sz="2000" dirty="0"/>
          </a:p>
        </p:txBody>
      </p:sp>
      <p:sp>
        <p:nvSpPr>
          <p:cNvPr id="19" name="Text 15"/>
          <p:cNvSpPr txBox="1"/>
          <p:nvPr/>
        </p:nvSpPr>
        <p:spPr>
          <a:xfrm>
            <a:off x="10149840" y="2560320"/>
            <a:ext cx="1335024" cy="822960"/>
          </a:xfrm>
          <a:prstGeom prst="rect">
            <a:avLst/>
          </a:prstGeom>
          <a:noFill/>
          <a:ln/>
        </p:spPr>
        <p:txBody>
          <a:bodyPr wrap="square" lIns="0" tIns="0" rIns="0" bIns="0" rtlCol="0" anchor="t"/>
          <a:lstStyle/>
          <a:p>
            <a:pPr algn="ctr" indent="0" marL="0">
              <a:buNone/>
            </a:pPr>
            <a:r>
              <a:rPr lang="en-US" sz="1300" dirty="0">
                <a:solidFill>
                  <a:srgbClr val="CADCFC"/>
                </a:solidFill>
                <a:latin typeface="Arial" pitchFamily="34" charset="0"/>
                <a:ea typeface="Arial" pitchFamily="34" charset="-122"/>
                <a:cs typeface="Arial" pitchFamily="34" charset="-120"/>
              </a:rPr>
              <a:t>K0 to K10 from key expansion</a:t>
            </a:r>
            <a:endParaRPr lang="en-US" sz="1300" dirty="0"/>
          </a:p>
        </p:txBody>
      </p:sp>
      <p:sp>
        <p:nvSpPr>
          <p:cNvPr id="20" name="Text 16"/>
          <p:cNvSpPr txBox="1"/>
          <p:nvPr/>
        </p:nvSpPr>
        <p:spPr>
          <a:xfrm>
            <a:off x="548640" y="3840480"/>
            <a:ext cx="3657600" cy="274320"/>
          </a:xfrm>
          <a:prstGeom prst="rect">
            <a:avLst/>
          </a:prstGeom>
          <a:noFill/>
          <a:ln/>
        </p:spPr>
        <p:txBody>
          <a:bodyPr wrap="square" lIns="0" tIns="0" rIns="0" bIns="0" rtlCol="0" anchor="t"/>
          <a:lstStyle/>
          <a:p>
            <a:pPr indent="0" marL="0">
              <a:buNone/>
            </a:pPr>
            <a:r>
              <a:rPr lang="en-US" sz="1200" b="1" spc="300" kern="0" dirty="0">
                <a:solidFill>
                  <a:srgbClr val="FF5757"/>
                </a:solidFill>
                <a:latin typeface="Arial" pitchFamily="34" charset="0"/>
                <a:ea typeface="Arial" pitchFamily="34" charset="-122"/>
                <a:cs typeface="Arial" pitchFamily="34" charset="-120"/>
              </a:rPr>
              <a:t>ENCRYPTION FLOW</a:t>
            </a:r>
            <a:endParaRPr lang="en-US" sz="1200" dirty="0"/>
          </a:p>
        </p:txBody>
      </p:sp>
      <p:sp>
        <p:nvSpPr>
          <p:cNvPr id="21" name="Shape 17"/>
          <p:cNvSpPr/>
          <p:nvPr/>
        </p:nvSpPr>
        <p:spPr>
          <a:xfrm>
            <a:off x="548640" y="4206240"/>
            <a:ext cx="2103120" cy="1965960"/>
          </a:xfrm>
          <a:prstGeom prst="roundRect">
            <a:avLst>
              <a:gd name="adj" fmla="val 5581"/>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22" name="Text 18"/>
          <p:cNvSpPr txBox="1"/>
          <p:nvPr/>
        </p:nvSpPr>
        <p:spPr>
          <a:xfrm>
            <a:off x="548640" y="4343400"/>
            <a:ext cx="2103120" cy="320040"/>
          </a:xfrm>
          <a:prstGeom prst="rect">
            <a:avLst/>
          </a:prstGeom>
          <a:noFill/>
          <a:ln/>
        </p:spPr>
        <p:txBody>
          <a:bodyPr wrap="square" lIns="0" tIns="0" rIns="0" bIns="0" rtlCol="0" anchor="t"/>
          <a:lstStyle/>
          <a:p>
            <a:pPr algn="ctr" indent="0" marL="0">
              <a:buNone/>
            </a:pPr>
            <a:r>
              <a:rPr lang="en-US" sz="1500" b="1" dirty="0">
                <a:solidFill>
                  <a:srgbClr val="0B1F44"/>
                </a:solidFill>
                <a:latin typeface="Arial" pitchFamily="34" charset="0"/>
                <a:ea typeface="Arial" pitchFamily="34" charset="-122"/>
                <a:cs typeface="Arial" pitchFamily="34" charset="-120"/>
              </a:rPr>
              <a:t>Initial</a:t>
            </a:r>
            <a:endParaRPr lang="en-US" sz="1500" dirty="0"/>
          </a:p>
        </p:txBody>
      </p:sp>
      <p:sp>
        <p:nvSpPr>
          <p:cNvPr id="23" name="Shape 19"/>
          <p:cNvSpPr/>
          <p:nvPr/>
        </p:nvSpPr>
        <p:spPr>
          <a:xfrm>
            <a:off x="731520" y="4892040"/>
            <a:ext cx="1737360" cy="640080"/>
          </a:xfrm>
          <a:prstGeom prst="roundRect">
            <a:avLst>
              <a:gd name="adj" fmla="val 17143"/>
            </a:avLst>
          </a:prstGeom>
          <a:solidFill>
            <a:srgbClr val="004AAD"/>
          </a:solidFill>
          <a:ln w="12700">
            <a:solidFill>
              <a:srgbClr val="004AAD"/>
            </a:solidFill>
            <a:prstDash val="solid"/>
          </a:ln>
        </p:spPr>
      </p:sp>
      <p:sp>
        <p:nvSpPr>
          <p:cNvPr id="24" name="Text 20"/>
          <p:cNvSpPr txBox="1"/>
          <p:nvPr/>
        </p:nvSpPr>
        <p:spPr>
          <a:xfrm>
            <a:off x="731520" y="4892040"/>
            <a:ext cx="173736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AddRoundKey (K0)</a:t>
            </a:r>
            <a:endParaRPr lang="en-US" sz="1200" dirty="0"/>
          </a:p>
        </p:txBody>
      </p:sp>
      <p:sp>
        <p:nvSpPr>
          <p:cNvPr id="25" name="Shape 21"/>
          <p:cNvSpPr/>
          <p:nvPr/>
        </p:nvSpPr>
        <p:spPr>
          <a:xfrm>
            <a:off x="2679192" y="5189220"/>
            <a:ext cx="292608" cy="0"/>
          </a:xfrm>
          <a:prstGeom prst="line">
            <a:avLst/>
          </a:prstGeom>
          <a:noFill/>
          <a:ln w="25400">
            <a:solidFill>
              <a:srgbClr val="FF5757"/>
            </a:solidFill>
            <a:prstDash val="solid"/>
            <a:tailEnd type="triangle"/>
          </a:ln>
        </p:spPr>
      </p:sp>
      <p:sp>
        <p:nvSpPr>
          <p:cNvPr id="26" name="Shape 22"/>
          <p:cNvSpPr/>
          <p:nvPr/>
        </p:nvSpPr>
        <p:spPr>
          <a:xfrm>
            <a:off x="2999232" y="4206240"/>
            <a:ext cx="4892040" cy="1965960"/>
          </a:xfrm>
          <a:prstGeom prst="roundRect">
            <a:avLst>
              <a:gd name="adj" fmla="val 5581"/>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27" name="Text 23"/>
          <p:cNvSpPr txBox="1"/>
          <p:nvPr/>
        </p:nvSpPr>
        <p:spPr>
          <a:xfrm>
            <a:off x="2999232" y="4343400"/>
            <a:ext cx="4892040" cy="320040"/>
          </a:xfrm>
          <a:prstGeom prst="rect">
            <a:avLst/>
          </a:prstGeom>
          <a:noFill/>
          <a:ln/>
        </p:spPr>
        <p:txBody>
          <a:bodyPr wrap="square" lIns="0" tIns="0" rIns="0" bIns="0" rtlCol="0" anchor="t"/>
          <a:lstStyle/>
          <a:p>
            <a:pPr algn="ctr" indent="0" marL="0">
              <a:buNone/>
            </a:pPr>
            <a:r>
              <a:rPr lang="en-US" sz="1500" b="1" dirty="0">
                <a:solidFill>
                  <a:srgbClr val="0B1F44"/>
                </a:solidFill>
                <a:latin typeface="Arial" pitchFamily="34" charset="0"/>
                <a:ea typeface="Arial" pitchFamily="34" charset="-122"/>
                <a:cs typeface="Arial" pitchFamily="34" charset="-120"/>
              </a:rPr>
              <a:t>Rounds 1 to 9</a:t>
            </a:r>
            <a:endParaRPr lang="en-US" sz="1500" dirty="0"/>
          </a:p>
        </p:txBody>
      </p:sp>
      <p:sp>
        <p:nvSpPr>
          <p:cNvPr id="28" name="Shape 24"/>
          <p:cNvSpPr/>
          <p:nvPr/>
        </p:nvSpPr>
        <p:spPr>
          <a:xfrm>
            <a:off x="3122676" y="4892040"/>
            <a:ext cx="1078992" cy="640080"/>
          </a:xfrm>
          <a:prstGeom prst="roundRect">
            <a:avLst>
              <a:gd name="adj" fmla="val 17143"/>
            </a:avLst>
          </a:prstGeom>
          <a:solidFill>
            <a:srgbClr val="004AAD"/>
          </a:solidFill>
          <a:ln w="12700">
            <a:solidFill>
              <a:srgbClr val="004AAD"/>
            </a:solidFill>
            <a:prstDash val="solid"/>
          </a:ln>
        </p:spPr>
      </p:sp>
      <p:sp>
        <p:nvSpPr>
          <p:cNvPr id="29" name="Text 25"/>
          <p:cNvSpPr txBox="1"/>
          <p:nvPr/>
        </p:nvSpPr>
        <p:spPr>
          <a:xfrm>
            <a:off x="3122676" y="4892040"/>
            <a:ext cx="1078992"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SubBytes</a:t>
            </a:r>
            <a:endParaRPr lang="en-US" sz="1100" dirty="0"/>
          </a:p>
        </p:txBody>
      </p:sp>
      <p:sp>
        <p:nvSpPr>
          <p:cNvPr id="30" name="Shape 26"/>
          <p:cNvSpPr/>
          <p:nvPr/>
        </p:nvSpPr>
        <p:spPr>
          <a:xfrm>
            <a:off x="4210812" y="5212080"/>
            <a:ext cx="91440" cy="0"/>
          </a:xfrm>
          <a:prstGeom prst="line">
            <a:avLst/>
          </a:prstGeom>
          <a:noFill/>
          <a:ln w="12700">
            <a:solidFill>
              <a:srgbClr val="FFFFFF"/>
            </a:solidFill>
            <a:prstDash val="solid"/>
            <a:tailEnd type="triangle"/>
          </a:ln>
        </p:spPr>
      </p:sp>
      <p:sp>
        <p:nvSpPr>
          <p:cNvPr id="31" name="Shape 27"/>
          <p:cNvSpPr/>
          <p:nvPr/>
        </p:nvSpPr>
        <p:spPr>
          <a:xfrm>
            <a:off x="4311396" y="4892040"/>
            <a:ext cx="1078992" cy="640080"/>
          </a:xfrm>
          <a:prstGeom prst="roundRect">
            <a:avLst>
              <a:gd name="adj" fmla="val 17143"/>
            </a:avLst>
          </a:prstGeom>
          <a:solidFill>
            <a:srgbClr val="004AAD"/>
          </a:solidFill>
          <a:ln w="12700">
            <a:solidFill>
              <a:srgbClr val="004AAD"/>
            </a:solidFill>
            <a:prstDash val="solid"/>
          </a:ln>
        </p:spPr>
      </p:sp>
      <p:sp>
        <p:nvSpPr>
          <p:cNvPr id="32" name="Text 28"/>
          <p:cNvSpPr txBox="1"/>
          <p:nvPr/>
        </p:nvSpPr>
        <p:spPr>
          <a:xfrm>
            <a:off x="4311396" y="4892040"/>
            <a:ext cx="1078992"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ShiftRows</a:t>
            </a:r>
            <a:endParaRPr lang="en-US" sz="1100" dirty="0"/>
          </a:p>
        </p:txBody>
      </p:sp>
      <p:sp>
        <p:nvSpPr>
          <p:cNvPr id="33" name="Shape 29"/>
          <p:cNvSpPr/>
          <p:nvPr/>
        </p:nvSpPr>
        <p:spPr>
          <a:xfrm>
            <a:off x="5399532" y="5212080"/>
            <a:ext cx="91440" cy="0"/>
          </a:xfrm>
          <a:prstGeom prst="line">
            <a:avLst/>
          </a:prstGeom>
          <a:noFill/>
          <a:ln w="12700">
            <a:solidFill>
              <a:srgbClr val="FFFFFF"/>
            </a:solidFill>
            <a:prstDash val="solid"/>
            <a:tailEnd type="triangle"/>
          </a:ln>
        </p:spPr>
      </p:sp>
      <p:sp>
        <p:nvSpPr>
          <p:cNvPr id="34" name="Shape 30"/>
          <p:cNvSpPr/>
          <p:nvPr/>
        </p:nvSpPr>
        <p:spPr>
          <a:xfrm>
            <a:off x="5500116" y="4892040"/>
            <a:ext cx="1078992" cy="640080"/>
          </a:xfrm>
          <a:prstGeom prst="roundRect">
            <a:avLst>
              <a:gd name="adj" fmla="val 17143"/>
            </a:avLst>
          </a:prstGeom>
          <a:solidFill>
            <a:srgbClr val="004AAD"/>
          </a:solidFill>
          <a:ln w="12700">
            <a:solidFill>
              <a:srgbClr val="004AAD"/>
            </a:solidFill>
            <a:prstDash val="solid"/>
          </a:ln>
        </p:spPr>
      </p:sp>
      <p:sp>
        <p:nvSpPr>
          <p:cNvPr id="35" name="Text 31"/>
          <p:cNvSpPr txBox="1"/>
          <p:nvPr/>
        </p:nvSpPr>
        <p:spPr>
          <a:xfrm>
            <a:off x="5500116" y="4892040"/>
            <a:ext cx="1078992"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MixColumns</a:t>
            </a:r>
            <a:endParaRPr lang="en-US" sz="1100" dirty="0"/>
          </a:p>
        </p:txBody>
      </p:sp>
      <p:sp>
        <p:nvSpPr>
          <p:cNvPr id="36" name="Shape 32"/>
          <p:cNvSpPr/>
          <p:nvPr/>
        </p:nvSpPr>
        <p:spPr>
          <a:xfrm>
            <a:off x="6588252" y="5212080"/>
            <a:ext cx="91440" cy="0"/>
          </a:xfrm>
          <a:prstGeom prst="line">
            <a:avLst/>
          </a:prstGeom>
          <a:noFill/>
          <a:ln w="12700">
            <a:solidFill>
              <a:srgbClr val="FFFFFF"/>
            </a:solidFill>
            <a:prstDash val="solid"/>
            <a:tailEnd type="triangle"/>
          </a:ln>
        </p:spPr>
      </p:sp>
      <p:sp>
        <p:nvSpPr>
          <p:cNvPr id="37" name="Shape 33"/>
          <p:cNvSpPr/>
          <p:nvPr/>
        </p:nvSpPr>
        <p:spPr>
          <a:xfrm>
            <a:off x="6688836" y="4892040"/>
            <a:ext cx="1078992" cy="640080"/>
          </a:xfrm>
          <a:prstGeom prst="roundRect">
            <a:avLst>
              <a:gd name="adj" fmla="val 17143"/>
            </a:avLst>
          </a:prstGeom>
          <a:solidFill>
            <a:srgbClr val="004AAD"/>
          </a:solidFill>
          <a:ln w="12700">
            <a:solidFill>
              <a:srgbClr val="004AAD"/>
            </a:solidFill>
            <a:prstDash val="solid"/>
          </a:ln>
        </p:spPr>
      </p:sp>
      <p:sp>
        <p:nvSpPr>
          <p:cNvPr id="38" name="Text 34"/>
          <p:cNvSpPr txBox="1"/>
          <p:nvPr/>
        </p:nvSpPr>
        <p:spPr>
          <a:xfrm>
            <a:off x="6688836" y="4892040"/>
            <a:ext cx="1078992"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AddRoundKey</a:t>
            </a:r>
            <a:endParaRPr lang="en-US" sz="1100" dirty="0"/>
          </a:p>
        </p:txBody>
      </p:sp>
      <p:sp>
        <p:nvSpPr>
          <p:cNvPr id="39" name="Text 35"/>
          <p:cNvSpPr txBox="1"/>
          <p:nvPr/>
        </p:nvSpPr>
        <p:spPr>
          <a:xfrm>
            <a:off x="2999232" y="5669280"/>
            <a:ext cx="4892040" cy="320040"/>
          </a:xfrm>
          <a:prstGeom prst="rect">
            <a:avLst/>
          </a:prstGeom>
          <a:noFill/>
          <a:ln/>
        </p:spPr>
        <p:txBody>
          <a:bodyPr wrap="square" lIns="0" tIns="0" rIns="0" bIns="0" rtlCol="0" anchor="t"/>
          <a:lstStyle/>
          <a:p>
            <a:pPr algn="ctr" indent="0" marL="0">
              <a:buNone/>
            </a:pPr>
            <a:r>
              <a:rPr lang="en-US" sz="1150" dirty="0">
                <a:solidFill>
                  <a:srgbClr val="5B6472"/>
                </a:solidFill>
                <a:latin typeface="Arial" pitchFamily="34" charset="0"/>
                <a:ea typeface="Arial" pitchFamily="34" charset="-122"/>
                <a:cs typeface="Arial" pitchFamily="34" charset="-120"/>
              </a:rPr>
              <a:t>Round keys K1 to K9, one per round</a:t>
            </a:r>
            <a:endParaRPr lang="en-US" sz="1150" dirty="0"/>
          </a:p>
        </p:txBody>
      </p:sp>
      <p:sp>
        <p:nvSpPr>
          <p:cNvPr id="40" name="Shape 36"/>
          <p:cNvSpPr/>
          <p:nvPr/>
        </p:nvSpPr>
        <p:spPr>
          <a:xfrm>
            <a:off x="7918704" y="5189220"/>
            <a:ext cx="310896" cy="0"/>
          </a:xfrm>
          <a:prstGeom prst="line">
            <a:avLst/>
          </a:prstGeom>
          <a:noFill/>
          <a:ln w="25400">
            <a:solidFill>
              <a:srgbClr val="FF5757"/>
            </a:solidFill>
            <a:prstDash val="solid"/>
            <a:tailEnd type="triangle"/>
          </a:ln>
        </p:spPr>
      </p:sp>
      <p:sp>
        <p:nvSpPr>
          <p:cNvPr id="41" name="Shape 37"/>
          <p:cNvSpPr/>
          <p:nvPr/>
        </p:nvSpPr>
        <p:spPr>
          <a:xfrm>
            <a:off x="8257032" y="4206240"/>
            <a:ext cx="3383280" cy="1965960"/>
          </a:xfrm>
          <a:prstGeom prst="roundRect">
            <a:avLst>
              <a:gd name="adj" fmla="val 5581"/>
            </a:avLst>
          </a:prstGeom>
          <a:solidFill>
            <a:srgbClr val="FFEDE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42" name="Text 38"/>
          <p:cNvSpPr txBox="1"/>
          <p:nvPr/>
        </p:nvSpPr>
        <p:spPr>
          <a:xfrm>
            <a:off x="8257032" y="4343400"/>
            <a:ext cx="3383280" cy="320040"/>
          </a:xfrm>
          <a:prstGeom prst="rect">
            <a:avLst/>
          </a:prstGeom>
          <a:noFill/>
          <a:ln/>
        </p:spPr>
        <p:txBody>
          <a:bodyPr wrap="square" lIns="0" tIns="0" rIns="0" bIns="0" rtlCol="0" anchor="t"/>
          <a:lstStyle/>
          <a:p>
            <a:pPr algn="ctr" indent="0" marL="0">
              <a:buNone/>
            </a:pPr>
            <a:r>
              <a:rPr lang="en-US" sz="1500" b="1" dirty="0">
                <a:solidFill>
                  <a:srgbClr val="0B1F44"/>
                </a:solidFill>
                <a:latin typeface="Arial" pitchFamily="34" charset="0"/>
                <a:ea typeface="Arial" pitchFamily="34" charset="-122"/>
                <a:cs typeface="Arial" pitchFamily="34" charset="-120"/>
              </a:rPr>
              <a:t>Round 10</a:t>
            </a:r>
            <a:endParaRPr lang="en-US" sz="1500" dirty="0"/>
          </a:p>
        </p:txBody>
      </p:sp>
      <p:sp>
        <p:nvSpPr>
          <p:cNvPr id="43" name="Shape 39"/>
          <p:cNvSpPr/>
          <p:nvPr/>
        </p:nvSpPr>
        <p:spPr>
          <a:xfrm>
            <a:off x="8412480" y="4892040"/>
            <a:ext cx="960120" cy="640080"/>
          </a:xfrm>
          <a:prstGeom prst="roundRect">
            <a:avLst>
              <a:gd name="adj" fmla="val 17143"/>
            </a:avLst>
          </a:prstGeom>
          <a:solidFill>
            <a:srgbClr val="FF5757"/>
          </a:solidFill>
          <a:ln w="12700">
            <a:solidFill>
              <a:srgbClr val="FF5757"/>
            </a:solidFill>
            <a:prstDash val="solid"/>
          </a:ln>
        </p:spPr>
      </p:sp>
      <p:sp>
        <p:nvSpPr>
          <p:cNvPr id="44" name="Text 40"/>
          <p:cNvSpPr txBox="1"/>
          <p:nvPr/>
        </p:nvSpPr>
        <p:spPr>
          <a:xfrm>
            <a:off x="8412480" y="4892040"/>
            <a:ext cx="960120" cy="64008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SubBytes</a:t>
            </a:r>
            <a:endParaRPr lang="en-US" sz="1000" dirty="0"/>
          </a:p>
        </p:txBody>
      </p:sp>
      <p:sp>
        <p:nvSpPr>
          <p:cNvPr id="45" name="Shape 41"/>
          <p:cNvSpPr/>
          <p:nvPr/>
        </p:nvSpPr>
        <p:spPr>
          <a:xfrm>
            <a:off x="9436608" y="4892040"/>
            <a:ext cx="960120" cy="640080"/>
          </a:xfrm>
          <a:prstGeom prst="roundRect">
            <a:avLst>
              <a:gd name="adj" fmla="val 17143"/>
            </a:avLst>
          </a:prstGeom>
          <a:solidFill>
            <a:srgbClr val="FF5757"/>
          </a:solidFill>
          <a:ln w="12700">
            <a:solidFill>
              <a:srgbClr val="FF5757"/>
            </a:solidFill>
            <a:prstDash val="solid"/>
          </a:ln>
        </p:spPr>
      </p:sp>
      <p:sp>
        <p:nvSpPr>
          <p:cNvPr id="46" name="Text 42"/>
          <p:cNvSpPr txBox="1"/>
          <p:nvPr/>
        </p:nvSpPr>
        <p:spPr>
          <a:xfrm>
            <a:off x="9436608" y="4892040"/>
            <a:ext cx="960120" cy="64008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ShiftRows</a:t>
            </a:r>
            <a:endParaRPr lang="en-US" sz="1000" dirty="0"/>
          </a:p>
        </p:txBody>
      </p:sp>
      <p:sp>
        <p:nvSpPr>
          <p:cNvPr id="47" name="Shape 43"/>
          <p:cNvSpPr/>
          <p:nvPr/>
        </p:nvSpPr>
        <p:spPr>
          <a:xfrm>
            <a:off x="10460736" y="4892040"/>
            <a:ext cx="960120" cy="640080"/>
          </a:xfrm>
          <a:prstGeom prst="roundRect">
            <a:avLst>
              <a:gd name="adj" fmla="val 17143"/>
            </a:avLst>
          </a:prstGeom>
          <a:solidFill>
            <a:srgbClr val="FF5757"/>
          </a:solidFill>
          <a:ln w="12700">
            <a:solidFill>
              <a:srgbClr val="FF5757"/>
            </a:solidFill>
            <a:prstDash val="solid"/>
          </a:ln>
        </p:spPr>
      </p:sp>
      <p:sp>
        <p:nvSpPr>
          <p:cNvPr id="48" name="Text 44"/>
          <p:cNvSpPr txBox="1"/>
          <p:nvPr/>
        </p:nvSpPr>
        <p:spPr>
          <a:xfrm>
            <a:off x="10460736" y="4892040"/>
            <a:ext cx="960120" cy="64008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AddRoundKey</a:t>
            </a:r>
            <a:endParaRPr lang="en-US" sz="1000" dirty="0"/>
          </a:p>
        </p:txBody>
      </p:sp>
      <p:sp>
        <p:nvSpPr>
          <p:cNvPr id="49" name="Text 45"/>
          <p:cNvSpPr txBox="1"/>
          <p:nvPr/>
        </p:nvSpPr>
        <p:spPr>
          <a:xfrm>
            <a:off x="8257032" y="5669280"/>
            <a:ext cx="3383280" cy="320040"/>
          </a:xfrm>
          <a:prstGeom prst="rect">
            <a:avLst/>
          </a:prstGeom>
          <a:noFill/>
          <a:ln/>
        </p:spPr>
        <p:txBody>
          <a:bodyPr wrap="square" lIns="0" tIns="0" rIns="0" bIns="0" rtlCol="0" anchor="t"/>
          <a:lstStyle/>
          <a:p>
            <a:pPr algn="ctr" indent="0" marL="0">
              <a:buNone/>
            </a:pPr>
            <a:r>
              <a:rPr lang="en-US" sz="1150" dirty="0">
                <a:solidFill>
                  <a:srgbClr val="5B6472"/>
                </a:solidFill>
                <a:latin typeface="Arial" pitchFamily="34" charset="0"/>
                <a:ea typeface="Arial" pitchFamily="34" charset="-122"/>
                <a:cs typeface="Arial" pitchFamily="34" charset="-120"/>
              </a:rPr>
              <a:t>Round key K10. MixColumns omitted</a:t>
            </a:r>
            <a:endParaRPr lang="en-US" sz="11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47472"/>
            <a:ext cx="7315200" cy="228600"/>
          </a:xfrm>
          <a:prstGeom prst="rect">
            <a:avLst/>
          </a:prstGeom>
          <a:noFill/>
          <a:ln/>
        </p:spPr>
        <p:txBody>
          <a:bodyPr wrap="square" lIns="0" tIns="0" rIns="0" bIns="0" rtlCol="0" anchor="t"/>
          <a:lstStyle/>
          <a:p>
            <a:pPr indent="0" marL="0">
              <a:buNone/>
            </a:pPr>
            <a:r>
              <a:rPr lang="en-US" sz="1200" b="1" spc="300" kern="0" dirty="0">
                <a:solidFill>
                  <a:srgbClr val="FF5757"/>
                </a:solidFill>
                <a:latin typeface="Arial" pitchFamily="34" charset="0"/>
                <a:ea typeface="Arial" pitchFamily="34" charset="-122"/>
                <a:cs typeface="Arial" pitchFamily="34" charset="-120"/>
              </a:rPr>
              <a:t>03  DEVELOPMENT JOURNEY</a:t>
            </a:r>
            <a:endParaRPr lang="en-US" sz="1200" dirty="0"/>
          </a:p>
        </p:txBody>
      </p:sp>
      <p:sp>
        <p:nvSpPr>
          <p:cNvPr id="3" name="Text 1"/>
          <p:cNvSpPr txBox="1"/>
          <p:nvPr/>
        </p:nvSpPr>
        <p:spPr>
          <a:xfrm>
            <a:off x="548640" y="603504"/>
            <a:ext cx="9966960" cy="685800"/>
          </a:xfrm>
          <a:prstGeom prst="rect">
            <a:avLst/>
          </a:prstGeom>
          <a:noFill/>
          <a:ln/>
        </p:spPr>
        <p:txBody>
          <a:bodyPr wrap="square" lIns="0" tIns="0" rIns="0" bIns="0" rtlCol="0" anchor="ctr"/>
          <a:lstStyle/>
          <a:p>
            <a:pPr indent="0" marL="0">
              <a:buNone/>
            </a:pPr>
            <a:r>
              <a:rPr lang="en-US" sz="3200" b="1" dirty="0">
                <a:solidFill>
                  <a:srgbClr val="0B1F44"/>
                </a:solidFill>
                <a:latin typeface="Arial" pitchFamily="34" charset="0"/>
                <a:ea typeface="Arial" pitchFamily="34" charset="-122"/>
                <a:cs typeface="Arial" pitchFamily="34" charset="-120"/>
              </a:rPr>
              <a:t>AES control FSM and iterative datapath</a:t>
            </a:r>
            <a:endParaRPr lang="en-US" sz="3200" dirty="0"/>
          </a:p>
        </p:txBody>
      </p:sp>
      <p:pic>
        <p:nvPicPr>
          <p:cNvPr id="4" name="Image 0" descr="/home/claude/assets/logo.png">    </p:cNvPr>
          <p:cNvPicPr>
            <a:picLocks noChangeAspect="1"/>
          </p:cNvPicPr>
          <p:nvPr/>
        </p:nvPicPr>
        <p:blipFill>
          <a:blip r:embed="rId1"/>
          <a:stretch>
            <a:fillRect/>
          </a:stretch>
        </p:blipFill>
        <p:spPr>
          <a:xfrm>
            <a:off x="10744200" y="365760"/>
            <a:ext cx="896112" cy="434340"/>
          </a:xfrm>
          <a:prstGeom prst="rect">
            <a:avLst/>
          </a:prstGeom>
        </p:spPr>
      </p:pic>
      <p:sp>
        <p:nvSpPr>
          <p:cNvPr id="5" name="Text 2"/>
          <p:cNvSpPr txBox="1"/>
          <p:nvPr/>
        </p:nvSpPr>
        <p:spPr>
          <a:xfrm>
            <a:off x="548640" y="6428232"/>
            <a:ext cx="6400800" cy="228600"/>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Secure UART Communication System  ·  NTI Digital Design Project</a:t>
            </a:r>
            <a:endParaRPr lang="en-US" sz="1000" dirty="0"/>
          </a:p>
        </p:txBody>
      </p:sp>
      <p:sp>
        <p:nvSpPr>
          <p:cNvPr id="6" name="Shape 3"/>
          <p:cNvSpPr/>
          <p:nvPr/>
        </p:nvSpPr>
        <p:spPr>
          <a:xfrm>
            <a:off x="548640" y="2148840"/>
            <a:ext cx="1371600" cy="1417320"/>
          </a:xfrm>
          <a:prstGeom prst="roundRect">
            <a:avLst>
              <a:gd name="adj" fmla="val 8000"/>
            </a:avLst>
          </a:prstGeom>
          <a:solidFill>
            <a:srgbClr val="004AAD"/>
          </a:solidFill>
          <a:ln w="12700">
            <a:solidFill>
              <a:srgbClr val="004AAD"/>
            </a:solidFill>
            <a:prstDash val="solid"/>
          </a:ln>
        </p:spPr>
      </p:sp>
      <p:sp>
        <p:nvSpPr>
          <p:cNvPr id="7" name="Text 4"/>
          <p:cNvSpPr txBox="1"/>
          <p:nvPr/>
        </p:nvSpPr>
        <p:spPr>
          <a:xfrm>
            <a:off x="548640" y="2258568"/>
            <a:ext cx="1371600" cy="77724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IDLE</a:t>
            </a:r>
            <a:endParaRPr lang="en-US" sz="1250" dirty="0"/>
          </a:p>
        </p:txBody>
      </p:sp>
      <p:sp>
        <p:nvSpPr>
          <p:cNvPr id="8" name="Text 5"/>
          <p:cNvSpPr txBox="1"/>
          <p:nvPr/>
        </p:nvSpPr>
        <p:spPr>
          <a:xfrm>
            <a:off x="621792" y="3044952"/>
            <a:ext cx="1225296" cy="457200"/>
          </a:xfrm>
          <a:prstGeom prst="rect">
            <a:avLst/>
          </a:prstGeom>
          <a:noFill/>
          <a:ln/>
        </p:spPr>
        <p:txBody>
          <a:bodyPr wrap="square" lIns="0" tIns="0" rIns="0" bIns="0" rtlCol="0" anchor="t"/>
          <a:lstStyle/>
          <a:p>
            <a:pPr algn="ctr" indent="0" marL="0">
              <a:buNone/>
            </a:pPr>
            <a:r>
              <a:rPr lang="en-US" sz="1050" dirty="0">
                <a:solidFill>
                  <a:srgbClr val="CADCFC"/>
                </a:solidFill>
                <a:latin typeface="Arial" pitchFamily="34" charset="0"/>
                <a:ea typeface="Arial" pitchFamily="34" charset="-122"/>
                <a:cs typeface="Arial" pitchFamily="34" charset="-120"/>
              </a:rPr>
              <a:t>wait for request</a:t>
            </a:r>
            <a:endParaRPr lang="en-US" sz="1050" dirty="0"/>
          </a:p>
        </p:txBody>
      </p:sp>
      <p:sp>
        <p:nvSpPr>
          <p:cNvPr id="9" name="Shape 6"/>
          <p:cNvSpPr/>
          <p:nvPr/>
        </p:nvSpPr>
        <p:spPr>
          <a:xfrm>
            <a:off x="1938528" y="2857500"/>
            <a:ext cx="212141" cy="0"/>
          </a:xfrm>
          <a:prstGeom prst="line">
            <a:avLst/>
          </a:prstGeom>
          <a:noFill/>
          <a:ln w="22225">
            <a:solidFill>
              <a:srgbClr val="FF5757"/>
            </a:solidFill>
            <a:prstDash val="solid"/>
            <a:tailEnd type="triangle"/>
          </a:ln>
        </p:spPr>
      </p:sp>
      <p:sp>
        <p:nvSpPr>
          <p:cNvPr id="10" name="Shape 7"/>
          <p:cNvSpPr/>
          <p:nvPr/>
        </p:nvSpPr>
        <p:spPr>
          <a:xfrm>
            <a:off x="2168957" y="2148840"/>
            <a:ext cx="1371600" cy="1417320"/>
          </a:xfrm>
          <a:prstGeom prst="roundRect">
            <a:avLst>
              <a:gd name="adj" fmla="val 8000"/>
            </a:avLst>
          </a:prstGeom>
          <a:solidFill>
            <a:srgbClr val="004AAD"/>
          </a:solidFill>
          <a:ln w="12700">
            <a:solidFill>
              <a:srgbClr val="004AAD"/>
            </a:solidFill>
            <a:prstDash val="solid"/>
          </a:ln>
        </p:spPr>
      </p:sp>
      <p:sp>
        <p:nvSpPr>
          <p:cNvPr id="11" name="Text 8"/>
          <p:cNvSpPr txBox="1"/>
          <p:nvPr/>
        </p:nvSpPr>
        <p:spPr>
          <a:xfrm>
            <a:off x="2168957" y="2258568"/>
            <a:ext cx="1371600" cy="77724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LOAD</a:t>
            </a:r>
            <a:endParaRPr lang="en-US" sz="1250" dirty="0"/>
          </a:p>
        </p:txBody>
      </p:sp>
      <p:sp>
        <p:nvSpPr>
          <p:cNvPr id="12" name="Text 9"/>
          <p:cNvSpPr txBox="1"/>
          <p:nvPr/>
        </p:nvSpPr>
        <p:spPr>
          <a:xfrm>
            <a:off x="2242109" y="3044952"/>
            <a:ext cx="1225296" cy="457200"/>
          </a:xfrm>
          <a:prstGeom prst="rect">
            <a:avLst/>
          </a:prstGeom>
          <a:noFill/>
          <a:ln/>
        </p:spPr>
        <p:txBody>
          <a:bodyPr wrap="square" lIns="0" tIns="0" rIns="0" bIns="0" rtlCol="0" anchor="t"/>
          <a:lstStyle/>
          <a:p>
            <a:pPr algn="ctr" indent="0" marL="0">
              <a:buNone/>
            </a:pPr>
            <a:r>
              <a:rPr lang="en-US" sz="1050" dirty="0">
                <a:solidFill>
                  <a:srgbClr val="CADCFC"/>
                </a:solidFill>
                <a:latin typeface="Arial" pitchFamily="34" charset="0"/>
                <a:ea typeface="Arial" pitchFamily="34" charset="-122"/>
                <a:cs typeface="Arial" pitchFamily="34" charset="-120"/>
              </a:rPr>
              <a:t>capture plaintext and key</a:t>
            </a:r>
            <a:endParaRPr lang="en-US" sz="1050" dirty="0"/>
          </a:p>
        </p:txBody>
      </p:sp>
      <p:sp>
        <p:nvSpPr>
          <p:cNvPr id="13" name="Shape 10"/>
          <p:cNvSpPr/>
          <p:nvPr/>
        </p:nvSpPr>
        <p:spPr>
          <a:xfrm>
            <a:off x="3558845" y="2857500"/>
            <a:ext cx="212141" cy="0"/>
          </a:xfrm>
          <a:prstGeom prst="line">
            <a:avLst/>
          </a:prstGeom>
          <a:noFill/>
          <a:ln w="22225">
            <a:solidFill>
              <a:srgbClr val="FF5757"/>
            </a:solidFill>
            <a:prstDash val="solid"/>
            <a:tailEnd type="triangle"/>
          </a:ln>
        </p:spPr>
      </p:sp>
      <p:sp>
        <p:nvSpPr>
          <p:cNvPr id="14" name="Shape 11"/>
          <p:cNvSpPr/>
          <p:nvPr/>
        </p:nvSpPr>
        <p:spPr>
          <a:xfrm>
            <a:off x="3789274" y="2148840"/>
            <a:ext cx="1371600" cy="1417320"/>
          </a:xfrm>
          <a:prstGeom prst="roundRect">
            <a:avLst>
              <a:gd name="adj" fmla="val 8000"/>
            </a:avLst>
          </a:prstGeom>
          <a:solidFill>
            <a:srgbClr val="004AAD"/>
          </a:solidFill>
          <a:ln w="12700">
            <a:solidFill>
              <a:srgbClr val="004AAD"/>
            </a:solidFill>
            <a:prstDash val="solid"/>
          </a:ln>
        </p:spPr>
      </p:sp>
      <p:sp>
        <p:nvSpPr>
          <p:cNvPr id="15" name="Text 12"/>
          <p:cNvSpPr txBox="1"/>
          <p:nvPr/>
        </p:nvSpPr>
        <p:spPr>
          <a:xfrm>
            <a:off x="3789274" y="2258568"/>
            <a:ext cx="1371600" cy="77724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KEY_</a:t>
            </a:r>
            <a:endParaRPr lang="en-US" sz="1250" dirty="0"/>
          </a:p>
          <a:p>
            <a:pPr algn="ctr" indent="0" marL="0">
              <a:buNone/>
            </a:pPr>
            <a:r>
              <a:rPr lang="en-US" sz="1250" b="1" dirty="0">
                <a:solidFill>
                  <a:srgbClr val="FFFFFF"/>
                </a:solidFill>
                <a:latin typeface="Arial" pitchFamily="34" charset="0"/>
                <a:ea typeface="Arial" pitchFamily="34" charset="-122"/>
                <a:cs typeface="Arial" pitchFamily="34" charset="-120"/>
              </a:rPr>
              <a:t>EXPANSION</a:t>
            </a:r>
            <a:endParaRPr lang="en-US" sz="1250" dirty="0"/>
          </a:p>
        </p:txBody>
      </p:sp>
      <p:sp>
        <p:nvSpPr>
          <p:cNvPr id="16" name="Text 13"/>
          <p:cNvSpPr txBox="1"/>
          <p:nvPr/>
        </p:nvSpPr>
        <p:spPr>
          <a:xfrm>
            <a:off x="3862426" y="3044952"/>
            <a:ext cx="1225296" cy="457200"/>
          </a:xfrm>
          <a:prstGeom prst="rect">
            <a:avLst/>
          </a:prstGeom>
          <a:noFill/>
          <a:ln/>
        </p:spPr>
        <p:txBody>
          <a:bodyPr wrap="square" lIns="0" tIns="0" rIns="0" bIns="0" rtlCol="0" anchor="t"/>
          <a:lstStyle/>
          <a:p>
            <a:pPr algn="ctr" indent="0" marL="0">
              <a:buNone/>
            </a:pPr>
            <a:r>
              <a:rPr lang="en-US" sz="1050" dirty="0">
                <a:solidFill>
                  <a:srgbClr val="CADCFC"/>
                </a:solidFill>
                <a:latin typeface="Arial" pitchFamily="34" charset="0"/>
                <a:ea typeface="Arial" pitchFamily="34" charset="-122"/>
                <a:cs typeface="Arial" pitchFamily="34" charset="-120"/>
              </a:rPr>
              <a:t>generate round keys</a:t>
            </a:r>
            <a:endParaRPr lang="en-US" sz="1050" dirty="0"/>
          </a:p>
        </p:txBody>
      </p:sp>
      <p:sp>
        <p:nvSpPr>
          <p:cNvPr id="17" name="Shape 14"/>
          <p:cNvSpPr/>
          <p:nvPr/>
        </p:nvSpPr>
        <p:spPr>
          <a:xfrm>
            <a:off x="5179162" y="2857500"/>
            <a:ext cx="212141" cy="0"/>
          </a:xfrm>
          <a:prstGeom prst="line">
            <a:avLst/>
          </a:prstGeom>
          <a:noFill/>
          <a:ln w="22225">
            <a:solidFill>
              <a:srgbClr val="FF5757"/>
            </a:solidFill>
            <a:prstDash val="solid"/>
            <a:tailEnd type="triangle"/>
          </a:ln>
        </p:spPr>
      </p:sp>
      <p:sp>
        <p:nvSpPr>
          <p:cNvPr id="18" name="Shape 15"/>
          <p:cNvSpPr/>
          <p:nvPr/>
        </p:nvSpPr>
        <p:spPr>
          <a:xfrm>
            <a:off x="5409590" y="2148840"/>
            <a:ext cx="1371600" cy="1417320"/>
          </a:xfrm>
          <a:prstGeom prst="roundRect">
            <a:avLst>
              <a:gd name="adj" fmla="val 8000"/>
            </a:avLst>
          </a:prstGeom>
          <a:solidFill>
            <a:srgbClr val="004AAD"/>
          </a:solidFill>
          <a:ln w="12700">
            <a:solidFill>
              <a:srgbClr val="004AAD"/>
            </a:solidFill>
            <a:prstDash val="solid"/>
          </a:ln>
        </p:spPr>
      </p:sp>
      <p:sp>
        <p:nvSpPr>
          <p:cNvPr id="19" name="Text 16"/>
          <p:cNvSpPr txBox="1"/>
          <p:nvPr/>
        </p:nvSpPr>
        <p:spPr>
          <a:xfrm>
            <a:off x="5409590" y="2258568"/>
            <a:ext cx="1371600" cy="77724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INITIAL_</a:t>
            </a:r>
            <a:endParaRPr lang="en-US" sz="1250" dirty="0"/>
          </a:p>
          <a:p>
            <a:pPr algn="ctr" indent="0" marL="0">
              <a:buNone/>
            </a:pPr>
            <a:r>
              <a:rPr lang="en-US" sz="1250" b="1" dirty="0">
                <a:solidFill>
                  <a:srgbClr val="FFFFFF"/>
                </a:solidFill>
                <a:latin typeface="Arial" pitchFamily="34" charset="0"/>
                <a:ea typeface="Arial" pitchFamily="34" charset="-122"/>
                <a:cs typeface="Arial" pitchFamily="34" charset="-120"/>
              </a:rPr>
              <a:t>ADD_KEY</a:t>
            </a:r>
            <a:endParaRPr lang="en-US" sz="1250" dirty="0"/>
          </a:p>
        </p:txBody>
      </p:sp>
      <p:sp>
        <p:nvSpPr>
          <p:cNvPr id="20" name="Text 17"/>
          <p:cNvSpPr txBox="1"/>
          <p:nvPr/>
        </p:nvSpPr>
        <p:spPr>
          <a:xfrm>
            <a:off x="5482742" y="3044952"/>
            <a:ext cx="1225296" cy="457200"/>
          </a:xfrm>
          <a:prstGeom prst="rect">
            <a:avLst/>
          </a:prstGeom>
          <a:noFill/>
          <a:ln/>
        </p:spPr>
        <p:txBody>
          <a:bodyPr wrap="square" lIns="0" tIns="0" rIns="0" bIns="0" rtlCol="0" anchor="t"/>
          <a:lstStyle/>
          <a:p>
            <a:pPr algn="ctr" indent="0" marL="0">
              <a:buNone/>
            </a:pPr>
            <a:r>
              <a:rPr lang="en-US" sz="1050" dirty="0">
                <a:solidFill>
                  <a:srgbClr val="CADCFC"/>
                </a:solidFill>
                <a:latin typeface="Arial" pitchFamily="34" charset="0"/>
                <a:ea typeface="Arial" pitchFamily="34" charset="-122"/>
                <a:cs typeface="Arial" pitchFamily="34" charset="-120"/>
              </a:rPr>
              <a:t>plaintext XOR K0</a:t>
            </a:r>
            <a:endParaRPr lang="en-US" sz="1050" dirty="0"/>
          </a:p>
        </p:txBody>
      </p:sp>
      <p:sp>
        <p:nvSpPr>
          <p:cNvPr id="21" name="Shape 18"/>
          <p:cNvSpPr/>
          <p:nvPr/>
        </p:nvSpPr>
        <p:spPr>
          <a:xfrm>
            <a:off x="6799478" y="2857500"/>
            <a:ext cx="212141" cy="0"/>
          </a:xfrm>
          <a:prstGeom prst="line">
            <a:avLst/>
          </a:prstGeom>
          <a:noFill/>
          <a:ln w="22225">
            <a:solidFill>
              <a:srgbClr val="FF5757"/>
            </a:solidFill>
            <a:prstDash val="solid"/>
            <a:tailEnd type="triangle"/>
          </a:ln>
        </p:spPr>
      </p:sp>
      <p:sp>
        <p:nvSpPr>
          <p:cNvPr id="22" name="Shape 19"/>
          <p:cNvSpPr/>
          <p:nvPr/>
        </p:nvSpPr>
        <p:spPr>
          <a:xfrm>
            <a:off x="7029907" y="2148840"/>
            <a:ext cx="1371600" cy="1417320"/>
          </a:xfrm>
          <a:prstGeom prst="roundRect">
            <a:avLst>
              <a:gd name="adj" fmla="val 8000"/>
            </a:avLst>
          </a:prstGeom>
          <a:solidFill>
            <a:srgbClr val="0B1F44"/>
          </a:solidFill>
          <a:ln w="12700">
            <a:solidFill>
              <a:srgbClr val="0B1F44"/>
            </a:solidFill>
            <a:prstDash val="solid"/>
          </a:ln>
        </p:spPr>
      </p:sp>
      <p:sp>
        <p:nvSpPr>
          <p:cNvPr id="23" name="Text 20"/>
          <p:cNvSpPr txBox="1"/>
          <p:nvPr/>
        </p:nvSpPr>
        <p:spPr>
          <a:xfrm>
            <a:off x="7029907" y="2258568"/>
            <a:ext cx="1371600" cy="77724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ROUND_1</a:t>
            </a:r>
            <a:endParaRPr lang="en-US" sz="1250" dirty="0"/>
          </a:p>
          <a:p>
            <a:pPr algn="ctr" indent="0" marL="0">
              <a:buNone/>
            </a:pPr>
            <a:r>
              <a:rPr lang="en-US" sz="1250" b="1" dirty="0">
                <a:solidFill>
                  <a:srgbClr val="FFFFFF"/>
                </a:solidFill>
                <a:latin typeface="Arial" pitchFamily="34" charset="0"/>
                <a:ea typeface="Arial" pitchFamily="34" charset="-122"/>
                <a:cs typeface="Arial" pitchFamily="34" charset="-120"/>
              </a:rPr>
              <a:t>to ROUND_9</a:t>
            </a:r>
            <a:endParaRPr lang="en-US" sz="1250" dirty="0"/>
          </a:p>
        </p:txBody>
      </p:sp>
      <p:sp>
        <p:nvSpPr>
          <p:cNvPr id="24" name="Text 21"/>
          <p:cNvSpPr txBox="1"/>
          <p:nvPr/>
        </p:nvSpPr>
        <p:spPr>
          <a:xfrm>
            <a:off x="7103059" y="3044952"/>
            <a:ext cx="1225296" cy="457200"/>
          </a:xfrm>
          <a:prstGeom prst="rect">
            <a:avLst/>
          </a:prstGeom>
          <a:noFill/>
          <a:ln/>
        </p:spPr>
        <p:txBody>
          <a:bodyPr wrap="square" lIns="0" tIns="0" rIns="0" bIns="0" rtlCol="0" anchor="t"/>
          <a:lstStyle/>
          <a:p>
            <a:pPr algn="ctr" indent="0" marL="0">
              <a:buNone/>
            </a:pPr>
            <a:r>
              <a:rPr lang="en-US" sz="1050" dirty="0">
                <a:solidFill>
                  <a:srgbClr val="CADCFC"/>
                </a:solidFill>
                <a:latin typeface="Arial" pitchFamily="34" charset="0"/>
                <a:ea typeface="Arial" pitchFamily="34" charset="-122"/>
                <a:cs typeface="Arial" pitchFamily="34" charset="-120"/>
              </a:rPr>
              <a:t>full AES round</a:t>
            </a:r>
            <a:endParaRPr lang="en-US" sz="1050" dirty="0"/>
          </a:p>
        </p:txBody>
      </p:sp>
      <p:sp>
        <p:nvSpPr>
          <p:cNvPr id="25" name="Shape 22"/>
          <p:cNvSpPr/>
          <p:nvPr/>
        </p:nvSpPr>
        <p:spPr>
          <a:xfrm>
            <a:off x="8419795" y="2857500"/>
            <a:ext cx="212141" cy="0"/>
          </a:xfrm>
          <a:prstGeom prst="line">
            <a:avLst/>
          </a:prstGeom>
          <a:noFill/>
          <a:ln w="22225">
            <a:solidFill>
              <a:srgbClr val="FF5757"/>
            </a:solidFill>
            <a:prstDash val="solid"/>
            <a:tailEnd type="triangle"/>
          </a:ln>
        </p:spPr>
      </p:sp>
      <p:sp>
        <p:nvSpPr>
          <p:cNvPr id="26" name="Shape 23"/>
          <p:cNvSpPr/>
          <p:nvPr/>
        </p:nvSpPr>
        <p:spPr>
          <a:xfrm>
            <a:off x="8650224" y="2148840"/>
            <a:ext cx="1371600" cy="1417320"/>
          </a:xfrm>
          <a:prstGeom prst="roundRect">
            <a:avLst>
              <a:gd name="adj" fmla="val 8000"/>
            </a:avLst>
          </a:prstGeom>
          <a:solidFill>
            <a:srgbClr val="004AAD"/>
          </a:solidFill>
          <a:ln w="12700">
            <a:solidFill>
              <a:srgbClr val="004AAD"/>
            </a:solidFill>
            <a:prstDash val="solid"/>
          </a:ln>
        </p:spPr>
      </p:sp>
      <p:sp>
        <p:nvSpPr>
          <p:cNvPr id="27" name="Text 24"/>
          <p:cNvSpPr txBox="1"/>
          <p:nvPr/>
        </p:nvSpPr>
        <p:spPr>
          <a:xfrm>
            <a:off x="8650224" y="2258568"/>
            <a:ext cx="1371600" cy="77724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ROUND_10</a:t>
            </a:r>
            <a:endParaRPr lang="en-US" sz="1250" dirty="0"/>
          </a:p>
        </p:txBody>
      </p:sp>
      <p:sp>
        <p:nvSpPr>
          <p:cNvPr id="28" name="Text 25"/>
          <p:cNvSpPr txBox="1"/>
          <p:nvPr/>
        </p:nvSpPr>
        <p:spPr>
          <a:xfrm>
            <a:off x="8723376" y="3044952"/>
            <a:ext cx="1225296" cy="457200"/>
          </a:xfrm>
          <a:prstGeom prst="rect">
            <a:avLst/>
          </a:prstGeom>
          <a:noFill/>
          <a:ln/>
        </p:spPr>
        <p:txBody>
          <a:bodyPr wrap="square" lIns="0" tIns="0" rIns="0" bIns="0" rtlCol="0" anchor="t"/>
          <a:lstStyle/>
          <a:p>
            <a:pPr algn="ctr" indent="0" marL="0">
              <a:buNone/>
            </a:pPr>
            <a:r>
              <a:rPr lang="en-US" sz="1050" dirty="0">
                <a:solidFill>
                  <a:srgbClr val="CADCFC"/>
                </a:solidFill>
                <a:latin typeface="Arial" pitchFamily="34" charset="0"/>
                <a:ea typeface="Arial" pitchFamily="34" charset="-122"/>
                <a:cs typeface="Arial" pitchFamily="34" charset="-120"/>
              </a:rPr>
              <a:t>no MixColumns</a:t>
            </a:r>
            <a:endParaRPr lang="en-US" sz="1050" dirty="0"/>
          </a:p>
        </p:txBody>
      </p:sp>
      <p:sp>
        <p:nvSpPr>
          <p:cNvPr id="29" name="Shape 26"/>
          <p:cNvSpPr/>
          <p:nvPr/>
        </p:nvSpPr>
        <p:spPr>
          <a:xfrm>
            <a:off x="10040112" y="2857500"/>
            <a:ext cx="212141" cy="0"/>
          </a:xfrm>
          <a:prstGeom prst="line">
            <a:avLst/>
          </a:prstGeom>
          <a:noFill/>
          <a:ln w="22225">
            <a:solidFill>
              <a:srgbClr val="FF5757"/>
            </a:solidFill>
            <a:prstDash val="solid"/>
            <a:tailEnd type="triangle"/>
          </a:ln>
        </p:spPr>
      </p:sp>
      <p:sp>
        <p:nvSpPr>
          <p:cNvPr id="30" name="Shape 27"/>
          <p:cNvSpPr/>
          <p:nvPr/>
        </p:nvSpPr>
        <p:spPr>
          <a:xfrm>
            <a:off x="10270541" y="2148840"/>
            <a:ext cx="1371600" cy="1417320"/>
          </a:xfrm>
          <a:prstGeom prst="roundRect">
            <a:avLst>
              <a:gd name="adj" fmla="val 8000"/>
            </a:avLst>
          </a:prstGeom>
          <a:solidFill>
            <a:srgbClr val="FF5757"/>
          </a:solidFill>
          <a:ln w="12700">
            <a:solidFill>
              <a:srgbClr val="FF5757"/>
            </a:solidFill>
            <a:prstDash val="solid"/>
          </a:ln>
        </p:spPr>
      </p:sp>
      <p:sp>
        <p:nvSpPr>
          <p:cNvPr id="31" name="Text 28"/>
          <p:cNvSpPr txBox="1"/>
          <p:nvPr/>
        </p:nvSpPr>
        <p:spPr>
          <a:xfrm>
            <a:off x="10270541" y="2258568"/>
            <a:ext cx="1371600" cy="77724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DONE</a:t>
            </a:r>
            <a:endParaRPr lang="en-US" sz="1250" dirty="0"/>
          </a:p>
        </p:txBody>
      </p:sp>
      <p:sp>
        <p:nvSpPr>
          <p:cNvPr id="32" name="Text 29"/>
          <p:cNvSpPr txBox="1"/>
          <p:nvPr/>
        </p:nvSpPr>
        <p:spPr>
          <a:xfrm>
            <a:off x="10343693" y="3044952"/>
            <a:ext cx="1225296" cy="457200"/>
          </a:xfrm>
          <a:prstGeom prst="rect">
            <a:avLst/>
          </a:prstGeom>
          <a:noFill/>
          <a:ln/>
        </p:spPr>
        <p:txBody>
          <a:bodyPr wrap="square" lIns="0" tIns="0" rIns="0" bIns="0" rtlCol="0" anchor="t"/>
          <a:lstStyle/>
          <a:p>
            <a:pPr algn="ctr" indent="0" marL="0">
              <a:buNone/>
            </a:pPr>
            <a:r>
              <a:rPr lang="en-US" sz="1050" dirty="0">
                <a:solidFill>
                  <a:srgbClr val="CADCFC"/>
                </a:solidFill>
                <a:latin typeface="Arial" pitchFamily="34" charset="0"/>
                <a:ea typeface="Arial" pitchFamily="34" charset="-122"/>
                <a:cs typeface="Arial" pitchFamily="34" charset="-120"/>
              </a:rPr>
              <a:t>register ciphertext</a:t>
            </a:r>
            <a:endParaRPr lang="en-US" sz="1050" dirty="0"/>
          </a:p>
        </p:txBody>
      </p:sp>
      <p:sp>
        <p:nvSpPr>
          <p:cNvPr id="33" name="Shape 30"/>
          <p:cNvSpPr/>
          <p:nvPr/>
        </p:nvSpPr>
        <p:spPr>
          <a:xfrm>
            <a:off x="7258507" y="1600200"/>
            <a:ext cx="914400" cy="329184"/>
          </a:xfrm>
          <a:prstGeom prst="roundRect">
            <a:avLst>
              <a:gd name="adj" fmla="val 50000"/>
            </a:avLst>
          </a:prstGeom>
          <a:solidFill>
            <a:srgbClr val="FFEDED"/>
          </a:solidFill>
          <a:ln w="9525">
            <a:solidFill>
              <a:srgbClr val="FF5757"/>
            </a:solidFill>
            <a:prstDash val="solid"/>
          </a:ln>
        </p:spPr>
      </p:sp>
      <p:sp>
        <p:nvSpPr>
          <p:cNvPr id="34" name="Text 31"/>
          <p:cNvSpPr txBox="1"/>
          <p:nvPr/>
        </p:nvSpPr>
        <p:spPr>
          <a:xfrm>
            <a:off x="7258507" y="1600200"/>
            <a:ext cx="914400" cy="329184"/>
          </a:xfrm>
          <a:prstGeom prst="rect">
            <a:avLst/>
          </a:prstGeom>
          <a:noFill/>
          <a:ln/>
        </p:spPr>
        <p:txBody>
          <a:bodyPr wrap="square" lIns="0" tIns="0" rIns="0" bIns="0" rtlCol="0" anchor="ctr"/>
          <a:lstStyle/>
          <a:p>
            <a:pPr algn="ctr" indent="0" marL="0">
              <a:buNone/>
            </a:pPr>
            <a:r>
              <a:rPr lang="en-US" sz="1150" b="1" dirty="0">
                <a:solidFill>
                  <a:srgbClr val="FF5757"/>
                </a:solidFill>
                <a:latin typeface="Arial" pitchFamily="34" charset="0"/>
                <a:ea typeface="Arial" pitchFamily="34" charset="-122"/>
                <a:cs typeface="Arial" pitchFamily="34" charset="-120"/>
              </a:rPr>
              <a:t>repeat x9</a:t>
            </a:r>
            <a:endParaRPr lang="en-US" sz="1150" dirty="0"/>
          </a:p>
        </p:txBody>
      </p:sp>
      <p:sp>
        <p:nvSpPr>
          <p:cNvPr id="35" name="Shape 32"/>
          <p:cNvSpPr/>
          <p:nvPr/>
        </p:nvSpPr>
        <p:spPr>
          <a:xfrm>
            <a:off x="7715707" y="1947672"/>
            <a:ext cx="0" cy="182880"/>
          </a:xfrm>
          <a:prstGeom prst="line">
            <a:avLst/>
          </a:prstGeom>
          <a:noFill/>
          <a:ln w="19050">
            <a:solidFill>
              <a:srgbClr val="FF5757"/>
            </a:solidFill>
            <a:prstDash val="solid"/>
            <a:tailEnd type="triangle"/>
          </a:ln>
        </p:spPr>
      </p:sp>
      <p:sp>
        <p:nvSpPr>
          <p:cNvPr id="36" name="Shape 33"/>
          <p:cNvSpPr/>
          <p:nvPr/>
        </p:nvSpPr>
        <p:spPr>
          <a:xfrm>
            <a:off x="548640" y="4023360"/>
            <a:ext cx="3520440" cy="2194560"/>
          </a:xfrm>
          <a:prstGeom prst="roundRect">
            <a:avLst>
              <a:gd name="adj" fmla="val 5000"/>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37" name="Shape 34"/>
          <p:cNvSpPr/>
          <p:nvPr/>
        </p:nvSpPr>
        <p:spPr>
          <a:xfrm>
            <a:off x="777240" y="4251960"/>
            <a:ext cx="548640" cy="548640"/>
          </a:xfrm>
          <a:prstGeom prst="ellipse">
            <a:avLst/>
          </a:prstGeom>
          <a:solidFill>
            <a:srgbClr val="004AAD"/>
          </a:solidFill>
          <a:ln w="12700">
            <a:solidFill>
              <a:srgbClr val="004AAD"/>
            </a:solidFill>
            <a:prstDash val="solid"/>
          </a:ln>
        </p:spPr>
      </p:sp>
      <p:pic>
        <p:nvPicPr>
          <p:cNvPr id="38" name="Image 1" descr="preencoded.png">    </p:cNvPr>
          <p:cNvPicPr>
            <a:picLocks noChangeAspect="1"/>
          </p:cNvPicPr>
          <p:nvPr/>
        </p:nvPicPr>
        <p:blipFill>
          <a:blip r:embed="rId2"/>
          <a:stretch>
            <a:fillRect/>
          </a:stretch>
        </p:blipFill>
        <p:spPr>
          <a:xfrm>
            <a:off x="919886" y="4394606"/>
            <a:ext cx="263347" cy="263347"/>
          </a:xfrm>
          <a:prstGeom prst="rect">
            <a:avLst/>
          </a:prstGeom>
        </p:spPr>
      </p:pic>
      <p:sp>
        <p:nvSpPr>
          <p:cNvPr id="39" name="Text 35"/>
          <p:cNvSpPr txBox="1"/>
          <p:nvPr/>
        </p:nvSpPr>
        <p:spPr>
          <a:xfrm>
            <a:off x="1508760" y="4251960"/>
            <a:ext cx="2423160" cy="548640"/>
          </a:xfrm>
          <a:prstGeom prst="rect">
            <a:avLst/>
          </a:prstGeom>
          <a:noFill/>
          <a:ln/>
        </p:spPr>
        <p:txBody>
          <a:bodyPr wrap="square" lIns="0" tIns="0" rIns="0" bIns="0" rtlCol="0" anchor="ctr"/>
          <a:lstStyle/>
          <a:p>
            <a:pPr indent="0" marL="0">
              <a:buNone/>
            </a:pPr>
            <a:r>
              <a:rPr lang="en-US" sz="1500" b="1" dirty="0">
                <a:solidFill>
                  <a:srgbClr val="0B1F44"/>
                </a:solidFill>
                <a:latin typeface="Arial" pitchFamily="34" charset="0"/>
                <a:ea typeface="Arial" pitchFamily="34" charset="-122"/>
                <a:cs typeface="Arial" pitchFamily="34" charset="-120"/>
              </a:rPr>
              <a:t>One round datapath, reused</a:t>
            </a:r>
            <a:endParaRPr lang="en-US" sz="1500" dirty="0"/>
          </a:p>
        </p:txBody>
      </p:sp>
      <p:sp>
        <p:nvSpPr>
          <p:cNvPr id="40" name="Text 36"/>
          <p:cNvSpPr txBox="1"/>
          <p:nvPr/>
        </p:nvSpPr>
        <p:spPr>
          <a:xfrm>
            <a:off x="777240" y="4983480"/>
            <a:ext cx="3108960" cy="1188720"/>
          </a:xfrm>
          <a:prstGeom prst="rect">
            <a:avLst/>
          </a:prstGeom>
          <a:noFill/>
          <a:ln/>
        </p:spPr>
        <p:txBody>
          <a:bodyPr wrap="square" lIns="0" tIns="0" rIns="0" bIns="0" rtlCol="0" anchor="t"/>
          <a:lstStyle/>
          <a:p>
            <a:pPr indent="0" marL="0">
              <a:buNone/>
            </a:pPr>
            <a:r>
              <a:rPr lang="en-US" sz="1300" dirty="0">
                <a:solidFill>
                  <a:srgbClr val="1B2333"/>
                </a:solidFill>
                <a:latin typeface="Arial" pitchFamily="34" charset="0"/>
                <a:ea typeface="Arial" pitchFamily="34" charset="-122"/>
                <a:cs typeface="Arial" pitchFamily="34" charset="-120"/>
              </a:rPr>
              <a:t>The same physical SubBytes, ShiftRows, MixColumns and AddRoundKey logic runs in all ten rounds under FSM control.</a:t>
            </a:r>
            <a:endParaRPr lang="en-US" sz="1300" dirty="0"/>
          </a:p>
        </p:txBody>
      </p:sp>
      <p:sp>
        <p:nvSpPr>
          <p:cNvPr id="41" name="Shape 37"/>
          <p:cNvSpPr/>
          <p:nvPr/>
        </p:nvSpPr>
        <p:spPr>
          <a:xfrm>
            <a:off x="4334256" y="4023360"/>
            <a:ext cx="3520440" cy="2194560"/>
          </a:xfrm>
          <a:prstGeom prst="roundRect">
            <a:avLst>
              <a:gd name="adj" fmla="val 5000"/>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42" name="Shape 38"/>
          <p:cNvSpPr/>
          <p:nvPr/>
        </p:nvSpPr>
        <p:spPr>
          <a:xfrm>
            <a:off x="4562856" y="4251960"/>
            <a:ext cx="548640" cy="548640"/>
          </a:xfrm>
          <a:prstGeom prst="ellipse">
            <a:avLst/>
          </a:prstGeom>
          <a:solidFill>
            <a:srgbClr val="1B75BB"/>
          </a:solidFill>
          <a:ln w="12700">
            <a:solidFill>
              <a:srgbClr val="1B75BB"/>
            </a:solidFill>
            <a:prstDash val="solid"/>
          </a:ln>
        </p:spPr>
      </p:sp>
      <p:pic>
        <p:nvPicPr>
          <p:cNvPr id="43" name="Image 2" descr="preencoded.png">    </p:cNvPr>
          <p:cNvPicPr>
            <a:picLocks noChangeAspect="1"/>
          </p:cNvPicPr>
          <p:nvPr/>
        </p:nvPicPr>
        <p:blipFill>
          <a:blip r:embed="rId3"/>
          <a:stretch>
            <a:fillRect/>
          </a:stretch>
        </p:blipFill>
        <p:spPr>
          <a:xfrm>
            <a:off x="4705502" y="4394606"/>
            <a:ext cx="263347" cy="263347"/>
          </a:xfrm>
          <a:prstGeom prst="rect">
            <a:avLst/>
          </a:prstGeom>
        </p:spPr>
      </p:pic>
      <p:sp>
        <p:nvSpPr>
          <p:cNvPr id="44" name="Text 39"/>
          <p:cNvSpPr txBox="1"/>
          <p:nvPr/>
        </p:nvSpPr>
        <p:spPr>
          <a:xfrm>
            <a:off x="5294376" y="4251960"/>
            <a:ext cx="2423160" cy="548640"/>
          </a:xfrm>
          <a:prstGeom prst="rect">
            <a:avLst/>
          </a:prstGeom>
          <a:noFill/>
          <a:ln/>
        </p:spPr>
        <p:txBody>
          <a:bodyPr wrap="square" lIns="0" tIns="0" rIns="0" bIns="0" rtlCol="0" anchor="ctr"/>
          <a:lstStyle/>
          <a:p>
            <a:pPr indent="0" marL="0">
              <a:buNone/>
            </a:pPr>
            <a:r>
              <a:rPr lang="en-US" sz="1500" b="1" dirty="0">
                <a:solidFill>
                  <a:srgbClr val="0B1F44"/>
                </a:solidFill>
                <a:latin typeface="Arial" pitchFamily="34" charset="0"/>
                <a:ea typeface="Arial" pitchFamily="34" charset="-122"/>
                <a:cs typeface="Arial" pitchFamily="34" charset="-120"/>
              </a:rPr>
              <a:t>Key expansion</a:t>
            </a:r>
            <a:endParaRPr lang="en-US" sz="1500" dirty="0"/>
          </a:p>
        </p:txBody>
      </p:sp>
      <p:sp>
        <p:nvSpPr>
          <p:cNvPr id="45" name="Text 40"/>
          <p:cNvSpPr txBox="1"/>
          <p:nvPr/>
        </p:nvSpPr>
        <p:spPr>
          <a:xfrm>
            <a:off x="4562856" y="4983480"/>
            <a:ext cx="3108960" cy="1188720"/>
          </a:xfrm>
          <a:prstGeom prst="rect">
            <a:avLst/>
          </a:prstGeom>
          <a:noFill/>
          <a:ln/>
        </p:spPr>
        <p:txBody>
          <a:bodyPr wrap="square" lIns="0" tIns="0" rIns="0" bIns="0" rtlCol="0" anchor="t"/>
          <a:lstStyle/>
          <a:p>
            <a:pPr indent="0" marL="0">
              <a:buNone/>
            </a:pPr>
            <a:r>
              <a:rPr lang="en-US" sz="1300" dirty="0">
                <a:solidFill>
                  <a:srgbClr val="1B2333"/>
                </a:solidFill>
                <a:latin typeface="Arial" pitchFamily="34" charset="0"/>
                <a:ea typeface="Arial" pitchFamily="34" charset="-122"/>
                <a:cs typeface="Arial" pitchFamily="34" charset="-120"/>
              </a:rPr>
              <a:t>The 128-bit master key becomes eleven 128-bit round keys: K0 for the initial step, K1 to K10 for rounds 1 to 10.</a:t>
            </a:r>
            <a:endParaRPr lang="en-US" sz="1300" dirty="0"/>
          </a:p>
        </p:txBody>
      </p:sp>
      <p:sp>
        <p:nvSpPr>
          <p:cNvPr id="46" name="Shape 41"/>
          <p:cNvSpPr/>
          <p:nvPr/>
        </p:nvSpPr>
        <p:spPr>
          <a:xfrm>
            <a:off x="8119872" y="4023360"/>
            <a:ext cx="3520440" cy="2194560"/>
          </a:xfrm>
          <a:prstGeom prst="roundRect">
            <a:avLst>
              <a:gd name="adj" fmla="val 5000"/>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47" name="Shape 42"/>
          <p:cNvSpPr/>
          <p:nvPr/>
        </p:nvSpPr>
        <p:spPr>
          <a:xfrm>
            <a:off x="8348472" y="4251960"/>
            <a:ext cx="548640" cy="548640"/>
          </a:xfrm>
          <a:prstGeom prst="ellipse">
            <a:avLst/>
          </a:prstGeom>
          <a:solidFill>
            <a:srgbClr val="FF5757"/>
          </a:solidFill>
          <a:ln w="12700">
            <a:solidFill>
              <a:srgbClr val="FF5757"/>
            </a:solidFill>
            <a:prstDash val="solid"/>
          </a:ln>
        </p:spPr>
      </p:sp>
      <p:pic>
        <p:nvPicPr>
          <p:cNvPr id="48" name="Image 3" descr="preencoded.png">    </p:cNvPr>
          <p:cNvPicPr>
            <a:picLocks noChangeAspect="1"/>
          </p:cNvPicPr>
          <p:nvPr/>
        </p:nvPicPr>
        <p:blipFill>
          <a:blip r:embed="rId4"/>
          <a:stretch>
            <a:fillRect/>
          </a:stretch>
        </p:blipFill>
        <p:spPr>
          <a:xfrm>
            <a:off x="8491118" y="4394606"/>
            <a:ext cx="263347" cy="263347"/>
          </a:xfrm>
          <a:prstGeom prst="rect">
            <a:avLst/>
          </a:prstGeom>
        </p:spPr>
      </p:pic>
      <p:sp>
        <p:nvSpPr>
          <p:cNvPr id="49" name="Text 43"/>
          <p:cNvSpPr txBox="1"/>
          <p:nvPr/>
        </p:nvSpPr>
        <p:spPr>
          <a:xfrm>
            <a:off x="9079992" y="4251960"/>
            <a:ext cx="2423160" cy="548640"/>
          </a:xfrm>
          <a:prstGeom prst="rect">
            <a:avLst/>
          </a:prstGeom>
          <a:noFill/>
          <a:ln/>
        </p:spPr>
        <p:txBody>
          <a:bodyPr wrap="square" lIns="0" tIns="0" rIns="0" bIns="0" rtlCol="0" anchor="ctr"/>
          <a:lstStyle/>
          <a:p>
            <a:pPr indent="0" marL="0">
              <a:buNone/>
            </a:pPr>
            <a:r>
              <a:rPr lang="en-US" sz="1500" b="1" dirty="0">
                <a:solidFill>
                  <a:srgbClr val="0B1F44"/>
                </a:solidFill>
                <a:latin typeface="Arial" pitchFamily="34" charset="0"/>
                <a:ea typeface="Arial" pitchFamily="34" charset="-122"/>
                <a:cs typeface="Arial" pitchFamily="34" charset="-120"/>
              </a:rPr>
              <a:t>Area versus latency</a:t>
            </a:r>
            <a:endParaRPr lang="en-US" sz="1500" dirty="0"/>
          </a:p>
        </p:txBody>
      </p:sp>
      <p:sp>
        <p:nvSpPr>
          <p:cNvPr id="50" name="Text 44"/>
          <p:cNvSpPr txBox="1"/>
          <p:nvPr/>
        </p:nvSpPr>
        <p:spPr>
          <a:xfrm>
            <a:off x="8348472" y="4983480"/>
            <a:ext cx="3108960" cy="1188720"/>
          </a:xfrm>
          <a:prstGeom prst="rect">
            <a:avLst/>
          </a:prstGeom>
          <a:noFill/>
          <a:ln/>
        </p:spPr>
        <p:txBody>
          <a:bodyPr wrap="square" lIns="0" tIns="0" rIns="0" bIns="0" rtlCol="0" anchor="t"/>
          <a:lstStyle/>
          <a:p>
            <a:pPr indent="0" marL="0">
              <a:buNone/>
            </a:pPr>
            <a:r>
              <a:rPr lang="en-US" sz="1300" dirty="0">
                <a:solidFill>
                  <a:srgbClr val="1B2333"/>
                </a:solidFill>
                <a:latin typeface="Arial" pitchFamily="34" charset="0"/>
                <a:ea typeface="Arial" pitchFamily="34" charset="-122"/>
                <a:cs typeface="Arial" pitchFamily="34" charset="-120"/>
              </a:rPr>
              <a:t>Reuse minimizes hardware compared with a fully unrolled design, at the cost of more clock cycles per block.</a:t>
            </a:r>
            <a:endParaRPr lang="en-US"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47472"/>
            <a:ext cx="7315200" cy="228600"/>
          </a:xfrm>
          <a:prstGeom prst="rect">
            <a:avLst/>
          </a:prstGeom>
          <a:noFill/>
          <a:ln/>
        </p:spPr>
        <p:txBody>
          <a:bodyPr wrap="square" lIns="0" tIns="0" rIns="0" bIns="0" rtlCol="0" anchor="t"/>
          <a:lstStyle/>
          <a:p>
            <a:pPr indent="0" marL="0">
              <a:buNone/>
            </a:pPr>
            <a:r>
              <a:rPr lang="en-US" sz="1200" b="1" spc="300" kern="0" dirty="0">
                <a:solidFill>
                  <a:srgbClr val="FF5757"/>
                </a:solidFill>
                <a:latin typeface="Arial" pitchFamily="34" charset="0"/>
                <a:ea typeface="Arial" pitchFamily="34" charset="-122"/>
                <a:cs typeface="Arial" pitchFamily="34" charset="-120"/>
              </a:rPr>
              <a:t>03  DEVELOPMENT JOURNEY</a:t>
            </a:r>
            <a:endParaRPr lang="en-US" sz="1200" dirty="0"/>
          </a:p>
        </p:txBody>
      </p:sp>
      <p:sp>
        <p:nvSpPr>
          <p:cNvPr id="3" name="Text 1"/>
          <p:cNvSpPr txBox="1"/>
          <p:nvPr/>
        </p:nvSpPr>
        <p:spPr>
          <a:xfrm>
            <a:off x="548640" y="603504"/>
            <a:ext cx="9966960" cy="685800"/>
          </a:xfrm>
          <a:prstGeom prst="rect">
            <a:avLst/>
          </a:prstGeom>
          <a:noFill/>
          <a:ln/>
        </p:spPr>
        <p:txBody>
          <a:bodyPr wrap="square" lIns="0" tIns="0" rIns="0" bIns="0" rtlCol="0" anchor="ctr"/>
          <a:lstStyle/>
          <a:p>
            <a:pPr indent="0" marL="0">
              <a:buNone/>
            </a:pPr>
            <a:r>
              <a:rPr lang="en-US" sz="3200" b="1" dirty="0">
                <a:solidFill>
                  <a:srgbClr val="0B1F44"/>
                </a:solidFill>
                <a:latin typeface="Arial" pitchFamily="34" charset="0"/>
                <a:ea typeface="Arial" pitchFamily="34" charset="-122"/>
                <a:cs typeface="Arial" pitchFamily="34" charset="-120"/>
              </a:rPr>
              <a:t>AES verification: testbench tb_AES_FSM</a:t>
            </a:r>
            <a:endParaRPr lang="en-US" sz="3200" dirty="0"/>
          </a:p>
        </p:txBody>
      </p:sp>
      <p:pic>
        <p:nvPicPr>
          <p:cNvPr id="4" name="Image 0" descr="/home/claude/assets/logo.png">    </p:cNvPr>
          <p:cNvPicPr>
            <a:picLocks noChangeAspect="1"/>
          </p:cNvPicPr>
          <p:nvPr/>
        </p:nvPicPr>
        <p:blipFill>
          <a:blip r:embed="rId1"/>
          <a:stretch>
            <a:fillRect/>
          </a:stretch>
        </p:blipFill>
        <p:spPr>
          <a:xfrm>
            <a:off x="10744200" y="365760"/>
            <a:ext cx="896112" cy="434340"/>
          </a:xfrm>
          <a:prstGeom prst="rect">
            <a:avLst/>
          </a:prstGeom>
        </p:spPr>
      </p:pic>
      <p:sp>
        <p:nvSpPr>
          <p:cNvPr id="5" name="Text 2"/>
          <p:cNvSpPr txBox="1"/>
          <p:nvPr/>
        </p:nvSpPr>
        <p:spPr>
          <a:xfrm>
            <a:off x="548640" y="6428232"/>
            <a:ext cx="6400800" cy="228600"/>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Secure UART Communication System  ·  NTI Digital Design Project</a:t>
            </a:r>
            <a:endParaRPr lang="en-US" sz="1000" dirty="0"/>
          </a:p>
        </p:txBody>
      </p:sp>
      <p:sp>
        <p:nvSpPr>
          <p:cNvPr id="6" name="Shape 3"/>
          <p:cNvSpPr/>
          <p:nvPr/>
        </p:nvSpPr>
        <p:spPr>
          <a:xfrm>
            <a:off x="548640" y="1508760"/>
            <a:ext cx="2606040" cy="1691640"/>
          </a:xfrm>
          <a:prstGeom prst="roundRect">
            <a:avLst>
              <a:gd name="adj" fmla="val 6486"/>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7" name="Shape 4"/>
          <p:cNvSpPr/>
          <p:nvPr/>
        </p:nvSpPr>
        <p:spPr>
          <a:xfrm>
            <a:off x="731520" y="1691640"/>
            <a:ext cx="384048" cy="384048"/>
          </a:xfrm>
          <a:prstGeom prst="ellipse">
            <a:avLst/>
          </a:prstGeom>
          <a:solidFill>
            <a:srgbClr val="004AAD"/>
          </a:solidFill>
          <a:ln w="12700">
            <a:solidFill>
              <a:srgbClr val="004AAD"/>
            </a:solidFill>
            <a:prstDash val="solid"/>
          </a:ln>
        </p:spPr>
      </p:sp>
      <p:sp>
        <p:nvSpPr>
          <p:cNvPr id="8" name="Text 5"/>
          <p:cNvSpPr txBox="1"/>
          <p:nvPr/>
        </p:nvSpPr>
        <p:spPr>
          <a:xfrm>
            <a:off x="731520" y="16916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9" name="Text 6"/>
          <p:cNvSpPr txBox="1"/>
          <p:nvPr/>
        </p:nvSpPr>
        <p:spPr>
          <a:xfrm>
            <a:off x="1234440" y="1691640"/>
            <a:ext cx="1828800" cy="384048"/>
          </a:xfrm>
          <a:prstGeom prst="rect">
            <a:avLst/>
          </a:prstGeom>
          <a:noFill/>
          <a:ln/>
        </p:spPr>
        <p:txBody>
          <a:bodyPr wrap="square" lIns="0" tIns="0" rIns="0" bIns="0" rtlCol="0" anchor="ctr"/>
          <a:lstStyle/>
          <a:p>
            <a:pPr indent="0" marL="0">
              <a:buNone/>
            </a:pPr>
            <a:r>
              <a:rPr lang="en-US" sz="1400" b="1" dirty="0">
                <a:solidFill>
                  <a:srgbClr val="0B1F44"/>
                </a:solidFill>
                <a:latin typeface="Arial" pitchFamily="34" charset="0"/>
                <a:ea typeface="Arial" pitchFamily="34" charset="-122"/>
                <a:cs typeface="Arial" pitchFamily="34" charset="-120"/>
              </a:rPr>
              <a:t>Reset phase</a:t>
            </a:r>
            <a:endParaRPr lang="en-US" sz="1400" dirty="0"/>
          </a:p>
        </p:txBody>
      </p:sp>
      <p:sp>
        <p:nvSpPr>
          <p:cNvPr id="10" name="Text 7"/>
          <p:cNvSpPr txBox="1"/>
          <p:nvPr/>
        </p:nvSpPr>
        <p:spPr>
          <a:xfrm>
            <a:off x="731520" y="2221992"/>
            <a:ext cx="2286000" cy="1097280"/>
          </a:xfrm>
          <a:prstGeom prst="rect">
            <a:avLst/>
          </a:prstGeom>
          <a:noFill/>
          <a:ln/>
        </p:spPr>
        <p:txBody>
          <a:bodyPr wrap="square" lIns="0" tIns="0" rIns="0" bIns="0" rtlCol="0" anchor="t"/>
          <a:lstStyle/>
          <a:p>
            <a:pPr indent="0" marL="0">
              <a:buNone/>
            </a:pPr>
            <a:r>
              <a:rPr lang="en-US" sz="1200" dirty="0">
                <a:solidFill>
                  <a:srgbClr val="1B2333"/>
                </a:solidFill>
                <a:latin typeface="Arial" pitchFamily="34" charset="0"/>
                <a:ea typeface="Arial" pitchFamily="34" charset="-122"/>
                <a:cs typeface="Arial" pitchFamily="34" charset="-120"/>
              </a:rPr>
              <a:t>Inputs start at zero. rst_n is held low for two clock cycles, then released.</a:t>
            </a:r>
            <a:endParaRPr lang="en-US" sz="1200" dirty="0"/>
          </a:p>
        </p:txBody>
      </p:sp>
      <p:sp>
        <p:nvSpPr>
          <p:cNvPr id="11" name="Shape 8"/>
          <p:cNvSpPr/>
          <p:nvPr/>
        </p:nvSpPr>
        <p:spPr>
          <a:xfrm>
            <a:off x="3355848" y="1508760"/>
            <a:ext cx="2606040" cy="1691640"/>
          </a:xfrm>
          <a:prstGeom prst="roundRect">
            <a:avLst>
              <a:gd name="adj" fmla="val 6486"/>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12" name="Shape 9"/>
          <p:cNvSpPr/>
          <p:nvPr/>
        </p:nvSpPr>
        <p:spPr>
          <a:xfrm>
            <a:off x="3538728" y="1691640"/>
            <a:ext cx="384048" cy="384048"/>
          </a:xfrm>
          <a:prstGeom prst="ellipse">
            <a:avLst/>
          </a:prstGeom>
          <a:solidFill>
            <a:srgbClr val="004AAD"/>
          </a:solidFill>
          <a:ln w="12700">
            <a:solidFill>
              <a:srgbClr val="004AAD"/>
            </a:solidFill>
            <a:prstDash val="solid"/>
          </a:ln>
        </p:spPr>
      </p:sp>
      <p:sp>
        <p:nvSpPr>
          <p:cNvPr id="13" name="Text 10"/>
          <p:cNvSpPr txBox="1"/>
          <p:nvPr/>
        </p:nvSpPr>
        <p:spPr>
          <a:xfrm>
            <a:off x="3538728" y="16916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Text 11"/>
          <p:cNvSpPr txBox="1"/>
          <p:nvPr/>
        </p:nvSpPr>
        <p:spPr>
          <a:xfrm>
            <a:off x="4041648" y="1691640"/>
            <a:ext cx="1828800" cy="384048"/>
          </a:xfrm>
          <a:prstGeom prst="rect">
            <a:avLst/>
          </a:prstGeom>
          <a:noFill/>
          <a:ln/>
        </p:spPr>
        <p:txBody>
          <a:bodyPr wrap="square" lIns="0" tIns="0" rIns="0" bIns="0" rtlCol="0" anchor="ctr"/>
          <a:lstStyle/>
          <a:p>
            <a:pPr indent="0" marL="0">
              <a:buNone/>
            </a:pPr>
            <a:r>
              <a:rPr lang="en-US" sz="1400" b="1" dirty="0">
                <a:solidFill>
                  <a:srgbClr val="0B1F44"/>
                </a:solidFill>
                <a:latin typeface="Arial" pitchFamily="34" charset="0"/>
                <a:ea typeface="Arial" pitchFamily="34" charset="-122"/>
                <a:cs typeface="Arial" pitchFamily="34" charset="-120"/>
              </a:rPr>
              <a:t>Data latching</a:t>
            </a:r>
            <a:endParaRPr lang="en-US" sz="1400" dirty="0"/>
          </a:p>
        </p:txBody>
      </p:sp>
      <p:sp>
        <p:nvSpPr>
          <p:cNvPr id="15" name="Text 12"/>
          <p:cNvSpPr txBox="1"/>
          <p:nvPr/>
        </p:nvSpPr>
        <p:spPr>
          <a:xfrm>
            <a:off x="3538728" y="2221992"/>
            <a:ext cx="2286000" cy="1097280"/>
          </a:xfrm>
          <a:prstGeom prst="rect">
            <a:avLst/>
          </a:prstGeom>
          <a:noFill/>
          <a:ln/>
        </p:spPr>
        <p:txBody>
          <a:bodyPr wrap="square" lIns="0" tIns="0" rIns="0" bIns="0" rtlCol="0" anchor="t"/>
          <a:lstStyle/>
          <a:p>
            <a:pPr indent="0" marL="0">
              <a:buNone/>
            </a:pPr>
            <a:r>
              <a:rPr lang="en-US" sz="1200" dirty="0">
                <a:solidFill>
                  <a:srgbClr val="1B2333"/>
                </a:solidFill>
                <a:latin typeface="Arial" pitchFamily="34" charset="0"/>
                <a:ea typeface="Arial" pitchFamily="34" charset="-122"/>
                <a:cs typeface="Arial" pitchFamily="34" charset="-120"/>
              </a:rPr>
              <a:t>Plaintext and key are loaded across a clock edge with non-blocking assignments and a #1 delay.</a:t>
            </a:r>
            <a:endParaRPr lang="en-US" sz="1200" dirty="0"/>
          </a:p>
        </p:txBody>
      </p:sp>
      <p:sp>
        <p:nvSpPr>
          <p:cNvPr id="16" name="Shape 13"/>
          <p:cNvSpPr/>
          <p:nvPr/>
        </p:nvSpPr>
        <p:spPr>
          <a:xfrm>
            <a:off x="6163056" y="1508760"/>
            <a:ext cx="2606040" cy="1691640"/>
          </a:xfrm>
          <a:prstGeom prst="roundRect">
            <a:avLst>
              <a:gd name="adj" fmla="val 6486"/>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17" name="Shape 14"/>
          <p:cNvSpPr/>
          <p:nvPr/>
        </p:nvSpPr>
        <p:spPr>
          <a:xfrm>
            <a:off x="6345936" y="1691640"/>
            <a:ext cx="384048" cy="384048"/>
          </a:xfrm>
          <a:prstGeom prst="ellipse">
            <a:avLst/>
          </a:prstGeom>
          <a:solidFill>
            <a:srgbClr val="004AAD"/>
          </a:solidFill>
          <a:ln w="12700">
            <a:solidFill>
              <a:srgbClr val="004AAD"/>
            </a:solidFill>
            <a:prstDash val="solid"/>
          </a:ln>
        </p:spPr>
      </p:sp>
      <p:sp>
        <p:nvSpPr>
          <p:cNvPr id="18" name="Text 15"/>
          <p:cNvSpPr txBox="1"/>
          <p:nvPr/>
        </p:nvSpPr>
        <p:spPr>
          <a:xfrm>
            <a:off x="6345936" y="16916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9" name="Text 16"/>
          <p:cNvSpPr txBox="1"/>
          <p:nvPr/>
        </p:nvSpPr>
        <p:spPr>
          <a:xfrm>
            <a:off x="6848856" y="1691640"/>
            <a:ext cx="1828800" cy="384048"/>
          </a:xfrm>
          <a:prstGeom prst="rect">
            <a:avLst/>
          </a:prstGeom>
          <a:noFill/>
          <a:ln/>
        </p:spPr>
        <p:txBody>
          <a:bodyPr wrap="square" lIns="0" tIns="0" rIns="0" bIns="0" rtlCol="0" anchor="ctr"/>
          <a:lstStyle/>
          <a:p>
            <a:pPr indent="0" marL="0">
              <a:buNone/>
            </a:pPr>
            <a:r>
              <a:rPr lang="en-US" sz="1400" b="1" dirty="0">
                <a:solidFill>
                  <a:srgbClr val="0B1F44"/>
                </a:solidFill>
                <a:latin typeface="Arial" pitchFamily="34" charset="0"/>
                <a:ea typeface="Arial" pitchFamily="34" charset="-122"/>
                <a:cs typeface="Arial" pitchFamily="34" charset="-120"/>
              </a:rPr>
              <a:t>Execution pulse</a:t>
            </a:r>
            <a:endParaRPr lang="en-US" sz="1400" dirty="0"/>
          </a:p>
        </p:txBody>
      </p:sp>
      <p:sp>
        <p:nvSpPr>
          <p:cNvPr id="20" name="Text 17"/>
          <p:cNvSpPr txBox="1"/>
          <p:nvPr/>
        </p:nvSpPr>
        <p:spPr>
          <a:xfrm>
            <a:off x="6345936" y="2221992"/>
            <a:ext cx="2286000" cy="1097280"/>
          </a:xfrm>
          <a:prstGeom prst="rect">
            <a:avLst/>
          </a:prstGeom>
          <a:noFill/>
          <a:ln/>
        </p:spPr>
        <p:txBody>
          <a:bodyPr wrap="square" lIns="0" tIns="0" rIns="0" bIns="0" rtlCol="0" anchor="t"/>
          <a:lstStyle/>
          <a:p>
            <a:pPr indent="0" marL="0">
              <a:buNone/>
            </a:pPr>
            <a:r>
              <a:rPr lang="en-US" sz="1200" dirty="0">
                <a:solidFill>
                  <a:srgbClr val="1B2333"/>
                </a:solidFill>
                <a:latin typeface="Arial" pitchFamily="34" charset="0"/>
                <a:ea typeface="Arial" pitchFamily="34" charset="-122"/>
                <a:cs typeface="Arial" pitchFamily="34" charset="-120"/>
              </a:rPr>
              <a:t>start pulses high for one clock, moving the FSM from IDLE into the first AddRoundKey.</a:t>
            </a:r>
            <a:endParaRPr lang="en-US" sz="1200" dirty="0"/>
          </a:p>
        </p:txBody>
      </p:sp>
      <p:sp>
        <p:nvSpPr>
          <p:cNvPr id="21" name="Shape 18"/>
          <p:cNvSpPr/>
          <p:nvPr/>
        </p:nvSpPr>
        <p:spPr>
          <a:xfrm>
            <a:off x="8970264" y="1508760"/>
            <a:ext cx="2606040" cy="1691640"/>
          </a:xfrm>
          <a:prstGeom prst="roundRect">
            <a:avLst>
              <a:gd name="adj" fmla="val 6486"/>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22" name="Shape 19"/>
          <p:cNvSpPr/>
          <p:nvPr/>
        </p:nvSpPr>
        <p:spPr>
          <a:xfrm>
            <a:off x="9153144" y="1691640"/>
            <a:ext cx="384048" cy="384048"/>
          </a:xfrm>
          <a:prstGeom prst="ellipse">
            <a:avLst/>
          </a:prstGeom>
          <a:solidFill>
            <a:srgbClr val="004AAD"/>
          </a:solidFill>
          <a:ln w="12700">
            <a:solidFill>
              <a:srgbClr val="004AAD"/>
            </a:solidFill>
            <a:prstDash val="solid"/>
          </a:ln>
        </p:spPr>
      </p:sp>
      <p:sp>
        <p:nvSpPr>
          <p:cNvPr id="23" name="Text 20"/>
          <p:cNvSpPr txBox="1"/>
          <p:nvPr/>
        </p:nvSpPr>
        <p:spPr>
          <a:xfrm>
            <a:off x="9153144" y="16916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1"/>
          <p:cNvSpPr txBox="1"/>
          <p:nvPr/>
        </p:nvSpPr>
        <p:spPr>
          <a:xfrm>
            <a:off x="9656064" y="1691640"/>
            <a:ext cx="1828800" cy="384048"/>
          </a:xfrm>
          <a:prstGeom prst="rect">
            <a:avLst/>
          </a:prstGeom>
          <a:noFill/>
          <a:ln/>
        </p:spPr>
        <p:txBody>
          <a:bodyPr wrap="square" lIns="0" tIns="0" rIns="0" bIns="0" rtlCol="0" anchor="ctr"/>
          <a:lstStyle/>
          <a:p>
            <a:pPr indent="0" marL="0">
              <a:buNone/>
            </a:pPr>
            <a:r>
              <a:rPr lang="en-US" sz="1400" b="1" dirty="0">
                <a:solidFill>
                  <a:srgbClr val="0B1F44"/>
                </a:solidFill>
                <a:latin typeface="Arial" pitchFamily="34" charset="0"/>
                <a:ea typeface="Arial" pitchFamily="34" charset="-122"/>
                <a:cs typeface="Arial" pitchFamily="34" charset="-120"/>
              </a:rPr>
              <a:t>Completion sync</a:t>
            </a:r>
            <a:endParaRPr lang="en-US" sz="1400" dirty="0"/>
          </a:p>
        </p:txBody>
      </p:sp>
      <p:sp>
        <p:nvSpPr>
          <p:cNvPr id="25" name="Text 22"/>
          <p:cNvSpPr txBox="1"/>
          <p:nvPr/>
        </p:nvSpPr>
        <p:spPr>
          <a:xfrm>
            <a:off x="9153144" y="2221992"/>
            <a:ext cx="2286000" cy="1097280"/>
          </a:xfrm>
          <a:prstGeom prst="rect">
            <a:avLst/>
          </a:prstGeom>
          <a:noFill/>
          <a:ln/>
        </p:spPr>
        <p:txBody>
          <a:bodyPr wrap="square" lIns="0" tIns="0" rIns="0" bIns="0" rtlCol="0" anchor="t"/>
          <a:lstStyle/>
          <a:p>
            <a:pPr indent="0" marL="0">
              <a:buNone/>
            </a:pPr>
            <a:r>
              <a:rPr lang="en-US" sz="1200" dirty="0">
                <a:solidFill>
                  <a:srgbClr val="1B2333"/>
                </a:solidFill>
                <a:latin typeface="Arial" pitchFamily="34" charset="0"/>
                <a:ea typeface="Arial" pitchFamily="34" charset="-122"/>
                <a:cs typeface="Arial" pitchFamily="34" charset="-120"/>
              </a:rPr>
              <a:t>The testbench waits (wait(done)) until all 10 rounds finish and done rises for one cycle.</a:t>
            </a:r>
            <a:endParaRPr lang="en-US" sz="1200" dirty="0"/>
          </a:p>
        </p:txBody>
      </p:sp>
      <p:sp>
        <p:nvSpPr>
          <p:cNvPr id="26" name="Shape 23"/>
          <p:cNvSpPr/>
          <p:nvPr/>
        </p:nvSpPr>
        <p:spPr>
          <a:xfrm>
            <a:off x="1023500" y="3429000"/>
            <a:ext cx="10141951" cy="2514600"/>
          </a:xfrm>
          <a:prstGeom prst="roundRect">
            <a:avLst>
              <a:gd name="adj" fmla="val 2182"/>
            </a:avLst>
          </a:prstGeom>
          <a:solidFill>
            <a:srgbClr val="FFFFFF"/>
          </a:solidFill>
          <a:ln w="12700">
            <a:solidFill>
              <a:srgbClr val="D5DEEC"/>
            </a:solidFill>
            <a:prstDash val="solid"/>
          </a:ln>
        </p:spPr>
      </p:sp>
      <p:pic>
        <p:nvPicPr>
          <p:cNvPr id="27" name="Image 1" descr="/home/claude/assets/r9.png">    </p:cNvPr>
          <p:cNvPicPr>
            <a:picLocks noChangeAspect="1"/>
          </p:cNvPicPr>
          <p:nvPr/>
        </p:nvPicPr>
        <p:blipFill>
          <a:blip r:embed="rId2"/>
          <a:stretch>
            <a:fillRect/>
          </a:stretch>
        </p:blipFill>
        <p:spPr>
          <a:xfrm>
            <a:off x="1078364" y="3483864"/>
            <a:ext cx="10032223" cy="2404872"/>
          </a:xfrm>
          <a:prstGeom prst="rect">
            <a:avLst/>
          </a:prstGeom>
        </p:spPr>
      </p:pic>
      <p:sp>
        <p:nvSpPr>
          <p:cNvPr id="28" name="Text 24"/>
          <p:cNvSpPr txBox="1"/>
          <p:nvPr/>
        </p:nvSpPr>
        <p:spPr>
          <a:xfrm>
            <a:off x="548640" y="5980176"/>
            <a:ext cx="11091672" cy="228600"/>
          </a:xfrm>
          <a:prstGeom prst="rect">
            <a:avLst/>
          </a:prstGeom>
          <a:noFill/>
          <a:ln/>
        </p:spPr>
        <p:txBody>
          <a:bodyPr wrap="square" lIns="0" tIns="0" rIns="0" bIns="0" rtlCol="0" anchor="t"/>
          <a:lstStyle/>
          <a:p>
            <a:pPr algn="ctr" indent="0" marL="0">
              <a:buNone/>
            </a:pPr>
            <a:r>
              <a:rPr lang="en-US" sz="1050" dirty="0">
                <a:solidFill>
                  <a:srgbClr val="5B6472"/>
                </a:solidFill>
                <a:latin typeface="Arial" pitchFamily="34" charset="0"/>
                <a:ea typeface="Arial" pitchFamily="34" charset="-122"/>
                <a:cs typeface="Arial" pitchFamily="34" charset="-120"/>
              </a:rPr>
              <a:t>tb_AES_FSM waveform: round counter and the per-round SubBytes, ShiftRows, MixColumns and AddRoundKey signals</a:t>
            </a:r>
            <a:endParaRPr lang="en-US" sz="10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47472"/>
            <a:ext cx="7315200" cy="228600"/>
          </a:xfrm>
          <a:prstGeom prst="rect">
            <a:avLst/>
          </a:prstGeom>
          <a:noFill/>
          <a:ln/>
        </p:spPr>
        <p:txBody>
          <a:bodyPr wrap="square" lIns="0" tIns="0" rIns="0" bIns="0" rtlCol="0" anchor="t"/>
          <a:lstStyle/>
          <a:p>
            <a:pPr indent="0" marL="0">
              <a:buNone/>
            </a:pPr>
            <a:r>
              <a:rPr lang="en-US" sz="1200" b="1" spc="300" kern="0" dirty="0">
                <a:solidFill>
                  <a:srgbClr val="FF5757"/>
                </a:solidFill>
                <a:latin typeface="Arial" pitchFamily="34" charset="0"/>
                <a:ea typeface="Arial" pitchFamily="34" charset="-122"/>
                <a:cs typeface="Arial" pitchFamily="34" charset="-120"/>
              </a:rPr>
              <a:t>03  DEVELOPMENT JOURNEY</a:t>
            </a:r>
            <a:endParaRPr lang="en-US" sz="1200" dirty="0"/>
          </a:p>
        </p:txBody>
      </p:sp>
      <p:sp>
        <p:nvSpPr>
          <p:cNvPr id="3" name="Text 1"/>
          <p:cNvSpPr txBox="1"/>
          <p:nvPr/>
        </p:nvSpPr>
        <p:spPr>
          <a:xfrm>
            <a:off x="548640" y="603504"/>
            <a:ext cx="9966960" cy="685800"/>
          </a:xfrm>
          <a:prstGeom prst="rect">
            <a:avLst/>
          </a:prstGeom>
          <a:noFill/>
          <a:ln/>
        </p:spPr>
        <p:txBody>
          <a:bodyPr wrap="square" lIns="0" tIns="0" rIns="0" bIns="0" rtlCol="0" anchor="ctr"/>
          <a:lstStyle/>
          <a:p>
            <a:pPr indent="0" marL="0">
              <a:buNone/>
            </a:pPr>
            <a:r>
              <a:rPr lang="en-US" sz="3200" b="1" dirty="0">
                <a:solidFill>
                  <a:srgbClr val="0B1F44"/>
                </a:solidFill>
                <a:latin typeface="Arial" pitchFamily="34" charset="0"/>
                <a:ea typeface="Arial" pitchFamily="34" charset="-122"/>
                <a:cs typeface="Arial" pitchFamily="34" charset="-120"/>
              </a:rPr>
              <a:t>CRC-16/XMODEM module</a:t>
            </a:r>
            <a:endParaRPr lang="en-US" sz="3200" dirty="0"/>
          </a:p>
        </p:txBody>
      </p:sp>
      <p:pic>
        <p:nvPicPr>
          <p:cNvPr id="4" name="Image 0" descr="/home/claude/assets/logo.png">    </p:cNvPr>
          <p:cNvPicPr>
            <a:picLocks noChangeAspect="1"/>
          </p:cNvPicPr>
          <p:nvPr/>
        </p:nvPicPr>
        <p:blipFill>
          <a:blip r:embed="rId1"/>
          <a:stretch>
            <a:fillRect/>
          </a:stretch>
        </p:blipFill>
        <p:spPr>
          <a:xfrm>
            <a:off x="10744200" y="365760"/>
            <a:ext cx="896112" cy="434340"/>
          </a:xfrm>
          <a:prstGeom prst="rect">
            <a:avLst/>
          </a:prstGeom>
        </p:spPr>
      </p:pic>
      <p:sp>
        <p:nvSpPr>
          <p:cNvPr id="5" name="Text 2"/>
          <p:cNvSpPr txBox="1"/>
          <p:nvPr/>
        </p:nvSpPr>
        <p:spPr>
          <a:xfrm>
            <a:off x="548640" y="6428232"/>
            <a:ext cx="6400800" cy="228600"/>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Secure UART Communication System  ·  NTI Digital Design Project</a:t>
            </a:r>
            <a:endParaRPr lang="en-US" sz="1000" dirty="0"/>
          </a:p>
        </p:txBody>
      </p:sp>
      <p:sp>
        <p:nvSpPr>
          <p:cNvPr id="6" name="Shape 3"/>
          <p:cNvSpPr/>
          <p:nvPr/>
        </p:nvSpPr>
        <p:spPr>
          <a:xfrm>
            <a:off x="548640" y="1508760"/>
            <a:ext cx="4206240" cy="2165239"/>
          </a:xfrm>
          <a:prstGeom prst="roundRect">
            <a:avLst>
              <a:gd name="adj" fmla="val 2534"/>
            </a:avLst>
          </a:prstGeom>
          <a:solidFill>
            <a:srgbClr val="FFFFFF"/>
          </a:solidFill>
          <a:ln w="12700">
            <a:solidFill>
              <a:srgbClr val="D5DEEC"/>
            </a:solidFill>
            <a:prstDash val="solid"/>
          </a:ln>
        </p:spPr>
      </p:sp>
      <p:pic>
        <p:nvPicPr>
          <p:cNvPr id="7" name="Image 1" descr="/home/claude/assets/r12.png">    </p:cNvPr>
          <p:cNvPicPr>
            <a:picLocks noChangeAspect="1"/>
          </p:cNvPicPr>
          <p:nvPr/>
        </p:nvPicPr>
        <p:blipFill>
          <a:blip r:embed="rId2"/>
          <a:stretch>
            <a:fillRect/>
          </a:stretch>
        </p:blipFill>
        <p:spPr>
          <a:xfrm>
            <a:off x="603504" y="1563624"/>
            <a:ext cx="4096512" cy="2055511"/>
          </a:xfrm>
          <a:prstGeom prst="rect">
            <a:avLst/>
          </a:prstGeom>
        </p:spPr>
      </p:pic>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120640" y="1508760"/>
          <a:ext cx="6519672" cy="914400"/>
        </p:xfrm>
        <a:graphic>
          <a:graphicData uri="http://schemas.openxmlformats.org/drawingml/2006/table">
            <a:tbl>
              <a:tblPr/>
              <a:tblGrid>
                <a:gridCol w="2103120"/>
                <a:gridCol w="4416552"/>
              </a:tblGrid>
              <a:tr h="347472">
                <a:tc>
                  <a:txBody>
                    <a:bodyPr/>
                    <a:lstStyle/>
                    <a:p>
                      <a:pPr indent="0" marL="0">
                        <a:buNone/>
                      </a:pPr>
                      <a:r>
                        <a:rPr lang="en-US" sz="1300" b="1" dirty="0">
                          <a:solidFill>
                            <a:srgbClr val="FFFFFF"/>
                          </a:solidFill>
                          <a:latin typeface="Arial" pitchFamily="34" charset="0"/>
                          <a:ea typeface="Arial" pitchFamily="34" charset="-122"/>
                          <a:cs typeface="Arial" pitchFamily="34" charset="-120"/>
                        </a:rPr>
                        <a:t>Parameter</a:t>
                      </a:r>
                      <a:endParaRPr lang="en-US" sz="1300" dirty="0">
                        <a:latin typeface="Arial" charset="0"/>
                        <a:ea typeface="Arial" charset="0"/>
                        <a:cs typeface="Arial"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004AAD"/>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Value</a:t>
                      </a:r>
                      <a:endParaRPr lang="en-US" sz="1300" dirty="0">
                        <a:latin typeface="Arial" charset="0"/>
                        <a:ea typeface="Arial" charset="0"/>
                        <a:cs typeface="Arial"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004AAD"/>
                    </a:solidFill>
                  </a:tcPr>
                </a:tc>
              </a:tr>
              <a:tr h="320040">
                <a:tc>
                  <a:txBody>
                    <a:bodyPr/>
                    <a:lstStyle/>
                    <a:p>
                      <a:pPr indent="0" marL="0">
                        <a:buNone/>
                      </a:pPr>
                      <a:r>
                        <a:rPr lang="en-US" sz="1250" b="1" dirty="0">
                          <a:solidFill>
                            <a:srgbClr val="0B1F44"/>
                          </a:solidFill>
                          <a:latin typeface="Arial" pitchFamily="34" charset="0"/>
                          <a:ea typeface="Arial" pitchFamily="34" charset="-122"/>
                          <a:cs typeface="Arial" pitchFamily="34" charset="-120"/>
                        </a:rPr>
                        <a:t>Width</a:t>
                      </a:r>
                      <a:endParaRPr lang="en-US" sz="1250" dirty="0">
                        <a:latin typeface="Arial" charset="0"/>
                        <a:ea typeface="Arial" charset="0"/>
                        <a:cs typeface="Arial"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250" dirty="0">
                          <a:solidFill>
                            <a:srgbClr val="1B2333"/>
                          </a:solidFill>
                          <a:latin typeface="Arial" pitchFamily="34" charset="0"/>
                          <a:ea typeface="Arial" pitchFamily="34" charset="-122"/>
                          <a:cs typeface="Arial" pitchFamily="34" charset="-120"/>
                        </a:rPr>
                        <a:t>16 bits</a:t>
                      </a:r>
                      <a:endParaRPr lang="en-US" sz="1250" dirty="0">
                        <a:latin typeface="Arial" charset="0"/>
                        <a:ea typeface="Arial" charset="0"/>
                        <a:cs typeface="Arial"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320040">
                <a:tc>
                  <a:txBody>
                    <a:bodyPr/>
                    <a:lstStyle/>
                    <a:p>
                      <a:pPr indent="0" marL="0">
                        <a:buNone/>
                      </a:pPr>
                      <a:r>
                        <a:rPr lang="en-US" sz="1250" b="1" dirty="0">
                          <a:solidFill>
                            <a:srgbClr val="0B1F44"/>
                          </a:solidFill>
                          <a:latin typeface="Arial" pitchFamily="34" charset="0"/>
                          <a:ea typeface="Arial" pitchFamily="34" charset="-122"/>
                          <a:cs typeface="Arial" pitchFamily="34" charset="-120"/>
                        </a:rPr>
                        <a:t>Polynomial</a:t>
                      </a:r>
                      <a:endParaRPr lang="en-US" sz="1250" dirty="0">
                        <a:latin typeface="Arial" charset="0"/>
                        <a:ea typeface="Arial" charset="0"/>
                        <a:cs typeface="Arial"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5F8FD"/>
                    </a:solidFill>
                  </a:tcPr>
                </a:tc>
                <a:tc>
                  <a:txBody>
                    <a:bodyPr/>
                    <a:lstStyle/>
                    <a:p>
                      <a:pPr indent="0" marL="0">
                        <a:buNone/>
                      </a:pPr>
                      <a:r>
                        <a:rPr lang="en-US" sz="1250" dirty="0">
                          <a:solidFill>
                            <a:srgbClr val="1B2333"/>
                          </a:solidFill>
                          <a:latin typeface="Arial" pitchFamily="34" charset="0"/>
                          <a:ea typeface="Arial" pitchFamily="34" charset="-122"/>
                          <a:cs typeface="Arial" pitchFamily="34" charset="-120"/>
                        </a:rPr>
                        <a:t>0x1021  (x^16 + x^12 + x^5 + 1)</a:t>
                      </a:r>
                      <a:endParaRPr lang="en-US" sz="1250" dirty="0">
                        <a:latin typeface="Arial" charset="0"/>
                        <a:ea typeface="Arial" charset="0"/>
                        <a:cs typeface="Arial"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5F8FD"/>
                    </a:solidFill>
                  </a:tcPr>
                </a:tc>
              </a:tr>
              <a:tr h="320040">
                <a:tc>
                  <a:txBody>
                    <a:bodyPr/>
                    <a:lstStyle/>
                    <a:p>
                      <a:pPr indent="0" marL="0">
                        <a:buNone/>
                      </a:pPr>
                      <a:r>
                        <a:rPr lang="en-US" sz="1250" b="1" dirty="0">
                          <a:solidFill>
                            <a:srgbClr val="0B1F44"/>
                          </a:solidFill>
                          <a:latin typeface="Arial" pitchFamily="34" charset="0"/>
                          <a:ea typeface="Arial" pitchFamily="34" charset="-122"/>
                          <a:cs typeface="Arial" pitchFamily="34" charset="-120"/>
                        </a:rPr>
                        <a:t>Initial value</a:t>
                      </a:r>
                      <a:endParaRPr lang="en-US" sz="1250" dirty="0">
                        <a:latin typeface="Arial" charset="0"/>
                        <a:ea typeface="Arial" charset="0"/>
                        <a:cs typeface="Arial"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250" dirty="0">
                          <a:solidFill>
                            <a:srgbClr val="1B2333"/>
                          </a:solidFill>
                          <a:latin typeface="Arial" pitchFamily="34" charset="0"/>
                          <a:ea typeface="Arial" pitchFamily="34" charset="-122"/>
                          <a:cs typeface="Arial" pitchFamily="34" charset="-120"/>
                        </a:rPr>
                        <a:t>0x0000</a:t>
                      </a:r>
                      <a:endParaRPr lang="en-US" sz="1250" dirty="0">
                        <a:latin typeface="Arial" charset="0"/>
                        <a:ea typeface="Arial" charset="0"/>
                        <a:cs typeface="Arial"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320040">
                <a:tc>
                  <a:txBody>
                    <a:bodyPr/>
                    <a:lstStyle/>
                    <a:p>
                      <a:pPr indent="0" marL="0">
                        <a:buNone/>
                      </a:pPr>
                      <a:r>
                        <a:rPr lang="en-US" sz="1250" b="1" dirty="0">
                          <a:solidFill>
                            <a:srgbClr val="0B1F44"/>
                          </a:solidFill>
                          <a:latin typeface="Arial" pitchFamily="34" charset="0"/>
                          <a:ea typeface="Arial" pitchFamily="34" charset="-122"/>
                          <a:cs typeface="Arial" pitchFamily="34" charset="-120"/>
                        </a:rPr>
                        <a:t>RefIn / RefOut</a:t>
                      </a:r>
                      <a:endParaRPr lang="en-US" sz="1250" dirty="0">
                        <a:latin typeface="Arial" charset="0"/>
                        <a:ea typeface="Arial" charset="0"/>
                        <a:cs typeface="Arial"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5F8FD"/>
                    </a:solidFill>
                  </a:tcPr>
                </a:tc>
                <a:tc>
                  <a:txBody>
                    <a:bodyPr/>
                    <a:lstStyle/>
                    <a:p>
                      <a:pPr indent="0" marL="0">
                        <a:buNone/>
                      </a:pPr>
                      <a:r>
                        <a:rPr lang="en-US" sz="1250" dirty="0">
                          <a:solidFill>
                            <a:srgbClr val="1B2333"/>
                          </a:solidFill>
                          <a:latin typeface="Arial" pitchFamily="34" charset="0"/>
                          <a:ea typeface="Arial" pitchFamily="34" charset="-122"/>
                          <a:cs typeface="Arial" pitchFamily="34" charset="-120"/>
                        </a:rPr>
                        <a:t>False / False</a:t>
                      </a:r>
                      <a:endParaRPr lang="en-US" sz="1250" dirty="0">
                        <a:latin typeface="Arial" charset="0"/>
                        <a:ea typeface="Arial" charset="0"/>
                        <a:cs typeface="Arial"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5F8FD"/>
                    </a:solidFill>
                  </a:tcPr>
                </a:tc>
              </a:tr>
              <a:tr h="320040">
                <a:tc>
                  <a:txBody>
                    <a:bodyPr/>
                    <a:lstStyle/>
                    <a:p>
                      <a:pPr indent="0" marL="0">
                        <a:buNone/>
                      </a:pPr>
                      <a:r>
                        <a:rPr lang="en-US" sz="1250" b="1" dirty="0">
                          <a:solidFill>
                            <a:srgbClr val="0B1F44"/>
                          </a:solidFill>
                          <a:latin typeface="Arial" pitchFamily="34" charset="0"/>
                          <a:ea typeface="Arial" pitchFamily="34" charset="-122"/>
                          <a:cs typeface="Arial" pitchFamily="34" charset="-120"/>
                        </a:rPr>
                        <a:t>XorOut</a:t>
                      </a:r>
                      <a:endParaRPr lang="en-US" sz="1250" dirty="0">
                        <a:latin typeface="Arial" charset="0"/>
                        <a:ea typeface="Arial" charset="0"/>
                        <a:cs typeface="Arial"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250" dirty="0">
                          <a:solidFill>
                            <a:srgbClr val="1B2333"/>
                          </a:solidFill>
                          <a:latin typeface="Arial" pitchFamily="34" charset="0"/>
                          <a:ea typeface="Arial" pitchFamily="34" charset="-122"/>
                          <a:cs typeface="Arial" pitchFamily="34" charset="-120"/>
                        </a:rPr>
                        <a:t>0x0000</a:t>
                      </a:r>
                      <a:endParaRPr lang="en-US" sz="1250" dirty="0">
                        <a:latin typeface="Arial" charset="0"/>
                        <a:ea typeface="Arial" charset="0"/>
                        <a:cs typeface="Arial"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320040">
                <a:tc>
                  <a:txBody>
                    <a:bodyPr/>
                    <a:lstStyle/>
                    <a:p>
                      <a:pPr indent="0" marL="0">
                        <a:buNone/>
                      </a:pPr>
                      <a:r>
                        <a:rPr lang="en-US" sz="1250" b="1" dirty="0">
                          <a:solidFill>
                            <a:srgbClr val="0B1F44"/>
                          </a:solidFill>
                          <a:latin typeface="Arial" pitchFamily="34" charset="0"/>
                          <a:ea typeface="Arial" pitchFamily="34" charset="-122"/>
                          <a:cs typeface="Arial" pitchFamily="34" charset="-120"/>
                        </a:rPr>
                        <a:t>Check value</a:t>
                      </a:r>
                      <a:endParaRPr lang="en-US" sz="1250" dirty="0">
                        <a:latin typeface="Arial" charset="0"/>
                        <a:ea typeface="Arial" charset="0"/>
                        <a:cs typeface="Arial"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5F8FD"/>
                    </a:solidFill>
                  </a:tcPr>
                </a:tc>
                <a:tc>
                  <a:txBody>
                    <a:bodyPr/>
                    <a:lstStyle/>
                    <a:p>
                      <a:pPr indent="0" marL="0">
                        <a:buNone/>
                      </a:pPr>
                      <a:r>
                        <a:rPr lang="en-US" sz="1250" dirty="0">
                          <a:solidFill>
                            <a:srgbClr val="1B2333"/>
                          </a:solidFill>
                          <a:latin typeface="Arial" pitchFamily="34" charset="0"/>
                          <a:ea typeface="Arial" pitchFamily="34" charset="-122"/>
                          <a:cs typeface="Arial" pitchFamily="34" charset="-120"/>
                        </a:rPr>
                        <a:t>0x31C3 for "123456789"</a:t>
                      </a:r>
                      <a:endParaRPr lang="en-US" sz="1250" dirty="0">
                        <a:latin typeface="Arial" charset="0"/>
                        <a:ea typeface="Arial" charset="0"/>
                        <a:cs typeface="Arial"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5F8FD"/>
                    </a:solidFill>
                  </a:tcPr>
                </a:tc>
              </a:tr>
            </a:tbl>
          </a:graphicData>
        </a:graphic>
      </p:graphicFrame>
      <p:sp>
        <p:nvSpPr>
          <p:cNvPr id="9" name="Text 4"/>
          <p:cNvSpPr txBox="1"/>
          <p:nvPr/>
        </p:nvSpPr>
        <p:spPr>
          <a:xfrm>
            <a:off x="548640" y="4023360"/>
            <a:ext cx="8229600" cy="274320"/>
          </a:xfrm>
          <a:prstGeom prst="rect">
            <a:avLst/>
          </a:prstGeom>
          <a:noFill/>
          <a:ln/>
        </p:spPr>
        <p:txBody>
          <a:bodyPr wrap="square" lIns="0" tIns="0" rIns="0" bIns="0" rtlCol="0" anchor="t"/>
          <a:lstStyle/>
          <a:p>
            <a:pPr indent="0" marL="0">
              <a:buNone/>
            </a:pPr>
            <a:r>
              <a:rPr lang="en-US" sz="1200" b="1" spc="200" kern="0" dirty="0">
                <a:solidFill>
                  <a:srgbClr val="FF5757"/>
                </a:solidFill>
                <a:latin typeface="Arial" pitchFamily="34" charset="0"/>
                <a:ea typeface="Arial" pitchFamily="34" charset="-122"/>
                <a:cs typeface="Arial" pitchFamily="34" charset="-120"/>
              </a:rPr>
              <a:t>BIT-SERIAL ARCHITECTURE  ·  one input bit per clock cycle</a:t>
            </a:r>
            <a:endParaRPr lang="en-US" sz="1200" dirty="0"/>
          </a:p>
        </p:txBody>
      </p:sp>
      <p:sp>
        <p:nvSpPr>
          <p:cNvPr id="10" name="Shape 5"/>
          <p:cNvSpPr/>
          <p:nvPr/>
        </p:nvSpPr>
        <p:spPr>
          <a:xfrm>
            <a:off x="548640" y="4389120"/>
            <a:ext cx="2606040" cy="1783080"/>
          </a:xfrm>
          <a:prstGeom prst="roundRect">
            <a:avLst>
              <a:gd name="adj" fmla="val 6154"/>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11" name="Shape 6"/>
          <p:cNvSpPr/>
          <p:nvPr/>
        </p:nvSpPr>
        <p:spPr>
          <a:xfrm>
            <a:off x="731520" y="4572000"/>
            <a:ext cx="384048" cy="384048"/>
          </a:xfrm>
          <a:prstGeom prst="ellipse">
            <a:avLst/>
          </a:prstGeom>
          <a:solidFill>
            <a:srgbClr val="004AAD"/>
          </a:solidFill>
          <a:ln w="12700">
            <a:solidFill>
              <a:srgbClr val="004AAD"/>
            </a:solidFill>
            <a:prstDash val="solid"/>
          </a:ln>
        </p:spPr>
      </p:sp>
      <p:sp>
        <p:nvSpPr>
          <p:cNvPr id="12" name="Text 7"/>
          <p:cNvSpPr txBox="1"/>
          <p:nvPr/>
        </p:nvSpPr>
        <p:spPr>
          <a:xfrm>
            <a:off x="731520" y="4572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3" name="Text 8"/>
          <p:cNvSpPr txBox="1"/>
          <p:nvPr/>
        </p:nvSpPr>
        <p:spPr>
          <a:xfrm>
            <a:off x="1234440" y="4572000"/>
            <a:ext cx="1828800" cy="384048"/>
          </a:xfrm>
          <a:prstGeom prst="rect">
            <a:avLst/>
          </a:prstGeom>
          <a:noFill/>
          <a:ln/>
        </p:spPr>
        <p:txBody>
          <a:bodyPr wrap="square" lIns="0" tIns="0" rIns="0" bIns="0" rtlCol="0" anchor="ctr"/>
          <a:lstStyle/>
          <a:p>
            <a:pPr indent="0" marL="0">
              <a:buNone/>
            </a:pPr>
            <a:r>
              <a:rPr lang="en-US" sz="1400" b="1" dirty="0">
                <a:solidFill>
                  <a:srgbClr val="0B1F44"/>
                </a:solidFill>
                <a:latin typeface="Arial" pitchFamily="34" charset="0"/>
                <a:ea typeface="Arial" pitchFamily="34" charset="-122"/>
                <a:cs typeface="Arial" pitchFamily="34" charset="-120"/>
              </a:rPr>
              <a:t>Capture</a:t>
            </a:r>
            <a:endParaRPr lang="en-US" sz="1400" dirty="0"/>
          </a:p>
        </p:txBody>
      </p:sp>
      <p:sp>
        <p:nvSpPr>
          <p:cNvPr id="14" name="Text 9"/>
          <p:cNvSpPr txBox="1"/>
          <p:nvPr/>
        </p:nvSpPr>
        <p:spPr>
          <a:xfrm>
            <a:off x="731520" y="5102352"/>
            <a:ext cx="2286000" cy="1005840"/>
          </a:xfrm>
          <a:prstGeom prst="rect">
            <a:avLst/>
          </a:prstGeom>
          <a:noFill/>
          <a:ln/>
        </p:spPr>
        <p:txBody>
          <a:bodyPr wrap="square" lIns="0" tIns="0" rIns="0" bIns="0" rtlCol="0" anchor="t"/>
          <a:lstStyle/>
          <a:p>
            <a:pPr indent="0" marL="0">
              <a:buNone/>
            </a:pPr>
            <a:r>
              <a:rPr lang="en-US" sz="1200" dirty="0">
                <a:solidFill>
                  <a:srgbClr val="1B2333"/>
                </a:solidFill>
                <a:latin typeface="Arial" pitchFamily="34" charset="0"/>
                <a:ea typeface="Arial" pitchFamily="34" charset="-122"/>
                <a:cs typeface="Arial" pitchFamily="34" charset="-120"/>
              </a:rPr>
              <a:t>Latch the 128-bit input while idle. CRC register starts at 0x0000, counter at 0.</a:t>
            </a:r>
            <a:endParaRPr lang="en-US" sz="1200" dirty="0"/>
          </a:p>
        </p:txBody>
      </p:sp>
      <p:sp>
        <p:nvSpPr>
          <p:cNvPr id="15" name="Shape 10"/>
          <p:cNvSpPr/>
          <p:nvPr/>
        </p:nvSpPr>
        <p:spPr>
          <a:xfrm>
            <a:off x="3355848" y="4389120"/>
            <a:ext cx="2606040" cy="1783080"/>
          </a:xfrm>
          <a:prstGeom prst="roundRect">
            <a:avLst>
              <a:gd name="adj" fmla="val 6154"/>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16" name="Shape 11"/>
          <p:cNvSpPr/>
          <p:nvPr/>
        </p:nvSpPr>
        <p:spPr>
          <a:xfrm>
            <a:off x="3538728" y="4572000"/>
            <a:ext cx="384048" cy="384048"/>
          </a:xfrm>
          <a:prstGeom prst="ellipse">
            <a:avLst/>
          </a:prstGeom>
          <a:solidFill>
            <a:srgbClr val="004AAD"/>
          </a:solidFill>
          <a:ln w="12700">
            <a:solidFill>
              <a:srgbClr val="004AAD"/>
            </a:solidFill>
            <a:prstDash val="solid"/>
          </a:ln>
        </p:spPr>
      </p:sp>
      <p:sp>
        <p:nvSpPr>
          <p:cNvPr id="17" name="Text 12"/>
          <p:cNvSpPr txBox="1"/>
          <p:nvPr/>
        </p:nvSpPr>
        <p:spPr>
          <a:xfrm>
            <a:off x="3538728" y="4572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8" name="Text 13"/>
          <p:cNvSpPr txBox="1"/>
          <p:nvPr/>
        </p:nvSpPr>
        <p:spPr>
          <a:xfrm>
            <a:off x="4041648" y="4572000"/>
            <a:ext cx="1828800" cy="384048"/>
          </a:xfrm>
          <a:prstGeom prst="rect">
            <a:avLst/>
          </a:prstGeom>
          <a:noFill/>
          <a:ln/>
        </p:spPr>
        <p:txBody>
          <a:bodyPr wrap="square" lIns="0" tIns="0" rIns="0" bIns="0" rtlCol="0" anchor="ctr"/>
          <a:lstStyle/>
          <a:p>
            <a:pPr indent="0" marL="0">
              <a:buNone/>
            </a:pPr>
            <a:r>
              <a:rPr lang="en-US" sz="1400" b="1" dirty="0">
                <a:solidFill>
                  <a:srgbClr val="0B1F44"/>
                </a:solidFill>
                <a:latin typeface="Arial" pitchFamily="34" charset="0"/>
                <a:ea typeface="Arial" pitchFamily="34" charset="-122"/>
                <a:cs typeface="Arial" pitchFamily="34" charset="-120"/>
              </a:rPr>
              <a:t>Feedback</a:t>
            </a:r>
            <a:endParaRPr lang="en-US" sz="1400" dirty="0"/>
          </a:p>
        </p:txBody>
      </p:sp>
      <p:sp>
        <p:nvSpPr>
          <p:cNvPr id="19" name="Text 14"/>
          <p:cNvSpPr txBox="1"/>
          <p:nvPr/>
        </p:nvSpPr>
        <p:spPr>
          <a:xfrm>
            <a:off x="3538728" y="5102352"/>
            <a:ext cx="2286000" cy="1005840"/>
          </a:xfrm>
          <a:prstGeom prst="rect">
            <a:avLst/>
          </a:prstGeom>
          <a:noFill/>
          <a:ln/>
        </p:spPr>
        <p:txBody>
          <a:bodyPr wrap="square" lIns="0" tIns="0" rIns="0" bIns="0" rtlCol="0" anchor="t"/>
          <a:lstStyle/>
          <a:p>
            <a:pPr indent="0" marL="0">
              <a:buNone/>
            </a:pPr>
            <a:r>
              <a:rPr lang="en-US" sz="1200" dirty="0">
                <a:solidFill>
                  <a:srgbClr val="1B2333"/>
                </a:solidFill>
                <a:latin typeface="Arial" pitchFamily="34" charset="0"/>
                <a:ea typeface="Arial" pitchFamily="34" charset="-122"/>
                <a:cs typeface="Arial" pitchFamily="34" charset="-120"/>
              </a:rPr>
              <a:t>Take input bits MSB first, from data_in[127]. feedback = CRC[15] XOR input bit.</a:t>
            </a:r>
            <a:endParaRPr lang="en-US" sz="1200" dirty="0"/>
          </a:p>
        </p:txBody>
      </p:sp>
      <p:sp>
        <p:nvSpPr>
          <p:cNvPr id="20" name="Shape 15"/>
          <p:cNvSpPr/>
          <p:nvPr/>
        </p:nvSpPr>
        <p:spPr>
          <a:xfrm>
            <a:off x="6163056" y="4389120"/>
            <a:ext cx="2606040" cy="1783080"/>
          </a:xfrm>
          <a:prstGeom prst="roundRect">
            <a:avLst>
              <a:gd name="adj" fmla="val 6154"/>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21" name="Shape 16"/>
          <p:cNvSpPr/>
          <p:nvPr/>
        </p:nvSpPr>
        <p:spPr>
          <a:xfrm>
            <a:off x="6345936" y="4572000"/>
            <a:ext cx="384048" cy="384048"/>
          </a:xfrm>
          <a:prstGeom prst="ellipse">
            <a:avLst/>
          </a:prstGeom>
          <a:solidFill>
            <a:srgbClr val="004AAD"/>
          </a:solidFill>
          <a:ln w="12700">
            <a:solidFill>
              <a:srgbClr val="004AAD"/>
            </a:solidFill>
            <a:prstDash val="solid"/>
          </a:ln>
        </p:spPr>
      </p:sp>
      <p:sp>
        <p:nvSpPr>
          <p:cNvPr id="22" name="Text 17"/>
          <p:cNvSpPr txBox="1"/>
          <p:nvPr/>
        </p:nvSpPr>
        <p:spPr>
          <a:xfrm>
            <a:off x="6345936" y="4572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3" name="Text 18"/>
          <p:cNvSpPr txBox="1"/>
          <p:nvPr/>
        </p:nvSpPr>
        <p:spPr>
          <a:xfrm>
            <a:off x="6848856" y="4572000"/>
            <a:ext cx="1828800" cy="384048"/>
          </a:xfrm>
          <a:prstGeom prst="rect">
            <a:avLst/>
          </a:prstGeom>
          <a:noFill/>
          <a:ln/>
        </p:spPr>
        <p:txBody>
          <a:bodyPr wrap="square" lIns="0" tIns="0" rIns="0" bIns="0" rtlCol="0" anchor="ctr"/>
          <a:lstStyle/>
          <a:p>
            <a:pPr indent="0" marL="0">
              <a:buNone/>
            </a:pPr>
            <a:r>
              <a:rPr lang="en-US" sz="1400" b="1" dirty="0">
                <a:solidFill>
                  <a:srgbClr val="0B1F44"/>
                </a:solidFill>
                <a:latin typeface="Arial" pitchFamily="34" charset="0"/>
                <a:ea typeface="Arial" pitchFamily="34" charset="-122"/>
                <a:cs typeface="Arial" pitchFamily="34" charset="-120"/>
              </a:rPr>
              <a:t>Shift and XOR</a:t>
            </a:r>
            <a:endParaRPr lang="en-US" sz="1400" dirty="0"/>
          </a:p>
        </p:txBody>
      </p:sp>
      <p:sp>
        <p:nvSpPr>
          <p:cNvPr id="24" name="Text 19"/>
          <p:cNvSpPr txBox="1"/>
          <p:nvPr/>
        </p:nvSpPr>
        <p:spPr>
          <a:xfrm>
            <a:off x="6345936" y="5102352"/>
            <a:ext cx="2286000" cy="1005840"/>
          </a:xfrm>
          <a:prstGeom prst="rect">
            <a:avLst/>
          </a:prstGeom>
          <a:noFill/>
          <a:ln/>
        </p:spPr>
        <p:txBody>
          <a:bodyPr wrap="square" lIns="0" tIns="0" rIns="0" bIns="0" rtlCol="0" anchor="t"/>
          <a:lstStyle/>
          <a:p>
            <a:pPr indent="0" marL="0">
              <a:buNone/>
            </a:pPr>
            <a:r>
              <a:rPr lang="en-US" sz="1200" dirty="0">
                <a:solidFill>
                  <a:srgbClr val="1B2333"/>
                </a:solidFill>
                <a:latin typeface="Arial" pitchFamily="34" charset="0"/>
                <a:ea typeface="Arial" pitchFamily="34" charset="-122"/>
                <a:cs typeface="Arial" pitchFamily="34" charset="-120"/>
              </a:rPr>
              <a:t>Shift the CRC left. If feedback is 1, XOR the polynomial 0x1021.</a:t>
            </a:r>
            <a:endParaRPr lang="en-US" sz="1200" dirty="0"/>
          </a:p>
        </p:txBody>
      </p:sp>
      <p:sp>
        <p:nvSpPr>
          <p:cNvPr id="25" name="Shape 20"/>
          <p:cNvSpPr/>
          <p:nvPr/>
        </p:nvSpPr>
        <p:spPr>
          <a:xfrm>
            <a:off x="8970264" y="4389120"/>
            <a:ext cx="2606040" cy="1783080"/>
          </a:xfrm>
          <a:prstGeom prst="roundRect">
            <a:avLst>
              <a:gd name="adj" fmla="val 6154"/>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26" name="Shape 21"/>
          <p:cNvSpPr/>
          <p:nvPr/>
        </p:nvSpPr>
        <p:spPr>
          <a:xfrm>
            <a:off x="9153144" y="4572000"/>
            <a:ext cx="384048" cy="384048"/>
          </a:xfrm>
          <a:prstGeom prst="ellipse">
            <a:avLst/>
          </a:prstGeom>
          <a:solidFill>
            <a:srgbClr val="FF5757"/>
          </a:solidFill>
          <a:ln w="12700">
            <a:solidFill>
              <a:srgbClr val="FF5757"/>
            </a:solidFill>
            <a:prstDash val="solid"/>
          </a:ln>
        </p:spPr>
      </p:sp>
      <p:sp>
        <p:nvSpPr>
          <p:cNvPr id="27" name="Text 22"/>
          <p:cNvSpPr txBox="1"/>
          <p:nvPr/>
        </p:nvSpPr>
        <p:spPr>
          <a:xfrm>
            <a:off x="9153144" y="4572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8" name="Text 23"/>
          <p:cNvSpPr txBox="1"/>
          <p:nvPr/>
        </p:nvSpPr>
        <p:spPr>
          <a:xfrm>
            <a:off x="9656064" y="4572000"/>
            <a:ext cx="1828800" cy="384048"/>
          </a:xfrm>
          <a:prstGeom prst="rect">
            <a:avLst/>
          </a:prstGeom>
          <a:noFill/>
          <a:ln/>
        </p:spPr>
        <p:txBody>
          <a:bodyPr wrap="square" lIns="0" tIns="0" rIns="0" bIns="0" rtlCol="0" anchor="ctr"/>
          <a:lstStyle/>
          <a:p>
            <a:pPr indent="0" marL="0">
              <a:buNone/>
            </a:pPr>
            <a:r>
              <a:rPr lang="en-US" sz="1400" b="1" dirty="0">
                <a:solidFill>
                  <a:srgbClr val="0B1F44"/>
                </a:solidFill>
                <a:latin typeface="Arial" pitchFamily="34" charset="0"/>
                <a:ea typeface="Arial" pitchFamily="34" charset="-122"/>
                <a:cs typeface="Arial" pitchFamily="34" charset="-120"/>
              </a:rPr>
              <a:t>Finish</a:t>
            </a:r>
            <a:endParaRPr lang="en-US" sz="1400" dirty="0"/>
          </a:p>
        </p:txBody>
      </p:sp>
      <p:sp>
        <p:nvSpPr>
          <p:cNvPr id="29" name="Text 24"/>
          <p:cNvSpPr txBox="1"/>
          <p:nvPr/>
        </p:nvSpPr>
        <p:spPr>
          <a:xfrm>
            <a:off x="9153144" y="5102352"/>
            <a:ext cx="2286000" cy="1005840"/>
          </a:xfrm>
          <a:prstGeom prst="rect">
            <a:avLst/>
          </a:prstGeom>
          <a:noFill/>
          <a:ln/>
        </p:spPr>
        <p:txBody>
          <a:bodyPr wrap="square" lIns="0" tIns="0" rIns="0" bIns="0" rtlCol="0" anchor="t"/>
          <a:lstStyle/>
          <a:p>
            <a:pPr indent="0" marL="0">
              <a:buNone/>
            </a:pPr>
            <a:r>
              <a:rPr lang="en-US" sz="1200" dirty="0">
                <a:solidFill>
                  <a:srgbClr val="1B2333"/>
                </a:solidFill>
                <a:latin typeface="Arial" pitchFamily="34" charset="0"/>
                <a:ea typeface="Arial" pitchFamily="34" charset="-122"/>
                <a:cs typeface="Arial" pitchFamily="34" charset="-120"/>
              </a:rPr>
              <a:t>After 128 cycles: done rises, busy falls, output is {data, CRC} = 144 bits.</a:t>
            </a:r>
            <a:endParaRPr lang="en-US" sz="12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47472"/>
            <a:ext cx="7315200" cy="228600"/>
          </a:xfrm>
          <a:prstGeom prst="rect">
            <a:avLst/>
          </a:prstGeom>
          <a:noFill/>
          <a:ln/>
        </p:spPr>
        <p:txBody>
          <a:bodyPr wrap="square" lIns="0" tIns="0" rIns="0" bIns="0" rtlCol="0" anchor="t"/>
          <a:lstStyle/>
          <a:p>
            <a:pPr indent="0" marL="0">
              <a:buNone/>
            </a:pPr>
            <a:r>
              <a:rPr lang="en-US" sz="1200" b="1" spc="300" kern="0" dirty="0">
                <a:solidFill>
                  <a:srgbClr val="FF5757"/>
                </a:solidFill>
                <a:latin typeface="Arial" pitchFamily="34" charset="0"/>
                <a:ea typeface="Arial" pitchFamily="34" charset="-122"/>
                <a:cs typeface="Arial" pitchFamily="34" charset="-120"/>
              </a:rPr>
              <a:t>03  DEVELOPMENT JOURNEY</a:t>
            </a:r>
            <a:endParaRPr lang="en-US" sz="1200" dirty="0"/>
          </a:p>
        </p:txBody>
      </p:sp>
      <p:sp>
        <p:nvSpPr>
          <p:cNvPr id="3" name="Text 1"/>
          <p:cNvSpPr txBox="1"/>
          <p:nvPr/>
        </p:nvSpPr>
        <p:spPr>
          <a:xfrm>
            <a:off x="548640" y="603504"/>
            <a:ext cx="9966960" cy="685800"/>
          </a:xfrm>
          <a:prstGeom prst="rect">
            <a:avLst/>
          </a:prstGeom>
          <a:noFill/>
          <a:ln/>
        </p:spPr>
        <p:txBody>
          <a:bodyPr wrap="square" lIns="0" tIns="0" rIns="0" bIns="0" rtlCol="0" anchor="ctr"/>
          <a:lstStyle/>
          <a:p>
            <a:pPr indent="0" marL="0">
              <a:buNone/>
            </a:pPr>
            <a:r>
              <a:rPr lang="en-US" sz="3200" b="1" dirty="0">
                <a:solidFill>
                  <a:srgbClr val="0B1F44"/>
                </a:solidFill>
                <a:latin typeface="Arial" pitchFamily="34" charset="0"/>
                <a:ea typeface="Arial" pitchFamily="34" charset="-122"/>
                <a:cs typeface="Arial" pitchFamily="34" charset="-120"/>
              </a:rPr>
              <a:t>CRC verification: three test vectors</a:t>
            </a:r>
            <a:endParaRPr lang="en-US" sz="3200" dirty="0"/>
          </a:p>
        </p:txBody>
      </p:sp>
      <p:pic>
        <p:nvPicPr>
          <p:cNvPr id="4" name="Image 0" descr="/home/claude/assets/logo.png">    </p:cNvPr>
          <p:cNvPicPr>
            <a:picLocks noChangeAspect="1"/>
          </p:cNvPicPr>
          <p:nvPr/>
        </p:nvPicPr>
        <p:blipFill>
          <a:blip r:embed="rId1"/>
          <a:stretch>
            <a:fillRect/>
          </a:stretch>
        </p:blipFill>
        <p:spPr>
          <a:xfrm>
            <a:off x="10744200" y="365760"/>
            <a:ext cx="896112" cy="434340"/>
          </a:xfrm>
          <a:prstGeom prst="rect">
            <a:avLst/>
          </a:prstGeom>
        </p:spPr>
      </p:pic>
      <p:sp>
        <p:nvSpPr>
          <p:cNvPr id="5" name="Text 2"/>
          <p:cNvSpPr txBox="1"/>
          <p:nvPr/>
        </p:nvSpPr>
        <p:spPr>
          <a:xfrm>
            <a:off x="548640" y="6428232"/>
            <a:ext cx="6400800" cy="228600"/>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Secure UART Communication System  ·  NTI Digital Design Project</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5760720" cy="914400"/>
        </p:xfrm>
        <a:graphic>
          <a:graphicData uri="http://schemas.openxmlformats.org/drawingml/2006/table">
            <a:tbl>
              <a:tblPr/>
              <a:tblGrid>
                <a:gridCol w="548640"/>
                <a:gridCol w="3200400"/>
                <a:gridCol w="1097280"/>
                <a:gridCol w="914400"/>
              </a:tblGrid>
              <a:tr h="384048">
                <a:tc>
                  <a:txBody>
                    <a:bodyPr/>
                    <a:lstStyle/>
                    <a:p>
                      <a:pPr indent="0" marL="0">
                        <a:buNone/>
                      </a:pPr>
                      <a:r>
                        <a:rPr lang="en-US" sz="1200" b="1" dirty="0">
                          <a:solidFill>
                            <a:srgbClr val="FFFFFF"/>
                          </a:solidFill>
                          <a:latin typeface="Arial" pitchFamily="34" charset="0"/>
                          <a:ea typeface="Arial" pitchFamily="34" charset="-122"/>
                          <a:cs typeface="Arial" pitchFamily="34" charset="-120"/>
                        </a:rPr>
                        <a:t>Test</a:t>
                      </a:r>
                      <a:endParaRPr lang="en-US" sz="1200" dirty="0">
                        <a:latin typeface="Arial" charset="0"/>
                        <a:ea typeface="Arial" charset="0"/>
                        <a:cs typeface="Arial"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004AA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128-bit input</a:t>
                      </a:r>
                      <a:endParaRPr lang="en-US" sz="1200" dirty="0">
                        <a:latin typeface="Arial" charset="0"/>
                        <a:ea typeface="Arial" charset="0"/>
                        <a:cs typeface="Arial"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004AA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Expected</a:t>
                      </a:r>
                      <a:endParaRPr lang="en-US" sz="1200" dirty="0">
                        <a:latin typeface="Arial" charset="0"/>
                        <a:ea typeface="Arial" charset="0"/>
                        <a:cs typeface="Arial"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004AAD"/>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Match</a:t>
                      </a:r>
                      <a:endParaRPr lang="en-US" sz="1200" dirty="0">
                        <a:latin typeface="Arial" charset="0"/>
                        <a:ea typeface="Arial" charset="0"/>
                        <a:cs typeface="Arial"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004AAD"/>
                    </a:solidFill>
                  </a:tcPr>
                </a:tc>
              </a:tr>
              <a:tr h="457200">
                <a:tc>
                  <a:txBody>
                    <a:bodyPr/>
                    <a:lstStyle/>
                    <a:p>
                      <a:pPr indent="0" marL="0">
                        <a:buNone/>
                      </a:pPr>
                      <a:r>
                        <a:rPr lang="en-US" sz="1200" b="1" dirty="0">
                          <a:solidFill>
                            <a:srgbClr val="0B1F44"/>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050" dirty="0">
                          <a:solidFill>
                            <a:srgbClr val="1B2333"/>
                          </a:solidFill>
                          <a:latin typeface="Courier New" pitchFamily="34" charset="0"/>
                          <a:ea typeface="Courier New" pitchFamily="34" charset="-122"/>
                          <a:cs typeface="Courier New" pitchFamily="34" charset="-120"/>
                        </a:rPr>
                        <a:t>00000000000000313233343536373839</a:t>
                      </a:r>
                      <a:endParaRPr lang="en-US" sz="1050" dirty="0">
                        <a:latin typeface="Courier New" charset="0"/>
                        <a:ea typeface="Courier New" charset="0"/>
                        <a:cs typeface="Courier New"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200" b="1" dirty="0">
                          <a:solidFill>
                            <a:srgbClr val="004AAD"/>
                          </a:solidFill>
                          <a:latin typeface="Arial" pitchFamily="34" charset="0"/>
                          <a:ea typeface="Arial" pitchFamily="34" charset="-122"/>
                          <a:cs typeface="Arial" pitchFamily="34" charset="-120"/>
                        </a:rPr>
                        <a:t>0x31C3</a:t>
                      </a:r>
                      <a:endParaRPr lang="en-US" sz="1200" dirty="0">
                        <a:latin typeface="Arial" charset="0"/>
                        <a:ea typeface="Arial" charset="0"/>
                        <a:cs typeface="Arial"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9E63"/>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0B1F44"/>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5F8FD"/>
                    </a:solidFill>
                  </a:tcPr>
                </a:tc>
                <a:tc>
                  <a:txBody>
                    <a:bodyPr/>
                    <a:lstStyle/>
                    <a:p>
                      <a:pPr indent="0" marL="0">
                        <a:buNone/>
                      </a:pPr>
                      <a:r>
                        <a:rPr lang="en-US" sz="1050" dirty="0">
                          <a:solidFill>
                            <a:srgbClr val="1B2333"/>
                          </a:solidFill>
                          <a:latin typeface="Courier New" pitchFamily="34" charset="0"/>
                          <a:ea typeface="Courier New" pitchFamily="34" charset="-122"/>
                          <a:cs typeface="Courier New" pitchFamily="34" charset="-120"/>
                        </a:rPr>
                        <a:t>00112233445566778899AABBCCDDEEFF</a:t>
                      </a:r>
                      <a:endParaRPr lang="en-US" sz="1050" dirty="0">
                        <a:latin typeface="Courier New" charset="0"/>
                        <a:ea typeface="Courier New" charset="0"/>
                        <a:cs typeface="Courier New"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5F8FD"/>
                    </a:solidFill>
                  </a:tcPr>
                </a:tc>
                <a:tc>
                  <a:txBody>
                    <a:bodyPr/>
                    <a:lstStyle/>
                    <a:p>
                      <a:pPr indent="0" marL="0">
                        <a:buNone/>
                      </a:pPr>
                      <a:r>
                        <a:rPr lang="en-US" sz="1200" b="1" dirty="0">
                          <a:solidFill>
                            <a:srgbClr val="004AAD"/>
                          </a:solidFill>
                          <a:latin typeface="Arial" pitchFamily="34" charset="0"/>
                          <a:ea typeface="Arial" pitchFamily="34" charset="-122"/>
                          <a:cs typeface="Arial" pitchFamily="34" charset="-120"/>
                        </a:rPr>
                        <a:t>0x1248</a:t>
                      </a:r>
                      <a:endParaRPr lang="en-US" sz="1200" dirty="0">
                        <a:latin typeface="Arial" charset="0"/>
                        <a:ea typeface="Arial" charset="0"/>
                        <a:cs typeface="Arial"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5F8FD"/>
                    </a:solidFill>
                  </a:tcPr>
                </a:tc>
                <a:tc>
                  <a:txBody>
                    <a:bodyPr/>
                    <a:lstStyle/>
                    <a:p>
                      <a:pPr algn="ctr" indent="0" marL="0">
                        <a:buNone/>
                      </a:pPr>
                      <a:r>
                        <a:rPr lang="en-US" sz="1200" b="1" dirty="0">
                          <a:solidFill>
                            <a:srgbClr val="1E9E63"/>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5F8FD"/>
                    </a:solidFill>
                  </a:tcPr>
                </a:tc>
              </a:tr>
              <a:tr h="457200">
                <a:tc>
                  <a:txBody>
                    <a:bodyPr/>
                    <a:lstStyle/>
                    <a:p>
                      <a:pPr indent="0" marL="0">
                        <a:buNone/>
                      </a:pPr>
                      <a:r>
                        <a:rPr lang="en-US" sz="1200" b="1" dirty="0">
                          <a:solidFill>
                            <a:srgbClr val="0B1F44"/>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050" dirty="0">
                          <a:solidFill>
                            <a:srgbClr val="1B2333"/>
                          </a:solidFill>
                          <a:latin typeface="Courier New" pitchFamily="34" charset="0"/>
                          <a:ea typeface="Courier New" pitchFamily="34" charset="-122"/>
                          <a:cs typeface="Courier New" pitchFamily="34" charset="-120"/>
                        </a:rPr>
                        <a:t>112233445566778899AABBCCDDEEAA55</a:t>
                      </a:r>
                      <a:endParaRPr lang="en-US" sz="1050" dirty="0">
                        <a:latin typeface="Courier New" charset="0"/>
                        <a:ea typeface="Courier New" charset="0"/>
                        <a:cs typeface="Courier New"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200" b="1" dirty="0">
                          <a:solidFill>
                            <a:srgbClr val="004AAD"/>
                          </a:solidFill>
                          <a:latin typeface="Arial" pitchFamily="34" charset="0"/>
                          <a:ea typeface="Arial" pitchFamily="34" charset="-122"/>
                          <a:cs typeface="Arial" pitchFamily="34" charset="-120"/>
                        </a:rPr>
                        <a:t>0x8169</a:t>
                      </a:r>
                      <a:endParaRPr lang="en-US" sz="1200" dirty="0">
                        <a:latin typeface="Arial" charset="0"/>
                        <a:ea typeface="Arial" charset="0"/>
                        <a:cs typeface="Arial"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9E63"/>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3474720"/>
            <a:ext cx="5760720" cy="640080"/>
          </a:xfrm>
          <a:prstGeom prst="rect">
            <a:avLst/>
          </a:prstGeom>
          <a:noFill/>
          <a:ln/>
        </p:spPr>
        <p:txBody>
          <a:bodyPr wrap="square" lIns="0" tIns="0" rIns="0" bIns="0" rtlCol="0" anchor="t"/>
          <a:lstStyle/>
          <a:p>
            <a:pPr indent="0" marL="0">
              <a:buNone/>
            </a:pPr>
            <a:r>
              <a:rPr lang="en-US" sz="1200" dirty="0">
                <a:solidFill>
                  <a:srgbClr val="5B6472"/>
                </a:solidFill>
                <a:latin typeface="Arial" pitchFamily="34" charset="0"/>
                <a:ea typeface="Arial" pitchFamily="34" charset="-122"/>
                <a:cs typeface="Arial" pitchFamily="34" charset="-120"/>
              </a:rPr>
              <a:t>Test 1 embeds the standard ASCII string "123456789" (check value 0x31C3). All three match the waveforms and an independent software CRC-16/XMODEM.</a:t>
            </a:r>
            <a:endParaRPr lang="en-US" sz="1200" dirty="0"/>
          </a:p>
        </p:txBody>
      </p:sp>
      <p:sp>
        <p:nvSpPr>
          <p:cNvPr id="8" name="Shape 4"/>
          <p:cNvSpPr/>
          <p:nvPr/>
        </p:nvSpPr>
        <p:spPr>
          <a:xfrm>
            <a:off x="548640" y="4251960"/>
            <a:ext cx="5760720" cy="1920240"/>
          </a:xfrm>
          <a:prstGeom prst="roundRect">
            <a:avLst>
              <a:gd name="adj" fmla="val 5714"/>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9" name="Text 5"/>
          <p:cNvSpPr txBox="1"/>
          <p:nvPr/>
        </p:nvSpPr>
        <p:spPr>
          <a:xfrm>
            <a:off x="777240" y="4389120"/>
            <a:ext cx="5303520" cy="320040"/>
          </a:xfrm>
          <a:prstGeom prst="rect">
            <a:avLst/>
          </a:prstGeom>
          <a:noFill/>
          <a:ln/>
        </p:spPr>
        <p:txBody>
          <a:bodyPr wrap="square" lIns="0" tIns="0" rIns="0" bIns="0" rtlCol="0" anchor="t"/>
          <a:lstStyle/>
          <a:p>
            <a:pPr indent="0" marL="0">
              <a:buNone/>
            </a:pPr>
            <a:r>
              <a:rPr lang="en-US" sz="1500" b="1" dirty="0">
                <a:solidFill>
                  <a:srgbClr val="0B1F44"/>
                </a:solidFill>
                <a:latin typeface="Arial" pitchFamily="34" charset="0"/>
                <a:ea typeface="Arial" pitchFamily="34" charset="-122"/>
                <a:cs typeface="Arial" pitchFamily="34" charset="-120"/>
              </a:rPr>
              <a:t>Testbench discipline</a:t>
            </a:r>
            <a:endParaRPr lang="en-US" sz="1500" dirty="0"/>
          </a:p>
        </p:txBody>
      </p:sp>
      <p:sp>
        <p:nvSpPr>
          <p:cNvPr id="10" name="Text 6"/>
          <p:cNvSpPr txBox="1"/>
          <p:nvPr/>
        </p:nvSpPr>
        <p:spPr>
          <a:xfrm>
            <a:off x="777240" y="4754880"/>
            <a:ext cx="5349240" cy="137160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B2333"/>
                </a:solidFill>
                <a:latin typeface="Arial" pitchFamily="34" charset="0"/>
                <a:ea typeface="Arial" pitchFamily="34" charset="-122"/>
                <a:cs typeface="Arial" pitchFamily="34" charset="-120"/>
              </a:rPr>
              <a:t>Apply reset, then wait until the module is idle before each new input</a:t>
            </a:r>
            <a:endParaRPr lang="en-US" sz="1250" dirty="0"/>
          </a:p>
          <a:p>
            <a:pPr marL="342900" indent="-342900">
              <a:spcAft>
                <a:spcPts val="500"/>
              </a:spcAft>
              <a:buSzPct val="100000"/>
              <a:buChar char="•"/>
            </a:pPr>
            <a:r>
              <a:rPr lang="en-US" sz="1250" dirty="0">
                <a:solidFill>
                  <a:srgbClr val="1B2333"/>
                </a:solidFill>
                <a:latin typeface="Arial" pitchFamily="34" charset="0"/>
                <a:ea typeface="Arial" pitchFamily="34" charset="-122"/>
                <a:cs typeface="Arial" pitchFamily="34" charset="-120"/>
              </a:rPr>
              <a:t>The engine starts by itself whenever busy is low, so timing matters</a:t>
            </a:r>
            <a:endParaRPr lang="en-US" sz="1250" dirty="0"/>
          </a:p>
          <a:p>
            <a:pPr marL="342900" indent="-342900">
              <a:spcAft>
                <a:spcPts val="500"/>
              </a:spcAft>
              <a:buSzPct val="100000"/>
              <a:buChar char="•"/>
            </a:pPr>
            <a:r>
              <a:rPr lang="en-US" sz="1250" dirty="0">
                <a:solidFill>
                  <a:srgbClr val="1B2333"/>
                </a:solidFill>
                <a:latin typeface="Arial" pitchFamily="34" charset="0"/>
                <a:ea typeface="Arial" pitchFamily="34" charset="-122"/>
                <a:cs typeface="Arial" pitchFamily="34" charset="-120"/>
              </a:rPr>
              <a:t>Wait for done, then compare data_with_crc[15:0] with the expected CRC</a:t>
            </a:r>
            <a:endParaRPr lang="en-US" sz="1250" dirty="0"/>
          </a:p>
        </p:txBody>
      </p:sp>
      <p:sp>
        <p:nvSpPr>
          <p:cNvPr id="11" name="Text 7"/>
          <p:cNvSpPr txBox="1"/>
          <p:nvPr/>
        </p:nvSpPr>
        <p:spPr>
          <a:xfrm>
            <a:off x="6675120" y="1463040"/>
            <a:ext cx="4965192" cy="228600"/>
          </a:xfrm>
          <a:prstGeom prst="rect">
            <a:avLst/>
          </a:prstGeom>
          <a:noFill/>
          <a:ln/>
        </p:spPr>
        <p:txBody>
          <a:bodyPr wrap="square" lIns="0" tIns="0" rIns="0" bIns="0" rtlCol="0" anchor="t"/>
          <a:lstStyle/>
          <a:p>
            <a:pPr indent="0" marL="0">
              <a:buNone/>
            </a:pPr>
            <a:r>
              <a:rPr lang="en-US" sz="1050" dirty="0">
                <a:solidFill>
                  <a:srgbClr val="5B6472"/>
                </a:solidFill>
                <a:latin typeface="Arial" pitchFamily="34" charset="0"/>
                <a:ea typeface="Arial" pitchFamily="34" charset="-122"/>
                <a:cs typeface="Arial" pitchFamily="34" charset="-120"/>
              </a:rPr>
              <a:t>Test 1: counter starts after start; input captured in data_in_reg</a:t>
            </a:r>
            <a:endParaRPr lang="en-US" sz="1050" dirty="0"/>
          </a:p>
        </p:txBody>
      </p:sp>
      <p:sp>
        <p:nvSpPr>
          <p:cNvPr id="12" name="Shape 8"/>
          <p:cNvSpPr/>
          <p:nvPr/>
        </p:nvSpPr>
        <p:spPr>
          <a:xfrm>
            <a:off x="6675120" y="1709928"/>
            <a:ext cx="4965192" cy="936674"/>
          </a:xfrm>
          <a:prstGeom prst="roundRect">
            <a:avLst>
              <a:gd name="adj" fmla="val 5857"/>
            </a:avLst>
          </a:prstGeom>
          <a:solidFill>
            <a:srgbClr val="FFFFFF"/>
          </a:solidFill>
          <a:ln w="12700">
            <a:solidFill>
              <a:srgbClr val="D5DEEC"/>
            </a:solidFill>
            <a:prstDash val="solid"/>
          </a:ln>
        </p:spPr>
      </p:sp>
      <p:pic>
        <p:nvPicPr>
          <p:cNvPr id="13" name="Image 1" descr="/home/claude/assets/r13.png">    </p:cNvPr>
          <p:cNvPicPr>
            <a:picLocks noChangeAspect="1"/>
          </p:cNvPicPr>
          <p:nvPr/>
        </p:nvPicPr>
        <p:blipFill>
          <a:blip r:embed="rId2"/>
          <a:stretch>
            <a:fillRect/>
          </a:stretch>
        </p:blipFill>
        <p:spPr>
          <a:xfrm>
            <a:off x="6729984" y="1764792"/>
            <a:ext cx="4855464" cy="826946"/>
          </a:xfrm>
          <a:prstGeom prst="rect">
            <a:avLst/>
          </a:prstGeom>
        </p:spPr>
      </p:pic>
      <p:sp>
        <p:nvSpPr>
          <p:cNvPr id="14" name="Text 9"/>
          <p:cNvSpPr txBox="1"/>
          <p:nvPr/>
        </p:nvSpPr>
        <p:spPr>
          <a:xfrm>
            <a:off x="6675120" y="2765474"/>
            <a:ext cx="4965192" cy="228600"/>
          </a:xfrm>
          <a:prstGeom prst="rect">
            <a:avLst/>
          </a:prstGeom>
          <a:noFill/>
          <a:ln/>
        </p:spPr>
        <p:txBody>
          <a:bodyPr wrap="square" lIns="0" tIns="0" rIns="0" bIns="0" rtlCol="0" anchor="t"/>
          <a:lstStyle/>
          <a:p>
            <a:pPr indent="0" marL="0">
              <a:buNone/>
            </a:pPr>
            <a:r>
              <a:rPr lang="en-US" sz="1050" dirty="0">
                <a:solidFill>
                  <a:srgbClr val="5B6472"/>
                </a:solidFill>
                <a:latin typeface="Arial" pitchFamily="34" charset="0"/>
                <a:ea typeface="Arial" pitchFamily="34" charset="-122"/>
                <a:cs typeface="Arial" pitchFamily="34" charset="-120"/>
              </a:rPr>
              <a:t>Test 2: result 0x1248 appended to the data</a:t>
            </a:r>
            <a:endParaRPr lang="en-US" sz="1050" dirty="0"/>
          </a:p>
        </p:txBody>
      </p:sp>
      <p:sp>
        <p:nvSpPr>
          <p:cNvPr id="15" name="Shape 10"/>
          <p:cNvSpPr/>
          <p:nvPr/>
        </p:nvSpPr>
        <p:spPr>
          <a:xfrm>
            <a:off x="6675120" y="3012362"/>
            <a:ext cx="4965192" cy="993574"/>
          </a:xfrm>
          <a:prstGeom prst="roundRect">
            <a:avLst>
              <a:gd name="adj" fmla="val 5522"/>
            </a:avLst>
          </a:prstGeom>
          <a:solidFill>
            <a:srgbClr val="FFFFFF"/>
          </a:solidFill>
          <a:ln w="12700">
            <a:solidFill>
              <a:srgbClr val="D5DEEC"/>
            </a:solidFill>
            <a:prstDash val="solid"/>
          </a:ln>
        </p:spPr>
      </p:sp>
      <p:pic>
        <p:nvPicPr>
          <p:cNvPr id="16" name="Image 2" descr="/home/claude/assets/r14.png">    </p:cNvPr>
          <p:cNvPicPr>
            <a:picLocks noChangeAspect="1"/>
          </p:cNvPicPr>
          <p:nvPr/>
        </p:nvPicPr>
        <p:blipFill>
          <a:blip r:embed="rId3"/>
          <a:stretch>
            <a:fillRect/>
          </a:stretch>
        </p:blipFill>
        <p:spPr>
          <a:xfrm>
            <a:off x="6729984" y="3067226"/>
            <a:ext cx="4855464" cy="883846"/>
          </a:xfrm>
          <a:prstGeom prst="rect">
            <a:avLst/>
          </a:prstGeom>
        </p:spPr>
      </p:pic>
      <p:sp>
        <p:nvSpPr>
          <p:cNvPr id="17" name="Text 11"/>
          <p:cNvSpPr txBox="1"/>
          <p:nvPr/>
        </p:nvSpPr>
        <p:spPr>
          <a:xfrm>
            <a:off x="6675120" y="4124808"/>
            <a:ext cx="4965192" cy="228600"/>
          </a:xfrm>
          <a:prstGeom prst="rect">
            <a:avLst/>
          </a:prstGeom>
          <a:noFill/>
          <a:ln/>
        </p:spPr>
        <p:txBody>
          <a:bodyPr wrap="square" lIns="0" tIns="0" rIns="0" bIns="0" rtlCol="0" anchor="t"/>
          <a:lstStyle/>
          <a:p>
            <a:pPr indent="0" marL="0">
              <a:buNone/>
            </a:pPr>
            <a:r>
              <a:rPr lang="en-US" sz="1050" dirty="0">
                <a:solidFill>
                  <a:srgbClr val="5B6472"/>
                </a:solidFill>
                <a:latin typeface="Arial" pitchFamily="34" charset="0"/>
                <a:ea typeface="Arial" pitchFamily="34" charset="-122"/>
                <a:cs typeface="Arial" pitchFamily="34" charset="-120"/>
              </a:rPr>
              <a:t>Test 3: counter reaches 128, done rises, busy falls, result 0x8169</a:t>
            </a:r>
            <a:endParaRPr lang="en-US" sz="1050" dirty="0"/>
          </a:p>
        </p:txBody>
      </p:sp>
      <p:sp>
        <p:nvSpPr>
          <p:cNvPr id="18" name="Shape 12"/>
          <p:cNvSpPr/>
          <p:nvPr/>
        </p:nvSpPr>
        <p:spPr>
          <a:xfrm>
            <a:off x="6675120" y="4371696"/>
            <a:ext cx="4965192" cy="1088407"/>
          </a:xfrm>
          <a:prstGeom prst="roundRect">
            <a:avLst>
              <a:gd name="adj" fmla="val 5041"/>
            </a:avLst>
          </a:prstGeom>
          <a:solidFill>
            <a:srgbClr val="FFFFFF"/>
          </a:solidFill>
          <a:ln w="12700">
            <a:solidFill>
              <a:srgbClr val="D5DEEC"/>
            </a:solidFill>
            <a:prstDash val="solid"/>
          </a:ln>
        </p:spPr>
      </p:sp>
      <p:pic>
        <p:nvPicPr>
          <p:cNvPr id="19" name="Image 3" descr="/home/claude/assets/r15.png">    </p:cNvPr>
          <p:cNvPicPr>
            <a:picLocks noChangeAspect="1"/>
          </p:cNvPicPr>
          <p:nvPr/>
        </p:nvPicPr>
        <p:blipFill>
          <a:blip r:embed="rId4"/>
          <a:stretch>
            <a:fillRect/>
          </a:stretch>
        </p:blipFill>
        <p:spPr>
          <a:xfrm>
            <a:off x="6729984" y="4426560"/>
            <a:ext cx="4855464" cy="978679"/>
          </a:xfrm>
          <a:prstGeom prst="rect">
            <a:avLst/>
          </a:prstGeom>
        </p:spPr>
      </p:pic>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47472"/>
            <a:ext cx="7315200" cy="228600"/>
          </a:xfrm>
          <a:prstGeom prst="rect">
            <a:avLst/>
          </a:prstGeom>
          <a:noFill/>
          <a:ln/>
        </p:spPr>
        <p:txBody>
          <a:bodyPr wrap="square" lIns="0" tIns="0" rIns="0" bIns="0" rtlCol="0" anchor="t"/>
          <a:lstStyle/>
          <a:p>
            <a:pPr indent="0" marL="0">
              <a:buNone/>
            </a:pPr>
            <a:r>
              <a:rPr lang="en-US" sz="1200" b="1" spc="300" kern="0" dirty="0">
                <a:solidFill>
                  <a:srgbClr val="FF5757"/>
                </a:solidFill>
                <a:latin typeface="Arial" pitchFamily="34" charset="0"/>
                <a:ea typeface="Arial" pitchFamily="34" charset="-122"/>
                <a:cs typeface="Arial" pitchFamily="34" charset="-120"/>
              </a:rPr>
              <a:t>03  DEVELOPMENT JOURNEY</a:t>
            </a:r>
            <a:endParaRPr lang="en-US" sz="1200" dirty="0"/>
          </a:p>
        </p:txBody>
      </p:sp>
      <p:sp>
        <p:nvSpPr>
          <p:cNvPr id="3" name="Text 1"/>
          <p:cNvSpPr txBox="1"/>
          <p:nvPr/>
        </p:nvSpPr>
        <p:spPr>
          <a:xfrm>
            <a:off x="548640" y="603504"/>
            <a:ext cx="9966960" cy="685800"/>
          </a:xfrm>
          <a:prstGeom prst="rect">
            <a:avLst/>
          </a:prstGeom>
          <a:noFill/>
          <a:ln/>
        </p:spPr>
        <p:txBody>
          <a:bodyPr wrap="square" lIns="0" tIns="0" rIns="0" bIns="0" rtlCol="0" anchor="ctr"/>
          <a:lstStyle/>
          <a:p>
            <a:pPr indent="0" marL="0">
              <a:buNone/>
            </a:pPr>
            <a:r>
              <a:rPr lang="en-US" sz="3200" b="1" dirty="0">
                <a:solidFill>
                  <a:srgbClr val="0B1F44"/>
                </a:solidFill>
                <a:latin typeface="Arial" pitchFamily="34" charset="0"/>
                <a:ea typeface="Arial" pitchFamily="34" charset="-122"/>
                <a:cs typeface="Arial" pitchFamily="34" charset="-120"/>
              </a:rPr>
              <a:t>Integration: top-level FSM</a:t>
            </a:r>
            <a:endParaRPr lang="en-US" sz="3200" dirty="0"/>
          </a:p>
        </p:txBody>
      </p:sp>
      <p:pic>
        <p:nvPicPr>
          <p:cNvPr id="4" name="Image 0" descr="/home/claude/assets/logo.png">    </p:cNvPr>
          <p:cNvPicPr>
            <a:picLocks noChangeAspect="1"/>
          </p:cNvPicPr>
          <p:nvPr/>
        </p:nvPicPr>
        <p:blipFill>
          <a:blip r:embed="rId1"/>
          <a:stretch>
            <a:fillRect/>
          </a:stretch>
        </p:blipFill>
        <p:spPr>
          <a:xfrm>
            <a:off x="10744200" y="365760"/>
            <a:ext cx="896112" cy="434340"/>
          </a:xfrm>
          <a:prstGeom prst="rect">
            <a:avLst/>
          </a:prstGeom>
        </p:spPr>
      </p:pic>
      <p:sp>
        <p:nvSpPr>
          <p:cNvPr id="5" name="Text 2"/>
          <p:cNvSpPr txBox="1"/>
          <p:nvPr/>
        </p:nvSpPr>
        <p:spPr>
          <a:xfrm>
            <a:off x="548640" y="6428232"/>
            <a:ext cx="6400800" cy="228600"/>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Secure UART Communication System  ·  NTI Digital Design Project</a:t>
            </a:r>
            <a:endParaRPr lang="en-US" sz="1000" dirty="0"/>
          </a:p>
        </p:txBody>
      </p:sp>
      <p:sp>
        <p:nvSpPr>
          <p:cNvPr id="6" name="Shape 3"/>
          <p:cNvSpPr/>
          <p:nvPr/>
        </p:nvSpPr>
        <p:spPr>
          <a:xfrm>
            <a:off x="548640" y="1554480"/>
            <a:ext cx="1856232" cy="1051560"/>
          </a:xfrm>
          <a:prstGeom prst="roundRect">
            <a:avLst>
              <a:gd name="adj" fmla="val 10435"/>
            </a:avLst>
          </a:prstGeom>
          <a:solidFill>
            <a:srgbClr val="0B1F44"/>
          </a:solidFill>
          <a:ln w="12700">
            <a:solidFill>
              <a:srgbClr val="0B1F44"/>
            </a:solidFill>
            <a:prstDash val="solid"/>
          </a:ln>
        </p:spPr>
      </p:sp>
      <p:sp>
        <p:nvSpPr>
          <p:cNvPr id="7" name="Text 4"/>
          <p:cNvSpPr txBox="1"/>
          <p:nvPr/>
        </p:nvSpPr>
        <p:spPr>
          <a:xfrm>
            <a:off x="548640" y="1691640"/>
            <a:ext cx="1856232"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IDLE</a:t>
            </a:r>
            <a:endParaRPr lang="en-US" sz="1400" dirty="0"/>
          </a:p>
        </p:txBody>
      </p:sp>
      <p:sp>
        <p:nvSpPr>
          <p:cNvPr id="8" name="Text 5"/>
          <p:cNvSpPr txBox="1"/>
          <p:nvPr/>
        </p:nvSpPr>
        <p:spPr>
          <a:xfrm>
            <a:off x="621792" y="2103120"/>
            <a:ext cx="1709928" cy="411480"/>
          </a:xfrm>
          <a:prstGeom prst="rect">
            <a:avLst/>
          </a:prstGeom>
          <a:noFill/>
          <a:ln/>
        </p:spPr>
        <p:txBody>
          <a:bodyPr wrap="square" lIns="0" tIns="0" rIns="0" bIns="0" rtlCol="0" anchor="t"/>
          <a:lstStyle/>
          <a:p>
            <a:pPr algn="ctr" indent="0" marL="0">
              <a:buNone/>
            </a:pPr>
            <a:r>
              <a:rPr lang="en-US" sz="1150" dirty="0">
                <a:solidFill>
                  <a:srgbClr val="CADCFC"/>
                </a:solidFill>
                <a:latin typeface="Arial" pitchFamily="34" charset="0"/>
                <a:ea typeface="Arial" pitchFamily="34" charset="-122"/>
                <a:cs typeface="Arial" pitchFamily="34" charset="-120"/>
              </a:rPr>
              <a:t>wait for start</a:t>
            </a:r>
            <a:endParaRPr lang="en-US" sz="1150" dirty="0"/>
          </a:p>
        </p:txBody>
      </p:sp>
      <p:sp>
        <p:nvSpPr>
          <p:cNvPr id="9" name="Shape 6"/>
          <p:cNvSpPr/>
          <p:nvPr/>
        </p:nvSpPr>
        <p:spPr>
          <a:xfrm>
            <a:off x="2857500" y="1554480"/>
            <a:ext cx="1856232" cy="1051560"/>
          </a:xfrm>
          <a:prstGeom prst="roundRect">
            <a:avLst>
              <a:gd name="adj" fmla="val 10435"/>
            </a:avLst>
          </a:prstGeom>
          <a:solidFill>
            <a:srgbClr val="004AAD"/>
          </a:solidFill>
          <a:ln w="12700">
            <a:solidFill>
              <a:srgbClr val="004AAD"/>
            </a:solidFill>
            <a:prstDash val="solid"/>
          </a:ln>
        </p:spPr>
      </p:sp>
      <p:sp>
        <p:nvSpPr>
          <p:cNvPr id="10" name="Text 7"/>
          <p:cNvSpPr txBox="1"/>
          <p:nvPr/>
        </p:nvSpPr>
        <p:spPr>
          <a:xfrm>
            <a:off x="2857500" y="1691640"/>
            <a:ext cx="1856232"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AES_START</a:t>
            </a:r>
            <a:endParaRPr lang="en-US" sz="1400" dirty="0"/>
          </a:p>
        </p:txBody>
      </p:sp>
      <p:sp>
        <p:nvSpPr>
          <p:cNvPr id="11" name="Text 8"/>
          <p:cNvSpPr txBox="1"/>
          <p:nvPr/>
        </p:nvSpPr>
        <p:spPr>
          <a:xfrm>
            <a:off x="2930652" y="2103120"/>
            <a:ext cx="1709928" cy="411480"/>
          </a:xfrm>
          <a:prstGeom prst="rect">
            <a:avLst/>
          </a:prstGeom>
          <a:noFill/>
          <a:ln/>
        </p:spPr>
        <p:txBody>
          <a:bodyPr wrap="square" lIns="0" tIns="0" rIns="0" bIns="0" rtlCol="0" anchor="t"/>
          <a:lstStyle/>
          <a:p>
            <a:pPr algn="ctr" indent="0" marL="0">
              <a:buNone/>
            </a:pPr>
            <a:r>
              <a:rPr lang="en-US" sz="1150" dirty="0">
                <a:solidFill>
                  <a:srgbClr val="CADCFC"/>
                </a:solidFill>
                <a:latin typeface="Arial" pitchFamily="34" charset="0"/>
                <a:ea typeface="Arial" pitchFamily="34" charset="-122"/>
                <a:cs typeface="Arial" pitchFamily="34" charset="-120"/>
              </a:rPr>
              <a:t>launch AES</a:t>
            </a:r>
            <a:endParaRPr lang="en-US" sz="1150" dirty="0"/>
          </a:p>
        </p:txBody>
      </p:sp>
      <p:sp>
        <p:nvSpPr>
          <p:cNvPr id="12" name="Shape 9"/>
          <p:cNvSpPr/>
          <p:nvPr/>
        </p:nvSpPr>
        <p:spPr>
          <a:xfrm>
            <a:off x="5166360" y="1554480"/>
            <a:ext cx="1856232" cy="1051560"/>
          </a:xfrm>
          <a:prstGeom prst="roundRect">
            <a:avLst>
              <a:gd name="adj" fmla="val 10435"/>
            </a:avLst>
          </a:prstGeom>
          <a:solidFill>
            <a:srgbClr val="004AAD"/>
          </a:solidFill>
          <a:ln w="12700">
            <a:solidFill>
              <a:srgbClr val="004AAD"/>
            </a:solidFill>
            <a:prstDash val="solid"/>
          </a:ln>
        </p:spPr>
      </p:sp>
      <p:sp>
        <p:nvSpPr>
          <p:cNvPr id="13" name="Text 10"/>
          <p:cNvSpPr txBox="1"/>
          <p:nvPr/>
        </p:nvSpPr>
        <p:spPr>
          <a:xfrm>
            <a:off x="5166360" y="1691640"/>
            <a:ext cx="1856232"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AES_WAIT</a:t>
            </a:r>
            <a:endParaRPr lang="en-US" sz="1400" dirty="0"/>
          </a:p>
        </p:txBody>
      </p:sp>
      <p:sp>
        <p:nvSpPr>
          <p:cNvPr id="14" name="Text 11"/>
          <p:cNvSpPr txBox="1"/>
          <p:nvPr/>
        </p:nvSpPr>
        <p:spPr>
          <a:xfrm>
            <a:off x="5239512" y="2103120"/>
            <a:ext cx="1709928" cy="411480"/>
          </a:xfrm>
          <a:prstGeom prst="rect">
            <a:avLst/>
          </a:prstGeom>
          <a:noFill/>
          <a:ln/>
        </p:spPr>
        <p:txBody>
          <a:bodyPr wrap="square" lIns="0" tIns="0" rIns="0" bIns="0" rtlCol="0" anchor="t"/>
          <a:lstStyle/>
          <a:p>
            <a:pPr algn="ctr" indent="0" marL="0">
              <a:buNone/>
            </a:pPr>
            <a:r>
              <a:rPr lang="en-US" sz="1150" dirty="0">
                <a:solidFill>
                  <a:srgbClr val="CADCFC"/>
                </a:solidFill>
                <a:latin typeface="Arial" pitchFamily="34" charset="0"/>
                <a:ea typeface="Arial" pitchFamily="34" charset="-122"/>
                <a:cs typeface="Arial" pitchFamily="34" charset="-120"/>
              </a:rPr>
              <a:t>wait for AES done</a:t>
            </a:r>
            <a:endParaRPr lang="en-US" sz="1150" dirty="0"/>
          </a:p>
        </p:txBody>
      </p:sp>
      <p:sp>
        <p:nvSpPr>
          <p:cNvPr id="15" name="Shape 12"/>
          <p:cNvSpPr/>
          <p:nvPr/>
        </p:nvSpPr>
        <p:spPr>
          <a:xfrm>
            <a:off x="7475220" y="1554480"/>
            <a:ext cx="1856232" cy="1051560"/>
          </a:xfrm>
          <a:prstGeom prst="roundRect">
            <a:avLst>
              <a:gd name="adj" fmla="val 10435"/>
            </a:avLst>
          </a:prstGeom>
          <a:solidFill>
            <a:srgbClr val="1B75BB"/>
          </a:solidFill>
          <a:ln w="12700">
            <a:solidFill>
              <a:srgbClr val="1B75BB"/>
            </a:solidFill>
            <a:prstDash val="solid"/>
          </a:ln>
        </p:spPr>
      </p:sp>
      <p:sp>
        <p:nvSpPr>
          <p:cNvPr id="16" name="Text 13"/>
          <p:cNvSpPr txBox="1"/>
          <p:nvPr/>
        </p:nvSpPr>
        <p:spPr>
          <a:xfrm>
            <a:off x="7475220" y="1691640"/>
            <a:ext cx="1856232"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CRC_START</a:t>
            </a:r>
            <a:endParaRPr lang="en-US" sz="1400" dirty="0"/>
          </a:p>
        </p:txBody>
      </p:sp>
      <p:sp>
        <p:nvSpPr>
          <p:cNvPr id="17" name="Text 14"/>
          <p:cNvSpPr txBox="1"/>
          <p:nvPr/>
        </p:nvSpPr>
        <p:spPr>
          <a:xfrm>
            <a:off x="7548372" y="2103120"/>
            <a:ext cx="1709928" cy="411480"/>
          </a:xfrm>
          <a:prstGeom prst="rect">
            <a:avLst/>
          </a:prstGeom>
          <a:noFill/>
          <a:ln/>
        </p:spPr>
        <p:txBody>
          <a:bodyPr wrap="square" lIns="0" tIns="0" rIns="0" bIns="0" rtlCol="0" anchor="t"/>
          <a:lstStyle/>
          <a:p>
            <a:pPr algn="ctr" indent="0" marL="0">
              <a:buNone/>
            </a:pPr>
            <a:r>
              <a:rPr lang="en-US" sz="1150" dirty="0">
                <a:solidFill>
                  <a:srgbClr val="CADCFC"/>
                </a:solidFill>
                <a:latin typeface="Arial" pitchFamily="34" charset="0"/>
                <a:ea typeface="Arial" pitchFamily="34" charset="-122"/>
                <a:cs typeface="Arial" pitchFamily="34" charset="-120"/>
              </a:rPr>
              <a:t>launch CRC</a:t>
            </a:r>
            <a:endParaRPr lang="en-US" sz="1150" dirty="0"/>
          </a:p>
        </p:txBody>
      </p:sp>
      <p:sp>
        <p:nvSpPr>
          <p:cNvPr id="18" name="Shape 15"/>
          <p:cNvSpPr/>
          <p:nvPr/>
        </p:nvSpPr>
        <p:spPr>
          <a:xfrm>
            <a:off x="9784080" y="1554480"/>
            <a:ext cx="1856232" cy="1051560"/>
          </a:xfrm>
          <a:prstGeom prst="roundRect">
            <a:avLst>
              <a:gd name="adj" fmla="val 10435"/>
            </a:avLst>
          </a:prstGeom>
          <a:solidFill>
            <a:srgbClr val="1B75BB"/>
          </a:solidFill>
          <a:ln w="12700">
            <a:solidFill>
              <a:srgbClr val="1B75BB"/>
            </a:solidFill>
            <a:prstDash val="solid"/>
          </a:ln>
        </p:spPr>
      </p:sp>
      <p:sp>
        <p:nvSpPr>
          <p:cNvPr id="19" name="Text 16"/>
          <p:cNvSpPr txBox="1"/>
          <p:nvPr/>
        </p:nvSpPr>
        <p:spPr>
          <a:xfrm>
            <a:off x="9784080" y="1691640"/>
            <a:ext cx="1856232"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CRC_WAIT</a:t>
            </a:r>
            <a:endParaRPr lang="en-US" sz="1400" dirty="0"/>
          </a:p>
        </p:txBody>
      </p:sp>
      <p:sp>
        <p:nvSpPr>
          <p:cNvPr id="20" name="Text 17"/>
          <p:cNvSpPr txBox="1"/>
          <p:nvPr/>
        </p:nvSpPr>
        <p:spPr>
          <a:xfrm>
            <a:off x="9857232" y="2103120"/>
            <a:ext cx="1709928" cy="411480"/>
          </a:xfrm>
          <a:prstGeom prst="rect">
            <a:avLst/>
          </a:prstGeom>
          <a:noFill/>
          <a:ln/>
        </p:spPr>
        <p:txBody>
          <a:bodyPr wrap="square" lIns="0" tIns="0" rIns="0" bIns="0" rtlCol="0" anchor="t"/>
          <a:lstStyle/>
          <a:p>
            <a:pPr algn="ctr" indent="0" marL="0">
              <a:buNone/>
            </a:pPr>
            <a:r>
              <a:rPr lang="en-US" sz="1150" dirty="0">
                <a:solidFill>
                  <a:srgbClr val="CADCFC"/>
                </a:solidFill>
                <a:latin typeface="Arial" pitchFamily="34" charset="0"/>
                <a:ea typeface="Arial" pitchFamily="34" charset="-122"/>
                <a:cs typeface="Arial" pitchFamily="34" charset="-120"/>
              </a:rPr>
              <a:t>wait for CRC done</a:t>
            </a:r>
            <a:endParaRPr lang="en-US" sz="1150" dirty="0"/>
          </a:p>
        </p:txBody>
      </p:sp>
      <p:sp>
        <p:nvSpPr>
          <p:cNvPr id="21" name="Shape 18"/>
          <p:cNvSpPr/>
          <p:nvPr/>
        </p:nvSpPr>
        <p:spPr>
          <a:xfrm>
            <a:off x="2432304" y="2080260"/>
            <a:ext cx="397764" cy="0"/>
          </a:xfrm>
          <a:prstGeom prst="line">
            <a:avLst/>
          </a:prstGeom>
          <a:noFill/>
          <a:ln w="25400">
            <a:solidFill>
              <a:srgbClr val="FF5757"/>
            </a:solidFill>
            <a:prstDash val="solid"/>
            <a:tailEnd type="triangle"/>
          </a:ln>
        </p:spPr>
      </p:sp>
      <p:sp>
        <p:nvSpPr>
          <p:cNvPr id="22" name="Shape 19"/>
          <p:cNvSpPr/>
          <p:nvPr/>
        </p:nvSpPr>
        <p:spPr>
          <a:xfrm>
            <a:off x="4741164" y="2080260"/>
            <a:ext cx="397764" cy="0"/>
          </a:xfrm>
          <a:prstGeom prst="line">
            <a:avLst/>
          </a:prstGeom>
          <a:noFill/>
          <a:ln w="25400">
            <a:solidFill>
              <a:srgbClr val="FF5757"/>
            </a:solidFill>
            <a:prstDash val="solid"/>
            <a:tailEnd type="triangle"/>
          </a:ln>
        </p:spPr>
      </p:sp>
      <p:sp>
        <p:nvSpPr>
          <p:cNvPr id="23" name="Shape 20"/>
          <p:cNvSpPr/>
          <p:nvPr/>
        </p:nvSpPr>
        <p:spPr>
          <a:xfrm>
            <a:off x="7050024" y="2080260"/>
            <a:ext cx="397764" cy="0"/>
          </a:xfrm>
          <a:prstGeom prst="line">
            <a:avLst/>
          </a:prstGeom>
          <a:noFill/>
          <a:ln w="25400">
            <a:solidFill>
              <a:srgbClr val="FF5757"/>
            </a:solidFill>
            <a:prstDash val="solid"/>
            <a:tailEnd type="triangle"/>
          </a:ln>
        </p:spPr>
      </p:sp>
      <p:sp>
        <p:nvSpPr>
          <p:cNvPr id="24" name="Shape 21"/>
          <p:cNvSpPr/>
          <p:nvPr/>
        </p:nvSpPr>
        <p:spPr>
          <a:xfrm>
            <a:off x="9358884" y="2080260"/>
            <a:ext cx="397764" cy="0"/>
          </a:xfrm>
          <a:prstGeom prst="line">
            <a:avLst/>
          </a:prstGeom>
          <a:noFill/>
          <a:ln w="25400">
            <a:solidFill>
              <a:srgbClr val="FF5757"/>
            </a:solidFill>
            <a:prstDash val="solid"/>
            <a:tailEnd type="triangle"/>
          </a:ln>
        </p:spPr>
      </p:sp>
      <p:sp>
        <p:nvSpPr>
          <p:cNvPr id="25" name="Shape 22"/>
          <p:cNvSpPr/>
          <p:nvPr/>
        </p:nvSpPr>
        <p:spPr>
          <a:xfrm>
            <a:off x="10712196" y="2633472"/>
            <a:ext cx="0" cy="630936"/>
          </a:xfrm>
          <a:prstGeom prst="line">
            <a:avLst/>
          </a:prstGeom>
          <a:noFill/>
          <a:ln w="25400">
            <a:solidFill>
              <a:srgbClr val="FF5757"/>
            </a:solidFill>
            <a:prstDash val="solid"/>
            <a:tailEnd type="triangle"/>
          </a:ln>
        </p:spPr>
      </p:sp>
      <p:sp>
        <p:nvSpPr>
          <p:cNvPr id="26" name="Shape 23"/>
          <p:cNvSpPr/>
          <p:nvPr/>
        </p:nvSpPr>
        <p:spPr>
          <a:xfrm>
            <a:off x="9784080" y="3291840"/>
            <a:ext cx="1856232" cy="1051560"/>
          </a:xfrm>
          <a:prstGeom prst="roundRect">
            <a:avLst>
              <a:gd name="adj" fmla="val 10435"/>
            </a:avLst>
          </a:prstGeom>
          <a:solidFill>
            <a:srgbClr val="FF5757"/>
          </a:solidFill>
          <a:ln w="12700">
            <a:solidFill>
              <a:srgbClr val="FF5757"/>
            </a:solidFill>
            <a:prstDash val="solid"/>
          </a:ln>
        </p:spPr>
      </p:sp>
      <p:sp>
        <p:nvSpPr>
          <p:cNvPr id="27" name="Text 24"/>
          <p:cNvSpPr txBox="1"/>
          <p:nvPr/>
        </p:nvSpPr>
        <p:spPr>
          <a:xfrm>
            <a:off x="9784080" y="3429000"/>
            <a:ext cx="1856232"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UART_LOAD</a:t>
            </a:r>
            <a:endParaRPr lang="en-US" sz="1400" dirty="0"/>
          </a:p>
        </p:txBody>
      </p:sp>
      <p:sp>
        <p:nvSpPr>
          <p:cNvPr id="28" name="Text 25"/>
          <p:cNvSpPr txBox="1"/>
          <p:nvPr/>
        </p:nvSpPr>
        <p:spPr>
          <a:xfrm>
            <a:off x="9857232" y="3840480"/>
            <a:ext cx="1709928" cy="411480"/>
          </a:xfrm>
          <a:prstGeom prst="rect">
            <a:avLst/>
          </a:prstGeom>
          <a:noFill/>
          <a:ln/>
        </p:spPr>
        <p:txBody>
          <a:bodyPr wrap="square" lIns="0" tIns="0" rIns="0" bIns="0" rtlCol="0" anchor="t"/>
          <a:lstStyle/>
          <a:p>
            <a:pPr algn="ctr" indent="0" marL="0">
              <a:buNone/>
            </a:pPr>
            <a:r>
              <a:rPr lang="en-US" sz="1150" dirty="0">
                <a:solidFill>
                  <a:srgbClr val="CADCFC"/>
                </a:solidFill>
                <a:latin typeface="Arial" pitchFamily="34" charset="0"/>
                <a:ea typeface="Arial" pitchFamily="34" charset="-122"/>
                <a:cs typeface="Arial" pitchFamily="34" charset="-120"/>
              </a:rPr>
              <a:t>select next byte</a:t>
            </a:r>
            <a:endParaRPr lang="en-US" sz="1150" dirty="0"/>
          </a:p>
        </p:txBody>
      </p:sp>
      <p:sp>
        <p:nvSpPr>
          <p:cNvPr id="29" name="Shape 26"/>
          <p:cNvSpPr/>
          <p:nvPr/>
        </p:nvSpPr>
        <p:spPr>
          <a:xfrm>
            <a:off x="7475220" y="3291840"/>
            <a:ext cx="1856232" cy="1051560"/>
          </a:xfrm>
          <a:prstGeom prst="roundRect">
            <a:avLst>
              <a:gd name="adj" fmla="val 10435"/>
            </a:avLst>
          </a:prstGeom>
          <a:solidFill>
            <a:srgbClr val="FF5757"/>
          </a:solidFill>
          <a:ln w="12700">
            <a:solidFill>
              <a:srgbClr val="FF5757"/>
            </a:solidFill>
            <a:prstDash val="solid"/>
          </a:ln>
        </p:spPr>
      </p:sp>
      <p:sp>
        <p:nvSpPr>
          <p:cNvPr id="30" name="Text 27"/>
          <p:cNvSpPr txBox="1"/>
          <p:nvPr/>
        </p:nvSpPr>
        <p:spPr>
          <a:xfrm>
            <a:off x="7475220" y="3429000"/>
            <a:ext cx="1856232"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UART_SEND</a:t>
            </a:r>
            <a:endParaRPr lang="en-US" sz="1400" dirty="0"/>
          </a:p>
        </p:txBody>
      </p:sp>
      <p:sp>
        <p:nvSpPr>
          <p:cNvPr id="31" name="Text 28"/>
          <p:cNvSpPr txBox="1"/>
          <p:nvPr/>
        </p:nvSpPr>
        <p:spPr>
          <a:xfrm>
            <a:off x="7548372" y="3840480"/>
            <a:ext cx="1709928" cy="411480"/>
          </a:xfrm>
          <a:prstGeom prst="rect">
            <a:avLst/>
          </a:prstGeom>
          <a:noFill/>
          <a:ln/>
        </p:spPr>
        <p:txBody>
          <a:bodyPr wrap="square" lIns="0" tIns="0" rIns="0" bIns="0" rtlCol="0" anchor="t"/>
          <a:lstStyle/>
          <a:p>
            <a:pPr algn="ctr" indent="0" marL="0">
              <a:buNone/>
            </a:pPr>
            <a:r>
              <a:rPr lang="en-US" sz="1150" dirty="0">
                <a:solidFill>
                  <a:srgbClr val="CADCFC"/>
                </a:solidFill>
                <a:latin typeface="Arial" pitchFamily="34" charset="0"/>
                <a:ea typeface="Arial" pitchFamily="34" charset="-122"/>
                <a:cs typeface="Arial" pitchFamily="34" charset="-120"/>
              </a:rPr>
              <a:t>request transmission</a:t>
            </a:r>
            <a:endParaRPr lang="en-US" sz="1150" dirty="0"/>
          </a:p>
        </p:txBody>
      </p:sp>
      <p:sp>
        <p:nvSpPr>
          <p:cNvPr id="32" name="Shape 29"/>
          <p:cNvSpPr/>
          <p:nvPr/>
        </p:nvSpPr>
        <p:spPr>
          <a:xfrm>
            <a:off x="5166360" y="3291840"/>
            <a:ext cx="1856232" cy="1051560"/>
          </a:xfrm>
          <a:prstGeom prst="roundRect">
            <a:avLst>
              <a:gd name="adj" fmla="val 10435"/>
            </a:avLst>
          </a:prstGeom>
          <a:solidFill>
            <a:srgbClr val="FF5757"/>
          </a:solidFill>
          <a:ln w="12700">
            <a:solidFill>
              <a:srgbClr val="FF5757"/>
            </a:solidFill>
            <a:prstDash val="solid"/>
          </a:ln>
        </p:spPr>
      </p:sp>
      <p:sp>
        <p:nvSpPr>
          <p:cNvPr id="33" name="Text 30"/>
          <p:cNvSpPr txBox="1"/>
          <p:nvPr/>
        </p:nvSpPr>
        <p:spPr>
          <a:xfrm>
            <a:off x="5166360" y="3429000"/>
            <a:ext cx="1856232"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UART_WAIT</a:t>
            </a:r>
            <a:endParaRPr lang="en-US" sz="1400" dirty="0"/>
          </a:p>
        </p:txBody>
      </p:sp>
      <p:sp>
        <p:nvSpPr>
          <p:cNvPr id="34" name="Text 31"/>
          <p:cNvSpPr txBox="1"/>
          <p:nvPr/>
        </p:nvSpPr>
        <p:spPr>
          <a:xfrm>
            <a:off x="5239512" y="3840480"/>
            <a:ext cx="1709928" cy="411480"/>
          </a:xfrm>
          <a:prstGeom prst="rect">
            <a:avLst/>
          </a:prstGeom>
          <a:noFill/>
          <a:ln/>
        </p:spPr>
        <p:txBody>
          <a:bodyPr wrap="square" lIns="0" tIns="0" rIns="0" bIns="0" rtlCol="0" anchor="t"/>
          <a:lstStyle/>
          <a:p>
            <a:pPr algn="ctr" indent="0" marL="0">
              <a:buNone/>
            </a:pPr>
            <a:r>
              <a:rPr lang="en-US" sz="1150" dirty="0">
                <a:solidFill>
                  <a:srgbClr val="CADCFC"/>
                </a:solidFill>
                <a:latin typeface="Arial" pitchFamily="34" charset="0"/>
                <a:ea typeface="Arial" pitchFamily="34" charset="-122"/>
                <a:cs typeface="Arial" pitchFamily="34" charset="-120"/>
              </a:rPr>
              <a:t>wait for byte done</a:t>
            </a:r>
            <a:endParaRPr lang="en-US" sz="1150" dirty="0"/>
          </a:p>
        </p:txBody>
      </p:sp>
      <p:sp>
        <p:nvSpPr>
          <p:cNvPr id="35" name="Shape 32"/>
          <p:cNvSpPr/>
          <p:nvPr/>
        </p:nvSpPr>
        <p:spPr>
          <a:xfrm>
            <a:off x="2857500" y="3291840"/>
            <a:ext cx="1856232" cy="1051560"/>
          </a:xfrm>
          <a:prstGeom prst="roundRect">
            <a:avLst>
              <a:gd name="adj" fmla="val 10435"/>
            </a:avLst>
          </a:prstGeom>
          <a:solidFill>
            <a:srgbClr val="0B1F44"/>
          </a:solidFill>
          <a:ln w="12700">
            <a:solidFill>
              <a:srgbClr val="0B1F44"/>
            </a:solidFill>
            <a:prstDash val="solid"/>
          </a:ln>
        </p:spPr>
      </p:sp>
      <p:sp>
        <p:nvSpPr>
          <p:cNvPr id="36" name="Text 33"/>
          <p:cNvSpPr txBox="1"/>
          <p:nvPr/>
        </p:nvSpPr>
        <p:spPr>
          <a:xfrm>
            <a:off x="2857500" y="3429000"/>
            <a:ext cx="1856232"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COMPLETE</a:t>
            </a:r>
            <a:endParaRPr lang="en-US" sz="1400" dirty="0"/>
          </a:p>
        </p:txBody>
      </p:sp>
      <p:sp>
        <p:nvSpPr>
          <p:cNvPr id="37" name="Text 34"/>
          <p:cNvSpPr txBox="1"/>
          <p:nvPr/>
        </p:nvSpPr>
        <p:spPr>
          <a:xfrm>
            <a:off x="2930652" y="3840480"/>
            <a:ext cx="1709928" cy="411480"/>
          </a:xfrm>
          <a:prstGeom prst="rect">
            <a:avLst/>
          </a:prstGeom>
          <a:noFill/>
          <a:ln/>
        </p:spPr>
        <p:txBody>
          <a:bodyPr wrap="square" lIns="0" tIns="0" rIns="0" bIns="0" rtlCol="0" anchor="t"/>
          <a:lstStyle/>
          <a:p>
            <a:pPr algn="ctr" indent="0" marL="0">
              <a:buNone/>
            </a:pPr>
            <a:r>
              <a:rPr lang="en-US" sz="1150" dirty="0">
                <a:solidFill>
                  <a:srgbClr val="CADCFC"/>
                </a:solidFill>
                <a:latin typeface="Arial" pitchFamily="34" charset="0"/>
                <a:ea typeface="Arial" pitchFamily="34" charset="-122"/>
                <a:cs typeface="Arial" pitchFamily="34" charset="-120"/>
              </a:rPr>
              <a:t>report full frame</a:t>
            </a:r>
            <a:endParaRPr lang="en-US" sz="1150" dirty="0"/>
          </a:p>
        </p:txBody>
      </p:sp>
      <p:sp>
        <p:nvSpPr>
          <p:cNvPr id="38" name="Shape 35"/>
          <p:cNvSpPr/>
          <p:nvPr/>
        </p:nvSpPr>
        <p:spPr>
          <a:xfrm flipH="1">
            <a:off x="9358884" y="3817620"/>
            <a:ext cx="397764" cy="0"/>
          </a:xfrm>
          <a:prstGeom prst="line">
            <a:avLst/>
          </a:prstGeom>
          <a:noFill/>
          <a:ln w="25400">
            <a:solidFill>
              <a:srgbClr val="FF5757"/>
            </a:solidFill>
            <a:prstDash val="solid"/>
            <a:tailEnd type="triangle"/>
          </a:ln>
        </p:spPr>
      </p:sp>
      <p:sp>
        <p:nvSpPr>
          <p:cNvPr id="39" name="Shape 36"/>
          <p:cNvSpPr/>
          <p:nvPr/>
        </p:nvSpPr>
        <p:spPr>
          <a:xfrm flipH="1">
            <a:off x="7050024" y="3817620"/>
            <a:ext cx="397764" cy="0"/>
          </a:xfrm>
          <a:prstGeom prst="line">
            <a:avLst/>
          </a:prstGeom>
          <a:noFill/>
          <a:ln w="25400">
            <a:solidFill>
              <a:srgbClr val="FF5757"/>
            </a:solidFill>
            <a:prstDash val="solid"/>
            <a:tailEnd type="triangle"/>
          </a:ln>
        </p:spPr>
      </p:sp>
      <p:sp>
        <p:nvSpPr>
          <p:cNvPr id="40" name="Shape 37"/>
          <p:cNvSpPr/>
          <p:nvPr/>
        </p:nvSpPr>
        <p:spPr>
          <a:xfrm flipH="1">
            <a:off x="4741164" y="3817620"/>
            <a:ext cx="397764" cy="0"/>
          </a:xfrm>
          <a:prstGeom prst="line">
            <a:avLst/>
          </a:prstGeom>
          <a:noFill/>
          <a:ln w="25400">
            <a:solidFill>
              <a:srgbClr val="FF5757"/>
            </a:solidFill>
            <a:prstDash val="solid"/>
            <a:tailEnd type="triangle"/>
          </a:ln>
        </p:spPr>
      </p:sp>
      <p:sp>
        <p:nvSpPr>
          <p:cNvPr id="41" name="Shape 38"/>
          <p:cNvSpPr/>
          <p:nvPr/>
        </p:nvSpPr>
        <p:spPr>
          <a:xfrm>
            <a:off x="1476756" y="3817620"/>
            <a:ext cx="1353312" cy="0"/>
          </a:xfrm>
          <a:prstGeom prst="line">
            <a:avLst/>
          </a:prstGeom>
          <a:noFill/>
          <a:ln w="25400">
            <a:solidFill>
              <a:srgbClr val="FF5757"/>
            </a:solidFill>
            <a:prstDash val="solid"/>
          </a:ln>
        </p:spPr>
      </p:sp>
      <p:sp>
        <p:nvSpPr>
          <p:cNvPr id="42" name="Shape 39"/>
          <p:cNvSpPr/>
          <p:nvPr/>
        </p:nvSpPr>
        <p:spPr>
          <a:xfrm>
            <a:off x="1476756" y="3817620"/>
            <a:ext cx="0" cy="-1184148"/>
          </a:xfrm>
          <a:prstGeom prst="line">
            <a:avLst/>
          </a:prstGeom>
          <a:noFill/>
          <a:ln w="25400">
            <a:solidFill>
              <a:srgbClr val="FF5757"/>
            </a:solidFill>
            <a:prstDash val="solid"/>
            <a:tailEnd type="triangle"/>
          </a:ln>
        </p:spPr>
      </p:sp>
      <p:sp>
        <p:nvSpPr>
          <p:cNvPr id="43" name="Text 40"/>
          <p:cNvSpPr txBox="1"/>
          <p:nvPr/>
        </p:nvSpPr>
        <p:spPr>
          <a:xfrm>
            <a:off x="548640" y="3863340"/>
            <a:ext cx="2221992" cy="274320"/>
          </a:xfrm>
          <a:prstGeom prst="rect">
            <a:avLst/>
          </a:prstGeom>
          <a:noFill/>
          <a:ln/>
        </p:spPr>
        <p:txBody>
          <a:bodyPr wrap="square" lIns="0" tIns="0" rIns="0" bIns="0" rtlCol="0" anchor="t"/>
          <a:lstStyle/>
          <a:p>
            <a:pPr indent="0" marL="0">
              <a:buNone/>
            </a:pPr>
            <a:r>
              <a:rPr lang="en-US" sz="1100" dirty="0">
                <a:solidFill>
                  <a:srgbClr val="5B6472"/>
                </a:solidFill>
                <a:latin typeface="Arial" pitchFamily="34" charset="0"/>
                <a:ea typeface="Arial" pitchFamily="34" charset="-122"/>
                <a:cs typeface="Arial" pitchFamily="34" charset="-120"/>
              </a:rPr>
              <a:t>return to IDLE</a:t>
            </a:r>
            <a:endParaRPr lang="en-US" sz="1100" dirty="0"/>
          </a:p>
        </p:txBody>
      </p:sp>
      <p:sp>
        <p:nvSpPr>
          <p:cNvPr id="44" name="Text 41"/>
          <p:cNvSpPr txBox="1"/>
          <p:nvPr/>
        </p:nvSpPr>
        <p:spPr>
          <a:xfrm>
            <a:off x="2857500" y="4453128"/>
            <a:ext cx="6473952" cy="274320"/>
          </a:xfrm>
          <a:prstGeom prst="rect">
            <a:avLst/>
          </a:prstGeom>
          <a:noFill/>
          <a:ln/>
        </p:spPr>
        <p:txBody>
          <a:bodyPr wrap="square" lIns="0" tIns="0" rIns="0" bIns="0" rtlCol="0" anchor="t"/>
          <a:lstStyle/>
          <a:p>
            <a:pPr algn="ctr" indent="0" marL="0">
              <a:buNone/>
            </a:pPr>
            <a:r>
              <a:rPr lang="en-US" sz="1150" dirty="0">
                <a:solidFill>
                  <a:srgbClr val="5B6472"/>
                </a:solidFill>
                <a:latin typeface="Arial" pitchFamily="34" charset="0"/>
                <a:ea typeface="Arial" pitchFamily="34" charset="-122"/>
                <a:cs typeface="Arial" pitchFamily="34" charset="-120"/>
              </a:rPr>
              <a:t>UART_WAIT loops back to UART_LOAD until all 18 bytes are sent</a:t>
            </a:r>
            <a:endParaRPr lang="en-US" sz="1150" dirty="0"/>
          </a:p>
        </p:txBody>
      </p:sp>
      <p:sp>
        <p:nvSpPr>
          <p:cNvPr id="45" name="Shape 42"/>
          <p:cNvSpPr/>
          <p:nvPr/>
        </p:nvSpPr>
        <p:spPr>
          <a:xfrm>
            <a:off x="548640" y="4892040"/>
            <a:ext cx="3520440" cy="1325880"/>
          </a:xfrm>
          <a:prstGeom prst="roundRect">
            <a:avLst>
              <a:gd name="adj" fmla="val 8276"/>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46" name="Text 43"/>
          <p:cNvSpPr txBox="1"/>
          <p:nvPr/>
        </p:nvSpPr>
        <p:spPr>
          <a:xfrm>
            <a:off x="822960" y="5056632"/>
            <a:ext cx="3017520" cy="365760"/>
          </a:xfrm>
          <a:prstGeom prst="rect">
            <a:avLst/>
          </a:prstGeom>
          <a:noFill/>
          <a:ln/>
        </p:spPr>
        <p:txBody>
          <a:bodyPr wrap="square" lIns="0" tIns="0" rIns="0" bIns="0" rtlCol="0" anchor="t"/>
          <a:lstStyle/>
          <a:p>
            <a:pPr indent="0" marL="0">
              <a:buNone/>
            </a:pPr>
            <a:r>
              <a:rPr lang="en-US" sz="1700" b="1" dirty="0">
                <a:solidFill>
                  <a:srgbClr val="004AAD"/>
                </a:solidFill>
                <a:latin typeface="Courier New" pitchFamily="34" charset="0"/>
                <a:ea typeface="Courier New" pitchFamily="34" charset="-122"/>
                <a:cs typeface="Courier New" pitchFamily="34" charset="-120"/>
              </a:rPr>
              <a:t>start</a:t>
            </a:r>
            <a:endParaRPr lang="en-US" sz="1700" dirty="0"/>
          </a:p>
        </p:txBody>
      </p:sp>
      <p:sp>
        <p:nvSpPr>
          <p:cNvPr id="47" name="Text 44"/>
          <p:cNvSpPr txBox="1"/>
          <p:nvPr/>
        </p:nvSpPr>
        <p:spPr>
          <a:xfrm>
            <a:off x="822960" y="5486400"/>
            <a:ext cx="3017520" cy="640080"/>
          </a:xfrm>
          <a:prstGeom prst="rect">
            <a:avLst/>
          </a:prstGeom>
          <a:noFill/>
          <a:ln/>
        </p:spPr>
        <p:txBody>
          <a:bodyPr wrap="square" lIns="0" tIns="0" rIns="0" bIns="0" rtlCol="0" anchor="t"/>
          <a:lstStyle/>
          <a:p>
            <a:pPr indent="0" marL="0">
              <a:buNone/>
            </a:pPr>
            <a:r>
              <a:rPr lang="en-US" sz="1300" dirty="0">
                <a:solidFill>
                  <a:srgbClr val="1B2333"/>
                </a:solidFill>
                <a:latin typeface="Arial" pitchFamily="34" charset="0"/>
                <a:ea typeface="Arial" pitchFamily="34" charset="-122"/>
                <a:cs typeface="Arial" pitchFamily="34" charset="-120"/>
              </a:rPr>
              <a:t>Assert only when the target block is idle and ready.</a:t>
            </a:r>
            <a:endParaRPr lang="en-US" sz="1300" dirty="0"/>
          </a:p>
        </p:txBody>
      </p:sp>
      <p:sp>
        <p:nvSpPr>
          <p:cNvPr id="48" name="Shape 45"/>
          <p:cNvSpPr/>
          <p:nvPr/>
        </p:nvSpPr>
        <p:spPr>
          <a:xfrm>
            <a:off x="4334256" y="4892040"/>
            <a:ext cx="3520440" cy="1325880"/>
          </a:xfrm>
          <a:prstGeom prst="roundRect">
            <a:avLst>
              <a:gd name="adj" fmla="val 8276"/>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49" name="Text 46"/>
          <p:cNvSpPr txBox="1"/>
          <p:nvPr/>
        </p:nvSpPr>
        <p:spPr>
          <a:xfrm>
            <a:off x="4608576" y="5056632"/>
            <a:ext cx="3017520" cy="365760"/>
          </a:xfrm>
          <a:prstGeom prst="rect">
            <a:avLst/>
          </a:prstGeom>
          <a:noFill/>
          <a:ln/>
        </p:spPr>
        <p:txBody>
          <a:bodyPr wrap="square" lIns="0" tIns="0" rIns="0" bIns="0" rtlCol="0" anchor="t"/>
          <a:lstStyle/>
          <a:p>
            <a:pPr indent="0" marL="0">
              <a:buNone/>
            </a:pPr>
            <a:r>
              <a:rPr lang="en-US" sz="1700" b="1" dirty="0">
                <a:solidFill>
                  <a:srgbClr val="004AAD"/>
                </a:solidFill>
                <a:latin typeface="Courier New" pitchFamily="34" charset="0"/>
                <a:ea typeface="Courier New" pitchFamily="34" charset="-122"/>
                <a:cs typeface="Courier New" pitchFamily="34" charset="-120"/>
              </a:rPr>
              <a:t>busy = 1</a:t>
            </a:r>
            <a:endParaRPr lang="en-US" sz="1700" dirty="0"/>
          </a:p>
        </p:txBody>
      </p:sp>
      <p:sp>
        <p:nvSpPr>
          <p:cNvPr id="50" name="Text 47"/>
          <p:cNvSpPr txBox="1"/>
          <p:nvPr/>
        </p:nvSpPr>
        <p:spPr>
          <a:xfrm>
            <a:off x="4608576" y="5486400"/>
            <a:ext cx="3017520" cy="640080"/>
          </a:xfrm>
          <a:prstGeom prst="rect">
            <a:avLst/>
          </a:prstGeom>
          <a:noFill/>
          <a:ln/>
        </p:spPr>
        <p:txBody>
          <a:bodyPr wrap="square" lIns="0" tIns="0" rIns="0" bIns="0" rtlCol="0" anchor="t"/>
          <a:lstStyle/>
          <a:p>
            <a:pPr indent="0" marL="0">
              <a:buNone/>
            </a:pPr>
            <a:r>
              <a:rPr lang="en-US" sz="1300" dirty="0">
                <a:solidFill>
                  <a:srgbClr val="1B2333"/>
                </a:solidFill>
                <a:latin typeface="Arial" pitchFamily="34" charset="0"/>
                <a:ea typeface="Arial" pitchFamily="34" charset="-122"/>
                <a:cs typeface="Arial" pitchFamily="34" charset="-120"/>
              </a:rPr>
              <a:t>Block is working. Never overwrite its input or result registers.</a:t>
            </a:r>
            <a:endParaRPr lang="en-US" sz="1300" dirty="0"/>
          </a:p>
        </p:txBody>
      </p:sp>
      <p:sp>
        <p:nvSpPr>
          <p:cNvPr id="51" name="Shape 48"/>
          <p:cNvSpPr/>
          <p:nvPr/>
        </p:nvSpPr>
        <p:spPr>
          <a:xfrm>
            <a:off x="8119872" y="4892040"/>
            <a:ext cx="3520440" cy="1325880"/>
          </a:xfrm>
          <a:prstGeom prst="roundRect">
            <a:avLst>
              <a:gd name="adj" fmla="val 8276"/>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52" name="Text 49"/>
          <p:cNvSpPr txBox="1"/>
          <p:nvPr/>
        </p:nvSpPr>
        <p:spPr>
          <a:xfrm>
            <a:off x="8394192" y="5056632"/>
            <a:ext cx="3017520" cy="365760"/>
          </a:xfrm>
          <a:prstGeom prst="rect">
            <a:avLst/>
          </a:prstGeom>
          <a:noFill/>
          <a:ln/>
        </p:spPr>
        <p:txBody>
          <a:bodyPr wrap="square" lIns="0" tIns="0" rIns="0" bIns="0" rtlCol="0" anchor="t"/>
          <a:lstStyle/>
          <a:p>
            <a:pPr indent="0" marL="0">
              <a:buNone/>
            </a:pPr>
            <a:r>
              <a:rPr lang="en-US" sz="1700" b="1" dirty="0">
                <a:solidFill>
                  <a:srgbClr val="004AAD"/>
                </a:solidFill>
                <a:latin typeface="Courier New" pitchFamily="34" charset="0"/>
                <a:ea typeface="Courier New" pitchFamily="34" charset="-122"/>
                <a:cs typeface="Courier New" pitchFamily="34" charset="-120"/>
              </a:rPr>
              <a:t>done = 1</a:t>
            </a:r>
            <a:endParaRPr lang="en-US" sz="1700" dirty="0"/>
          </a:p>
        </p:txBody>
      </p:sp>
      <p:sp>
        <p:nvSpPr>
          <p:cNvPr id="53" name="Text 50"/>
          <p:cNvSpPr txBox="1"/>
          <p:nvPr/>
        </p:nvSpPr>
        <p:spPr>
          <a:xfrm>
            <a:off x="8394192" y="5486400"/>
            <a:ext cx="3017520" cy="640080"/>
          </a:xfrm>
          <a:prstGeom prst="rect">
            <a:avLst/>
          </a:prstGeom>
          <a:noFill/>
          <a:ln/>
        </p:spPr>
        <p:txBody>
          <a:bodyPr wrap="square" lIns="0" tIns="0" rIns="0" bIns="0" rtlCol="0" anchor="t"/>
          <a:lstStyle/>
          <a:p>
            <a:pPr indent="0" marL="0">
              <a:buNone/>
            </a:pPr>
            <a:r>
              <a:rPr lang="en-US" sz="1300" dirty="0">
                <a:solidFill>
                  <a:srgbClr val="1B2333"/>
                </a:solidFill>
                <a:latin typeface="Arial" pitchFamily="34" charset="0"/>
                <a:ea typeface="Arial" pitchFamily="34" charset="-122"/>
                <a:cs typeface="Arial" pitchFamily="34" charset="-120"/>
              </a:rPr>
              <a:t>Result is valid. Capture it and advance the controller.</a:t>
            </a:r>
            <a:endParaRPr lang="en-US"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47472"/>
            <a:ext cx="7315200" cy="228600"/>
          </a:xfrm>
          <a:prstGeom prst="rect">
            <a:avLst/>
          </a:prstGeom>
          <a:noFill/>
          <a:ln/>
        </p:spPr>
        <p:txBody>
          <a:bodyPr wrap="square" lIns="0" tIns="0" rIns="0" bIns="0" rtlCol="0" anchor="t"/>
          <a:lstStyle/>
          <a:p>
            <a:pPr indent="0" marL="0">
              <a:buNone/>
            </a:pPr>
            <a:r>
              <a:rPr lang="en-US" sz="1200" b="1" spc="300" kern="0" dirty="0">
                <a:solidFill>
                  <a:srgbClr val="FF5757"/>
                </a:solidFill>
                <a:latin typeface="Arial" pitchFamily="34" charset="0"/>
                <a:ea typeface="Arial" pitchFamily="34" charset="-122"/>
                <a:cs typeface="Arial" pitchFamily="34" charset="-120"/>
              </a:rPr>
              <a:t>03  DEVELOPMENT JOURNEY</a:t>
            </a:r>
            <a:endParaRPr lang="en-US" sz="1200" dirty="0"/>
          </a:p>
        </p:txBody>
      </p:sp>
      <p:sp>
        <p:nvSpPr>
          <p:cNvPr id="3" name="Text 1"/>
          <p:cNvSpPr txBox="1"/>
          <p:nvPr/>
        </p:nvSpPr>
        <p:spPr>
          <a:xfrm>
            <a:off x="548640" y="603504"/>
            <a:ext cx="9966960" cy="685800"/>
          </a:xfrm>
          <a:prstGeom prst="rect">
            <a:avLst/>
          </a:prstGeom>
          <a:noFill/>
          <a:ln/>
        </p:spPr>
        <p:txBody>
          <a:bodyPr wrap="square" lIns="0" tIns="0" rIns="0" bIns="0" rtlCol="0" anchor="ctr"/>
          <a:lstStyle/>
          <a:p>
            <a:pPr indent="0" marL="0">
              <a:buNone/>
            </a:pPr>
            <a:r>
              <a:rPr lang="en-US" sz="3200" b="1" dirty="0">
                <a:solidFill>
                  <a:srgbClr val="0B1F44"/>
                </a:solidFill>
                <a:latin typeface="Arial" pitchFamily="34" charset="0"/>
                <a:ea typeface="Arial" pitchFamily="34" charset="-122"/>
                <a:cs typeface="Arial" pitchFamily="34" charset="-120"/>
              </a:rPr>
              <a:t>Integration verification</a:t>
            </a:r>
            <a:endParaRPr lang="en-US" sz="3200" dirty="0"/>
          </a:p>
        </p:txBody>
      </p:sp>
      <p:pic>
        <p:nvPicPr>
          <p:cNvPr id="4" name="Image 0" descr="/home/claude/assets/logo.png">    </p:cNvPr>
          <p:cNvPicPr>
            <a:picLocks noChangeAspect="1"/>
          </p:cNvPicPr>
          <p:nvPr/>
        </p:nvPicPr>
        <p:blipFill>
          <a:blip r:embed="rId1"/>
          <a:stretch>
            <a:fillRect/>
          </a:stretch>
        </p:blipFill>
        <p:spPr>
          <a:xfrm>
            <a:off x="10744200" y="365760"/>
            <a:ext cx="896112" cy="434340"/>
          </a:xfrm>
          <a:prstGeom prst="rect">
            <a:avLst/>
          </a:prstGeom>
        </p:spPr>
      </p:pic>
      <p:sp>
        <p:nvSpPr>
          <p:cNvPr id="5" name="Text 2"/>
          <p:cNvSpPr txBox="1"/>
          <p:nvPr/>
        </p:nvSpPr>
        <p:spPr>
          <a:xfrm>
            <a:off x="548640" y="6428232"/>
            <a:ext cx="6400800" cy="228600"/>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Secure UART Communication System  ·  NTI Digital Design Project</a:t>
            </a:r>
            <a:endParaRPr lang="en-US" sz="1000" dirty="0"/>
          </a:p>
        </p:txBody>
      </p:sp>
      <p:sp>
        <p:nvSpPr>
          <p:cNvPr id="6" name="Shape 3"/>
          <p:cNvSpPr/>
          <p:nvPr/>
        </p:nvSpPr>
        <p:spPr>
          <a:xfrm>
            <a:off x="548640" y="1554480"/>
            <a:ext cx="4114800" cy="1389888"/>
          </a:xfrm>
          <a:prstGeom prst="roundRect">
            <a:avLst>
              <a:gd name="adj" fmla="val 7895"/>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7" name="Shape 4"/>
          <p:cNvSpPr/>
          <p:nvPr/>
        </p:nvSpPr>
        <p:spPr>
          <a:xfrm>
            <a:off x="777240" y="1783080"/>
            <a:ext cx="457200" cy="457200"/>
          </a:xfrm>
          <a:prstGeom prst="ellipse">
            <a:avLst/>
          </a:prstGeom>
          <a:solidFill>
            <a:srgbClr val="004AAD"/>
          </a:solidFill>
          <a:ln w="12700">
            <a:solidFill>
              <a:srgbClr val="004AAD"/>
            </a:solidFill>
            <a:prstDash val="solid"/>
          </a:ln>
        </p:spPr>
      </p:sp>
      <p:sp>
        <p:nvSpPr>
          <p:cNvPr id="8" name="Text 5"/>
          <p:cNvSpPr txBox="1"/>
          <p:nvPr/>
        </p:nvSpPr>
        <p:spPr>
          <a:xfrm>
            <a:off x="777240" y="1783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9" name="Text 6"/>
          <p:cNvSpPr txBox="1"/>
          <p:nvPr/>
        </p:nvSpPr>
        <p:spPr>
          <a:xfrm>
            <a:off x="1371600" y="1783080"/>
            <a:ext cx="3108960" cy="457200"/>
          </a:xfrm>
          <a:prstGeom prst="rect">
            <a:avLst/>
          </a:prstGeom>
          <a:noFill/>
          <a:ln/>
        </p:spPr>
        <p:txBody>
          <a:bodyPr wrap="square" lIns="0" tIns="0" rIns="0" bIns="0" rtlCol="0" anchor="ctr"/>
          <a:lstStyle/>
          <a:p>
            <a:pPr indent="0" marL="0">
              <a:buNone/>
            </a:pPr>
            <a:r>
              <a:rPr lang="en-US" sz="1600" b="1" dirty="0">
                <a:solidFill>
                  <a:srgbClr val="0B1F44"/>
                </a:solidFill>
                <a:latin typeface="Courier New" pitchFamily="34" charset="0"/>
                <a:ea typeface="Courier New" pitchFamily="34" charset="-122"/>
                <a:cs typeface="Courier New" pitchFamily="34" charset="-120"/>
              </a:rPr>
              <a:t>start pulse</a:t>
            </a:r>
            <a:endParaRPr lang="en-US" sz="1600" dirty="0"/>
          </a:p>
        </p:txBody>
      </p:sp>
      <p:sp>
        <p:nvSpPr>
          <p:cNvPr id="10" name="Text 7"/>
          <p:cNvSpPr txBox="1"/>
          <p:nvPr/>
        </p:nvSpPr>
        <p:spPr>
          <a:xfrm>
            <a:off x="777240" y="2331720"/>
            <a:ext cx="3657600" cy="548640"/>
          </a:xfrm>
          <a:prstGeom prst="rect">
            <a:avLst/>
          </a:prstGeom>
          <a:noFill/>
          <a:ln/>
        </p:spPr>
        <p:txBody>
          <a:bodyPr wrap="square" lIns="0" tIns="0" rIns="0" bIns="0" rtlCol="0" anchor="t"/>
          <a:lstStyle/>
          <a:p>
            <a:pPr indent="0" marL="0">
              <a:buNone/>
            </a:pPr>
            <a:r>
              <a:rPr lang="en-US" sz="1250" dirty="0">
                <a:solidFill>
                  <a:srgbClr val="1B2333"/>
                </a:solidFill>
                <a:latin typeface="Arial" pitchFamily="34" charset="0"/>
                <a:ea typeface="Arial" pitchFamily="34" charset="-122"/>
                <a:cs typeface="Arial" pitchFamily="34" charset="-120"/>
              </a:rPr>
              <a:t>AES encrypts the plaintext block with the master key.</a:t>
            </a:r>
            <a:endParaRPr lang="en-US" sz="1250" dirty="0"/>
          </a:p>
        </p:txBody>
      </p:sp>
      <p:sp>
        <p:nvSpPr>
          <p:cNvPr id="11" name="Shape 8"/>
          <p:cNvSpPr/>
          <p:nvPr/>
        </p:nvSpPr>
        <p:spPr>
          <a:xfrm>
            <a:off x="548640" y="3127248"/>
            <a:ext cx="4114800" cy="1389888"/>
          </a:xfrm>
          <a:prstGeom prst="roundRect">
            <a:avLst>
              <a:gd name="adj" fmla="val 7895"/>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12" name="Shape 9"/>
          <p:cNvSpPr/>
          <p:nvPr/>
        </p:nvSpPr>
        <p:spPr>
          <a:xfrm>
            <a:off x="777240" y="3355848"/>
            <a:ext cx="457200" cy="457200"/>
          </a:xfrm>
          <a:prstGeom prst="ellipse">
            <a:avLst/>
          </a:prstGeom>
          <a:solidFill>
            <a:srgbClr val="004AAD"/>
          </a:solidFill>
          <a:ln w="12700">
            <a:solidFill>
              <a:srgbClr val="004AAD"/>
            </a:solidFill>
            <a:prstDash val="solid"/>
          </a:ln>
        </p:spPr>
      </p:sp>
      <p:sp>
        <p:nvSpPr>
          <p:cNvPr id="13" name="Text 10"/>
          <p:cNvSpPr txBox="1"/>
          <p:nvPr/>
        </p:nvSpPr>
        <p:spPr>
          <a:xfrm>
            <a:off x="777240" y="33558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4" name="Text 11"/>
          <p:cNvSpPr txBox="1"/>
          <p:nvPr/>
        </p:nvSpPr>
        <p:spPr>
          <a:xfrm>
            <a:off x="1371600" y="3355848"/>
            <a:ext cx="3108960" cy="457200"/>
          </a:xfrm>
          <a:prstGeom prst="rect">
            <a:avLst/>
          </a:prstGeom>
          <a:noFill/>
          <a:ln/>
        </p:spPr>
        <p:txBody>
          <a:bodyPr wrap="square" lIns="0" tIns="0" rIns="0" bIns="0" rtlCol="0" anchor="ctr"/>
          <a:lstStyle/>
          <a:p>
            <a:pPr indent="0" marL="0">
              <a:buNone/>
            </a:pPr>
            <a:r>
              <a:rPr lang="en-US" sz="1600" b="1" dirty="0">
                <a:solidFill>
                  <a:srgbClr val="0B1F44"/>
                </a:solidFill>
                <a:latin typeface="Courier New" pitchFamily="34" charset="0"/>
                <a:ea typeface="Courier New" pitchFamily="34" charset="-122"/>
                <a:cs typeface="Courier New" pitchFamily="34" charset="-120"/>
              </a:rPr>
              <a:t>done_AES rises</a:t>
            </a:r>
            <a:endParaRPr lang="en-US" sz="1600" dirty="0"/>
          </a:p>
        </p:txBody>
      </p:sp>
      <p:sp>
        <p:nvSpPr>
          <p:cNvPr id="15" name="Text 12"/>
          <p:cNvSpPr txBox="1"/>
          <p:nvPr/>
        </p:nvSpPr>
        <p:spPr>
          <a:xfrm>
            <a:off x="777240" y="3904488"/>
            <a:ext cx="3657600" cy="548640"/>
          </a:xfrm>
          <a:prstGeom prst="rect">
            <a:avLst/>
          </a:prstGeom>
          <a:noFill/>
          <a:ln/>
        </p:spPr>
        <p:txBody>
          <a:bodyPr wrap="square" lIns="0" tIns="0" rIns="0" bIns="0" rtlCol="0" anchor="t"/>
          <a:lstStyle/>
          <a:p>
            <a:pPr indent="0" marL="0">
              <a:buNone/>
            </a:pPr>
            <a:r>
              <a:rPr lang="en-US" sz="1250" dirty="0">
                <a:solidFill>
                  <a:srgbClr val="1B2333"/>
                </a:solidFill>
                <a:latin typeface="Arial" pitchFamily="34" charset="0"/>
                <a:ea typeface="Arial" pitchFamily="34" charset="-122"/>
                <a:cs typeface="Arial" pitchFamily="34" charset="-120"/>
              </a:rPr>
              <a:t>The CRC engine starts by itself: busy_crc goes high.</a:t>
            </a:r>
            <a:endParaRPr lang="en-US" sz="1250" dirty="0"/>
          </a:p>
        </p:txBody>
      </p:sp>
      <p:sp>
        <p:nvSpPr>
          <p:cNvPr id="16" name="Shape 13"/>
          <p:cNvSpPr/>
          <p:nvPr/>
        </p:nvSpPr>
        <p:spPr>
          <a:xfrm>
            <a:off x="548640" y="4700016"/>
            <a:ext cx="4114800" cy="1389888"/>
          </a:xfrm>
          <a:prstGeom prst="roundRect">
            <a:avLst>
              <a:gd name="adj" fmla="val 7895"/>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17" name="Shape 14"/>
          <p:cNvSpPr/>
          <p:nvPr/>
        </p:nvSpPr>
        <p:spPr>
          <a:xfrm>
            <a:off x="777240" y="4928616"/>
            <a:ext cx="457200" cy="457200"/>
          </a:xfrm>
          <a:prstGeom prst="ellipse">
            <a:avLst/>
          </a:prstGeom>
          <a:solidFill>
            <a:srgbClr val="FF5757"/>
          </a:solidFill>
          <a:ln w="12700">
            <a:solidFill>
              <a:srgbClr val="FF5757"/>
            </a:solidFill>
            <a:prstDash val="solid"/>
          </a:ln>
        </p:spPr>
      </p:sp>
      <p:sp>
        <p:nvSpPr>
          <p:cNvPr id="18" name="Text 15"/>
          <p:cNvSpPr txBox="1"/>
          <p:nvPr/>
        </p:nvSpPr>
        <p:spPr>
          <a:xfrm>
            <a:off x="777240" y="492861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9" name="Text 16"/>
          <p:cNvSpPr txBox="1"/>
          <p:nvPr/>
        </p:nvSpPr>
        <p:spPr>
          <a:xfrm>
            <a:off x="1371600" y="4928616"/>
            <a:ext cx="3108960" cy="457200"/>
          </a:xfrm>
          <a:prstGeom prst="rect">
            <a:avLst/>
          </a:prstGeom>
          <a:noFill/>
          <a:ln/>
        </p:spPr>
        <p:txBody>
          <a:bodyPr wrap="square" lIns="0" tIns="0" rIns="0" bIns="0" rtlCol="0" anchor="ctr"/>
          <a:lstStyle/>
          <a:p>
            <a:pPr indent="0" marL="0">
              <a:buNone/>
            </a:pPr>
            <a:r>
              <a:rPr lang="en-US" sz="1600" b="1" dirty="0">
                <a:solidFill>
                  <a:srgbClr val="0B1F44"/>
                </a:solidFill>
                <a:latin typeface="Courier New" pitchFamily="34" charset="0"/>
                <a:ea typeface="Courier New" pitchFamily="34" charset="-122"/>
                <a:cs typeface="Courier New" pitchFamily="34" charset="-120"/>
              </a:rPr>
              <a:t>done_crc rises</a:t>
            </a:r>
            <a:endParaRPr lang="en-US" sz="1600" dirty="0"/>
          </a:p>
        </p:txBody>
      </p:sp>
      <p:sp>
        <p:nvSpPr>
          <p:cNvPr id="20" name="Text 17"/>
          <p:cNvSpPr txBox="1"/>
          <p:nvPr/>
        </p:nvSpPr>
        <p:spPr>
          <a:xfrm>
            <a:off x="777240" y="5477256"/>
            <a:ext cx="3657600" cy="548640"/>
          </a:xfrm>
          <a:prstGeom prst="rect">
            <a:avLst/>
          </a:prstGeom>
          <a:noFill/>
          <a:ln/>
        </p:spPr>
        <p:txBody>
          <a:bodyPr wrap="square" lIns="0" tIns="0" rIns="0" bIns="0" rtlCol="0" anchor="t"/>
          <a:lstStyle/>
          <a:p>
            <a:pPr indent="0" marL="0">
              <a:buNone/>
            </a:pPr>
            <a:r>
              <a:rPr lang="en-US" sz="1250" dirty="0">
                <a:solidFill>
                  <a:srgbClr val="1B2333"/>
                </a:solidFill>
                <a:latin typeface="Arial" pitchFamily="34" charset="0"/>
                <a:ea typeface="Arial" pitchFamily="34" charset="-122"/>
                <a:cs typeface="Arial" pitchFamily="34" charset="-120"/>
              </a:rPr>
              <a:t>data_out, 144 bits, holds the ciphertext followed by its CRC-16.</a:t>
            </a:r>
            <a:endParaRPr lang="en-US" sz="1250" dirty="0"/>
          </a:p>
        </p:txBody>
      </p:sp>
      <p:sp>
        <p:nvSpPr>
          <p:cNvPr id="21" name="Text 18"/>
          <p:cNvSpPr txBox="1"/>
          <p:nvPr/>
        </p:nvSpPr>
        <p:spPr>
          <a:xfrm>
            <a:off x="4983480" y="1463040"/>
            <a:ext cx="6656832" cy="228600"/>
          </a:xfrm>
          <a:prstGeom prst="rect">
            <a:avLst/>
          </a:prstGeom>
          <a:noFill/>
          <a:ln/>
        </p:spPr>
        <p:txBody>
          <a:bodyPr wrap="square" lIns="0" tIns="0" rIns="0" bIns="0" rtlCol="0" anchor="t"/>
          <a:lstStyle/>
          <a:p>
            <a:pPr indent="0" marL="0">
              <a:buNone/>
            </a:pPr>
            <a:r>
              <a:rPr lang="en-US" sz="1100" dirty="0">
                <a:solidFill>
                  <a:srgbClr val="5B6472"/>
                </a:solidFill>
                <a:latin typeface="Arial" pitchFamily="34" charset="0"/>
                <a:ea typeface="Arial" pitchFamily="34" charset="-122"/>
                <a:cs typeface="Arial" pitchFamily="34" charset="-120"/>
              </a:rPr>
              <a:t>Top-level testbench: AES to CRC wrapper, signals start, done_AES, busy_crc, done_crc, data_out</a:t>
            </a:r>
            <a:endParaRPr lang="en-US" sz="1100" dirty="0"/>
          </a:p>
        </p:txBody>
      </p:sp>
      <p:sp>
        <p:nvSpPr>
          <p:cNvPr id="22" name="Shape 19"/>
          <p:cNvSpPr/>
          <p:nvPr/>
        </p:nvSpPr>
        <p:spPr>
          <a:xfrm>
            <a:off x="4983480" y="1737360"/>
            <a:ext cx="6656832" cy="2068836"/>
          </a:xfrm>
          <a:prstGeom prst="roundRect">
            <a:avLst>
              <a:gd name="adj" fmla="val 2652"/>
            </a:avLst>
          </a:prstGeom>
          <a:solidFill>
            <a:srgbClr val="FFFFFF"/>
          </a:solidFill>
          <a:ln w="12700">
            <a:solidFill>
              <a:srgbClr val="D5DEEC"/>
            </a:solidFill>
            <a:prstDash val="solid"/>
          </a:ln>
        </p:spPr>
      </p:sp>
      <p:pic>
        <p:nvPicPr>
          <p:cNvPr id="23" name="Image 1" descr="/home/claude/assets/r16.png">    </p:cNvPr>
          <p:cNvPicPr>
            <a:picLocks noChangeAspect="1"/>
          </p:cNvPicPr>
          <p:nvPr/>
        </p:nvPicPr>
        <p:blipFill>
          <a:blip r:embed="rId2"/>
          <a:stretch>
            <a:fillRect/>
          </a:stretch>
        </p:blipFill>
        <p:spPr>
          <a:xfrm>
            <a:off x="5038344" y="1792224"/>
            <a:ext cx="6547104" cy="1959108"/>
          </a:xfrm>
          <a:prstGeom prst="rect">
            <a:avLst/>
          </a:prstGeom>
        </p:spPr>
      </p:pic>
      <p:sp>
        <p:nvSpPr>
          <p:cNvPr id="24" name="Text 20"/>
          <p:cNvSpPr txBox="1"/>
          <p:nvPr/>
        </p:nvSpPr>
        <p:spPr>
          <a:xfrm>
            <a:off x="4983480" y="3833628"/>
            <a:ext cx="6656832" cy="228600"/>
          </a:xfrm>
          <a:prstGeom prst="rect">
            <a:avLst/>
          </a:prstGeom>
          <a:noFill/>
          <a:ln/>
        </p:spPr>
        <p:txBody>
          <a:bodyPr wrap="square" lIns="0" tIns="0" rIns="0" bIns="0" rtlCol="0" anchor="t"/>
          <a:lstStyle/>
          <a:p>
            <a:pPr algn="ctr" indent="0" marL="0">
              <a:buNone/>
            </a:pPr>
            <a:r>
              <a:rPr lang="en-US" sz="1050" dirty="0">
                <a:solidFill>
                  <a:srgbClr val="5B6472"/>
                </a:solidFill>
                <a:latin typeface="Arial" pitchFamily="34" charset="0"/>
                <a:ea typeface="Arial" pitchFamily="34" charset="-122"/>
                <a:cs typeface="Arial" pitchFamily="34" charset="-120"/>
              </a:rPr>
              <a:t>Before the CRC completes: AES done, CRC busy</a:t>
            </a:r>
            <a:endParaRPr lang="en-US" sz="1050" dirty="0"/>
          </a:p>
        </p:txBody>
      </p:sp>
      <p:sp>
        <p:nvSpPr>
          <p:cNvPr id="25" name="Shape 21"/>
          <p:cNvSpPr/>
          <p:nvPr/>
        </p:nvSpPr>
        <p:spPr>
          <a:xfrm>
            <a:off x="4983480" y="4171956"/>
            <a:ext cx="6656832" cy="1534826"/>
          </a:xfrm>
          <a:prstGeom prst="roundRect">
            <a:avLst>
              <a:gd name="adj" fmla="val 3575"/>
            </a:avLst>
          </a:prstGeom>
          <a:solidFill>
            <a:srgbClr val="FFFFFF"/>
          </a:solidFill>
          <a:ln w="12700">
            <a:solidFill>
              <a:srgbClr val="D5DEEC"/>
            </a:solidFill>
            <a:prstDash val="solid"/>
          </a:ln>
        </p:spPr>
      </p:sp>
      <p:pic>
        <p:nvPicPr>
          <p:cNvPr id="26" name="Image 2" descr="/home/claude/assets/r17.png">    </p:cNvPr>
          <p:cNvPicPr>
            <a:picLocks noChangeAspect="1"/>
          </p:cNvPicPr>
          <p:nvPr/>
        </p:nvPicPr>
        <p:blipFill>
          <a:blip r:embed="rId3"/>
          <a:stretch>
            <a:fillRect/>
          </a:stretch>
        </p:blipFill>
        <p:spPr>
          <a:xfrm>
            <a:off x="5038344" y="4226820"/>
            <a:ext cx="6547104" cy="1425098"/>
          </a:xfrm>
          <a:prstGeom prst="rect">
            <a:avLst/>
          </a:prstGeom>
        </p:spPr>
      </p:pic>
      <p:sp>
        <p:nvSpPr>
          <p:cNvPr id="27" name="Text 22"/>
          <p:cNvSpPr txBox="1"/>
          <p:nvPr/>
        </p:nvSpPr>
        <p:spPr>
          <a:xfrm>
            <a:off x="4983480" y="5734214"/>
            <a:ext cx="6656832" cy="228600"/>
          </a:xfrm>
          <a:prstGeom prst="rect">
            <a:avLst/>
          </a:prstGeom>
          <a:noFill/>
          <a:ln/>
        </p:spPr>
        <p:txBody>
          <a:bodyPr wrap="square" lIns="0" tIns="0" rIns="0" bIns="0" rtlCol="0" anchor="t"/>
          <a:lstStyle/>
          <a:p>
            <a:pPr algn="ctr" indent="0" marL="0">
              <a:buNone/>
            </a:pPr>
            <a:r>
              <a:rPr lang="en-US" sz="1050" dirty="0">
                <a:solidFill>
                  <a:srgbClr val="5B6472"/>
                </a:solidFill>
                <a:latin typeface="Arial" pitchFamily="34" charset="0"/>
                <a:ea typeface="Arial" pitchFamily="34" charset="-122"/>
                <a:cs typeface="Arial" pitchFamily="34" charset="-120"/>
              </a:rPr>
              <a:t>After the CRC completes: done_crc high, 144-bit data_out valid</a:t>
            </a:r>
            <a:endParaRPr lang="en-US" sz="10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47472"/>
            <a:ext cx="7315200" cy="228600"/>
          </a:xfrm>
          <a:prstGeom prst="rect">
            <a:avLst/>
          </a:prstGeom>
          <a:noFill/>
          <a:ln/>
        </p:spPr>
        <p:txBody>
          <a:bodyPr wrap="square" lIns="0" tIns="0" rIns="0" bIns="0" rtlCol="0" anchor="t"/>
          <a:lstStyle/>
          <a:p>
            <a:pPr indent="0" marL="0">
              <a:buNone/>
            </a:pPr>
            <a:r>
              <a:rPr lang="en-US" sz="1200" b="1" spc="300" kern="0" dirty="0">
                <a:solidFill>
                  <a:srgbClr val="FF5757"/>
                </a:solidFill>
                <a:latin typeface="Arial" pitchFamily="34" charset="0"/>
                <a:ea typeface="Arial" pitchFamily="34" charset="-122"/>
                <a:cs typeface="Arial" pitchFamily="34" charset="-120"/>
              </a:rPr>
              <a:t>04  CHALLENGES AND SOLUTIONS</a:t>
            </a:r>
            <a:endParaRPr lang="en-US" sz="1200" dirty="0"/>
          </a:p>
        </p:txBody>
      </p:sp>
      <p:sp>
        <p:nvSpPr>
          <p:cNvPr id="3" name="Text 1"/>
          <p:cNvSpPr txBox="1"/>
          <p:nvPr/>
        </p:nvSpPr>
        <p:spPr>
          <a:xfrm>
            <a:off x="548640" y="603504"/>
            <a:ext cx="9966960" cy="685800"/>
          </a:xfrm>
          <a:prstGeom prst="rect">
            <a:avLst/>
          </a:prstGeom>
          <a:noFill/>
          <a:ln/>
        </p:spPr>
        <p:txBody>
          <a:bodyPr wrap="square" lIns="0" tIns="0" rIns="0" bIns="0" rtlCol="0" anchor="ctr"/>
          <a:lstStyle/>
          <a:p>
            <a:pPr indent="0" marL="0">
              <a:buNone/>
            </a:pPr>
            <a:r>
              <a:rPr lang="en-US" sz="3200" b="1" dirty="0">
                <a:solidFill>
                  <a:srgbClr val="0B1F44"/>
                </a:solidFill>
                <a:latin typeface="Arial" pitchFamily="34" charset="0"/>
                <a:ea typeface="Arial" pitchFamily="34" charset="-122"/>
                <a:cs typeface="Arial" pitchFamily="34" charset="-120"/>
              </a:rPr>
              <a:t>Challenges and solutions (1/2)</a:t>
            </a:r>
            <a:endParaRPr lang="en-US" sz="3200" dirty="0"/>
          </a:p>
        </p:txBody>
      </p:sp>
      <p:pic>
        <p:nvPicPr>
          <p:cNvPr id="4" name="Image 0" descr="/home/claude/assets/logo.png">    </p:cNvPr>
          <p:cNvPicPr>
            <a:picLocks noChangeAspect="1"/>
          </p:cNvPicPr>
          <p:nvPr/>
        </p:nvPicPr>
        <p:blipFill>
          <a:blip r:embed="rId1"/>
          <a:stretch>
            <a:fillRect/>
          </a:stretch>
        </p:blipFill>
        <p:spPr>
          <a:xfrm>
            <a:off x="10744200" y="365760"/>
            <a:ext cx="896112" cy="434340"/>
          </a:xfrm>
          <a:prstGeom prst="rect">
            <a:avLst/>
          </a:prstGeom>
        </p:spPr>
      </p:pic>
      <p:sp>
        <p:nvSpPr>
          <p:cNvPr id="5" name="Text 2"/>
          <p:cNvSpPr txBox="1"/>
          <p:nvPr/>
        </p:nvSpPr>
        <p:spPr>
          <a:xfrm>
            <a:off x="548640" y="6428232"/>
            <a:ext cx="6400800" cy="228600"/>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Secure UART Communication System  ·  NTI Digital Design Project</a:t>
            </a:r>
            <a:endParaRPr lang="en-US" sz="1000" dirty="0"/>
          </a:p>
        </p:txBody>
      </p:sp>
      <p:sp>
        <p:nvSpPr>
          <p:cNvPr id="6" name="Text 3"/>
          <p:cNvSpPr txBox="1"/>
          <p:nvPr/>
        </p:nvSpPr>
        <p:spPr>
          <a:xfrm>
            <a:off x="548640" y="1417320"/>
            <a:ext cx="3566160" cy="274320"/>
          </a:xfrm>
          <a:prstGeom prst="rect">
            <a:avLst/>
          </a:prstGeom>
          <a:noFill/>
          <a:ln/>
        </p:spPr>
        <p:txBody>
          <a:bodyPr wrap="square" lIns="0" tIns="0" rIns="0" bIns="0" rtlCol="0" anchor="t"/>
          <a:lstStyle/>
          <a:p>
            <a:pPr indent="0" marL="0">
              <a:buNone/>
            </a:pPr>
            <a:r>
              <a:rPr lang="en-US" sz="1200" b="1" spc="300" kern="0" dirty="0">
                <a:solidFill>
                  <a:srgbClr val="FF5757"/>
                </a:solidFill>
                <a:latin typeface="Arial" pitchFamily="34" charset="0"/>
                <a:ea typeface="Arial" pitchFamily="34" charset="-122"/>
                <a:cs typeface="Arial" pitchFamily="34" charset="-120"/>
              </a:rPr>
              <a:t>CHALLENGE</a:t>
            </a:r>
            <a:endParaRPr lang="en-US" sz="1200" dirty="0"/>
          </a:p>
        </p:txBody>
      </p:sp>
      <p:sp>
        <p:nvSpPr>
          <p:cNvPr id="7" name="Text 4"/>
          <p:cNvSpPr txBox="1"/>
          <p:nvPr/>
        </p:nvSpPr>
        <p:spPr>
          <a:xfrm>
            <a:off x="4343400" y="1417320"/>
            <a:ext cx="4023360" cy="274320"/>
          </a:xfrm>
          <a:prstGeom prst="rect">
            <a:avLst/>
          </a:prstGeom>
          <a:noFill/>
          <a:ln/>
        </p:spPr>
        <p:txBody>
          <a:bodyPr wrap="square" lIns="0" tIns="0" rIns="0" bIns="0" rtlCol="0" anchor="t"/>
          <a:lstStyle/>
          <a:p>
            <a:pPr indent="0" marL="0">
              <a:buNone/>
            </a:pPr>
            <a:r>
              <a:rPr lang="en-US" sz="1200" b="1" spc="300" kern="0" dirty="0">
                <a:solidFill>
                  <a:srgbClr val="004AAD"/>
                </a:solidFill>
                <a:latin typeface="Arial" pitchFamily="34" charset="0"/>
                <a:ea typeface="Arial" pitchFamily="34" charset="-122"/>
                <a:cs typeface="Arial" pitchFamily="34" charset="-120"/>
              </a:rPr>
              <a:t>OUR APPROACH</a:t>
            </a:r>
            <a:endParaRPr lang="en-US" sz="1200" dirty="0"/>
          </a:p>
        </p:txBody>
      </p:sp>
      <p:sp>
        <p:nvSpPr>
          <p:cNvPr id="8" name="Text 5"/>
          <p:cNvSpPr txBox="1"/>
          <p:nvPr/>
        </p:nvSpPr>
        <p:spPr>
          <a:xfrm>
            <a:off x="8595360" y="1417320"/>
            <a:ext cx="3044952" cy="274320"/>
          </a:xfrm>
          <a:prstGeom prst="rect">
            <a:avLst/>
          </a:prstGeom>
          <a:noFill/>
          <a:ln/>
        </p:spPr>
        <p:txBody>
          <a:bodyPr wrap="square" lIns="0" tIns="0" rIns="0" bIns="0" rtlCol="0" anchor="t"/>
          <a:lstStyle/>
          <a:p>
            <a:pPr indent="0" marL="0">
              <a:buNone/>
            </a:pPr>
            <a:r>
              <a:rPr lang="en-US" sz="1200" b="1" spc="300" kern="0" dirty="0">
                <a:solidFill>
                  <a:srgbClr val="1E9E63"/>
                </a:solidFill>
                <a:latin typeface="Arial" pitchFamily="34" charset="0"/>
                <a:ea typeface="Arial" pitchFamily="34" charset="-122"/>
                <a:cs typeface="Arial" pitchFamily="34" charset="-120"/>
              </a:rPr>
              <a:t>RESULT</a:t>
            </a:r>
            <a:endParaRPr lang="en-US" sz="1200" dirty="0"/>
          </a:p>
        </p:txBody>
      </p:sp>
      <p:sp>
        <p:nvSpPr>
          <p:cNvPr id="9" name="Shape 6"/>
          <p:cNvSpPr/>
          <p:nvPr/>
        </p:nvSpPr>
        <p:spPr>
          <a:xfrm>
            <a:off x="548640" y="1783080"/>
            <a:ext cx="3566160" cy="1371600"/>
          </a:xfrm>
          <a:prstGeom prst="roundRect">
            <a:avLst>
              <a:gd name="adj" fmla="val 8000"/>
            </a:avLst>
          </a:prstGeom>
          <a:solidFill>
            <a:srgbClr val="FFEDED"/>
          </a:solidFill>
          <a:ln w="12700">
            <a:solidFill>
              <a:srgbClr val="FFEDED"/>
            </a:solidFill>
            <a:prstDash val="solid"/>
          </a:ln>
        </p:spPr>
      </p:sp>
      <p:sp>
        <p:nvSpPr>
          <p:cNvPr id="10" name="Shape 7"/>
          <p:cNvSpPr/>
          <p:nvPr/>
        </p:nvSpPr>
        <p:spPr>
          <a:xfrm>
            <a:off x="731520" y="1965960"/>
            <a:ext cx="457200" cy="457200"/>
          </a:xfrm>
          <a:prstGeom prst="ellipse">
            <a:avLst/>
          </a:prstGeom>
          <a:solidFill>
            <a:srgbClr val="FF5757"/>
          </a:solidFill>
          <a:ln w="12700">
            <a:solidFill>
              <a:srgbClr val="FF5757"/>
            </a:solidFill>
            <a:prstDash val="solid"/>
          </a:ln>
        </p:spPr>
      </p:sp>
      <p:pic>
        <p:nvPicPr>
          <p:cNvPr id="11" name="Image 1" descr="preencoded.png">    </p:cNvPr>
          <p:cNvPicPr>
            <a:picLocks noChangeAspect="1"/>
          </p:cNvPicPr>
          <p:nvPr/>
        </p:nvPicPr>
        <p:blipFill>
          <a:blip r:embed="rId2"/>
          <a:stretch>
            <a:fillRect/>
          </a:stretch>
        </p:blipFill>
        <p:spPr>
          <a:xfrm>
            <a:off x="850392" y="2084832"/>
            <a:ext cx="219456" cy="219456"/>
          </a:xfrm>
          <a:prstGeom prst="rect">
            <a:avLst/>
          </a:prstGeom>
        </p:spPr>
      </p:pic>
      <p:sp>
        <p:nvSpPr>
          <p:cNvPr id="12" name="Text 8"/>
          <p:cNvSpPr txBox="1"/>
          <p:nvPr/>
        </p:nvSpPr>
        <p:spPr>
          <a:xfrm>
            <a:off x="1325880" y="1965960"/>
            <a:ext cx="2651760" cy="457200"/>
          </a:xfrm>
          <a:prstGeom prst="rect">
            <a:avLst/>
          </a:prstGeom>
          <a:noFill/>
          <a:ln/>
        </p:spPr>
        <p:txBody>
          <a:bodyPr wrap="square" lIns="0" tIns="0" rIns="0" bIns="0" rtlCol="0" anchor="ctr"/>
          <a:lstStyle/>
          <a:p>
            <a:pPr indent="0" marL="0">
              <a:buNone/>
            </a:pPr>
            <a:r>
              <a:rPr lang="en-US" sz="1400" b="1" dirty="0">
                <a:solidFill>
                  <a:srgbClr val="0B1F44"/>
                </a:solidFill>
                <a:latin typeface="Arial" pitchFamily="34" charset="0"/>
                <a:ea typeface="Arial" pitchFamily="34" charset="-122"/>
                <a:cs typeface="Arial" pitchFamily="34" charset="-120"/>
              </a:rPr>
              <a:t>Mismatched data widths</a:t>
            </a:r>
            <a:endParaRPr lang="en-US" sz="1400" dirty="0"/>
          </a:p>
        </p:txBody>
      </p:sp>
      <p:sp>
        <p:nvSpPr>
          <p:cNvPr id="13" name="Text 9"/>
          <p:cNvSpPr txBox="1"/>
          <p:nvPr/>
        </p:nvSpPr>
        <p:spPr>
          <a:xfrm>
            <a:off x="731520" y="2496312"/>
            <a:ext cx="3200400" cy="640080"/>
          </a:xfrm>
          <a:prstGeom prst="rect">
            <a:avLst/>
          </a:prstGeom>
          <a:noFill/>
          <a:ln/>
        </p:spPr>
        <p:txBody>
          <a:bodyPr wrap="square" lIns="0" tIns="0" rIns="0" bIns="0" rtlCol="0" anchor="t"/>
          <a:lstStyle/>
          <a:p>
            <a:pPr indent="0" marL="0">
              <a:buNone/>
            </a:pPr>
            <a:r>
              <a:rPr lang="en-US" sz="1200" dirty="0">
                <a:solidFill>
                  <a:srgbClr val="1B2333"/>
                </a:solidFill>
                <a:latin typeface="Arial" pitchFamily="34" charset="0"/>
                <a:ea typeface="Arial" pitchFamily="34" charset="-122"/>
                <a:cs typeface="Arial" pitchFamily="34" charset="-120"/>
              </a:rPr>
              <a:t>AES works on 128-bit blocks, the CRC produces 16 bits, the UART moves 8 bits at a time.</a:t>
            </a:r>
            <a:endParaRPr lang="en-US" sz="1200" dirty="0"/>
          </a:p>
        </p:txBody>
      </p:sp>
      <p:pic>
        <p:nvPicPr>
          <p:cNvPr id="14" name="Image 2" descr="preencoded.png">    </p:cNvPr>
          <p:cNvPicPr>
            <a:picLocks noChangeAspect="1"/>
          </p:cNvPicPr>
          <p:nvPr/>
        </p:nvPicPr>
        <p:blipFill>
          <a:blip r:embed="rId3"/>
          <a:stretch>
            <a:fillRect/>
          </a:stretch>
        </p:blipFill>
        <p:spPr>
          <a:xfrm>
            <a:off x="4142232" y="2377440"/>
            <a:ext cx="182880" cy="182880"/>
          </a:xfrm>
          <a:prstGeom prst="rect">
            <a:avLst/>
          </a:prstGeom>
        </p:spPr>
      </p:pic>
      <p:sp>
        <p:nvSpPr>
          <p:cNvPr id="15" name="Shape 10"/>
          <p:cNvSpPr/>
          <p:nvPr/>
        </p:nvSpPr>
        <p:spPr>
          <a:xfrm>
            <a:off x="4343400" y="1783080"/>
            <a:ext cx="4023360" cy="1371600"/>
          </a:xfrm>
          <a:prstGeom prst="roundRect">
            <a:avLst>
              <a:gd name="adj" fmla="val 8000"/>
            </a:avLst>
          </a:prstGeom>
          <a:solidFill>
            <a:srgbClr val="EAF1FB"/>
          </a:solidFill>
          <a:ln w="12700">
            <a:solidFill>
              <a:srgbClr val="EAF1FB"/>
            </a:solidFill>
            <a:prstDash val="solid"/>
          </a:ln>
        </p:spPr>
      </p:sp>
      <p:sp>
        <p:nvSpPr>
          <p:cNvPr id="16" name="Text 11"/>
          <p:cNvSpPr txBox="1"/>
          <p:nvPr/>
        </p:nvSpPr>
        <p:spPr>
          <a:xfrm>
            <a:off x="4572000" y="1920240"/>
            <a:ext cx="3566160" cy="1097280"/>
          </a:xfrm>
          <a:prstGeom prst="rect">
            <a:avLst/>
          </a:prstGeom>
          <a:noFill/>
          <a:ln/>
        </p:spPr>
        <p:txBody>
          <a:bodyPr wrap="square" lIns="0" tIns="0" rIns="0" bIns="0" rtlCol="0" anchor="ctr"/>
          <a:lstStyle/>
          <a:p>
            <a:pPr indent="0" marL="0">
              <a:buNone/>
            </a:pPr>
            <a:r>
              <a:rPr lang="en-US" sz="1250" dirty="0">
                <a:solidFill>
                  <a:srgbClr val="1B2333"/>
                </a:solidFill>
                <a:latin typeface="Arial" pitchFamily="34" charset="0"/>
                <a:ea typeface="Arial" pitchFamily="34" charset="-122"/>
                <a:cs typeface="Arial" pitchFamily="34" charset="-120"/>
              </a:rPr>
              <a:t>The top-level controller serializes the 128-bit ciphertext MSB first into 16 bytes, then appends the CRC high byte and low byte.</a:t>
            </a:r>
            <a:endParaRPr lang="en-US" sz="1250" dirty="0"/>
          </a:p>
        </p:txBody>
      </p:sp>
      <p:pic>
        <p:nvPicPr>
          <p:cNvPr id="17" name="Image 3" descr="preencoded.png">    </p:cNvPr>
          <p:cNvPicPr>
            <a:picLocks noChangeAspect="1"/>
          </p:cNvPicPr>
          <p:nvPr/>
        </p:nvPicPr>
        <p:blipFill>
          <a:blip r:embed="rId4"/>
          <a:stretch>
            <a:fillRect/>
          </a:stretch>
        </p:blipFill>
        <p:spPr>
          <a:xfrm>
            <a:off x="8394192" y="2377440"/>
            <a:ext cx="182880" cy="182880"/>
          </a:xfrm>
          <a:prstGeom prst="rect">
            <a:avLst/>
          </a:prstGeom>
        </p:spPr>
      </p:pic>
      <p:sp>
        <p:nvSpPr>
          <p:cNvPr id="18" name="Shape 12"/>
          <p:cNvSpPr/>
          <p:nvPr/>
        </p:nvSpPr>
        <p:spPr>
          <a:xfrm>
            <a:off x="8595360" y="1783080"/>
            <a:ext cx="3044952" cy="1371600"/>
          </a:xfrm>
          <a:prstGeom prst="roundRect">
            <a:avLst>
              <a:gd name="adj" fmla="val 8000"/>
            </a:avLst>
          </a:prstGeom>
          <a:solidFill>
            <a:srgbClr val="E6F6EE"/>
          </a:solidFill>
          <a:ln w="12700">
            <a:solidFill>
              <a:srgbClr val="E6F6EE"/>
            </a:solidFill>
            <a:prstDash val="solid"/>
          </a:ln>
        </p:spPr>
      </p:sp>
      <p:pic>
        <p:nvPicPr>
          <p:cNvPr id="19" name="Image 4" descr="preencoded.png">    </p:cNvPr>
          <p:cNvPicPr>
            <a:picLocks noChangeAspect="1"/>
          </p:cNvPicPr>
          <p:nvPr/>
        </p:nvPicPr>
        <p:blipFill>
          <a:blip r:embed="rId5"/>
          <a:stretch>
            <a:fillRect/>
          </a:stretch>
        </p:blipFill>
        <p:spPr>
          <a:xfrm>
            <a:off x="8778240" y="1984248"/>
            <a:ext cx="274320" cy="274320"/>
          </a:xfrm>
          <a:prstGeom prst="rect">
            <a:avLst/>
          </a:prstGeom>
        </p:spPr>
      </p:pic>
      <p:sp>
        <p:nvSpPr>
          <p:cNvPr id="20" name="Text 13"/>
          <p:cNvSpPr txBox="1"/>
          <p:nvPr/>
        </p:nvSpPr>
        <p:spPr>
          <a:xfrm>
            <a:off x="9162288" y="1920240"/>
            <a:ext cx="2313432" cy="1097280"/>
          </a:xfrm>
          <a:prstGeom prst="rect">
            <a:avLst/>
          </a:prstGeom>
          <a:noFill/>
          <a:ln/>
        </p:spPr>
        <p:txBody>
          <a:bodyPr wrap="square" lIns="0" tIns="0" rIns="0" bIns="0" rtlCol="0" anchor="ctr"/>
          <a:lstStyle/>
          <a:p>
            <a:pPr indent="0" marL="0">
              <a:buNone/>
            </a:pPr>
            <a:r>
              <a:rPr lang="en-US" sz="1250" dirty="0">
                <a:solidFill>
                  <a:srgbClr val="1B2333"/>
                </a:solidFill>
                <a:latin typeface="Arial" pitchFamily="34" charset="0"/>
                <a:ea typeface="Arial" pitchFamily="34" charset="-122"/>
                <a:cs typeface="Arial" pitchFamily="34" charset="-120"/>
              </a:rPr>
              <a:t>A fixed 18-byte protected payload: 16 bytes ciphertext + 2 bytes CRC.</a:t>
            </a:r>
            <a:endParaRPr lang="en-US" sz="1250" dirty="0"/>
          </a:p>
        </p:txBody>
      </p:sp>
      <p:sp>
        <p:nvSpPr>
          <p:cNvPr id="21" name="Shape 14"/>
          <p:cNvSpPr/>
          <p:nvPr/>
        </p:nvSpPr>
        <p:spPr>
          <a:xfrm>
            <a:off x="548640" y="3291840"/>
            <a:ext cx="3566160" cy="1371600"/>
          </a:xfrm>
          <a:prstGeom prst="roundRect">
            <a:avLst>
              <a:gd name="adj" fmla="val 8000"/>
            </a:avLst>
          </a:prstGeom>
          <a:solidFill>
            <a:srgbClr val="FFEDED"/>
          </a:solidFill>
          <a:ln w="12700">
            <a:solidFill>
              <a:srgbClr val="FFEDED"/>
            </a:solidFill>
            <a:prstDash val="solid"/>
          </a:ln>
        </p:spPr>
      </p:sp>
      <p:sp>
        <p:nvSpPr>
          <p:cNvPr id="22" name="Shape 15"/>
          <p:cNvSpPr/>
          <p:nvPr/>
        </p:nvSpPr>
        <p:spPr>
          <a:xfrm>
            <a:off x="731520" y="3474720"/>
            <a:ext cx="457200" cy="457200"/>
          </a:xfrm>
          <a:prstGeom prst="ellipse">
            <a:avLst/>
          </a:prstGeom>
          <a:solidFill>
            <a:srgbClr val="FF5757"/>
          </a:solidFill>
          <a:ln w="12700">
            <a:solidFill>
              <a:srgbClr val="FF5757"/>
            </a:solidFill>
            <a:prstDash val="solid"/>
          </a:ln>
        </p:spPr>
      </p:sp>
      <p:pic>
        <p:nvPicPr>
          <p:cNvPr id="23" name="Image 5" descr="preencoded.png">    </p:cNvPr>
          <p:cNvPicPr>
            <a:picLocks noChangeAspect="1"/>
          </p:cNvPicPr>
          <p:nvPr/>
        </p:nvPicPr>
        <p:blipFill>
          <a:blip r:embed="rId6"/>
          <a:stretch>
            <a:fillRect/>
          </a:stretch>
        </p:blipFill>
        <p:spPr>
          <a:xfrm>
            <a:off x="850392" y="3593592"/>
            <a:ext cx="219456" cy="219456"/>
          </a:xfrm>
          <a:prstGeom prst="rect">
            <a:avLst/>
          </a:prstGeom>
        </p:spPr>
      </p:pic>
      <p:sp>
        <p:nvSpPr>
          <p:cNvPr id="24" name="Text 16"/>
          <p:cNvSpPr txBox="1"/>
          <p:nvPr/>
        </p:nvSpPr>
        <p:spPr>
          <a:xfrm>
            <a:off x="1325880" y="3474720"/>
            <a:ext cx="2651760" cy="457200"/>
          </a:xfrm>
          <a:prstGeom prst="rect">
            <a:avLst/>
          </a:prstGeom>
          <a:noFill/>
          <a:ln/>
        </p:spPr>
        <p:txBody>
          <a:bodyPr wrap="square" lIns="0" tIns="0" rIns="0" bIns="0" rtlCol="0" anchor="ctr"/>
          <a:lstStyle/>
          <a:p>
            <a:pPr indent="0" marL="0">
              <a:buNone/>
            </a:pPr>
            <a:r>
              <a:rPr lang="en-US" sz="1400" b="1" dirty="0">
                <a:solidFill>
                  <a:srgbClr val="0B1F44"/>
                </a:solidFill>
                <a:latin typeface="Arial" pitchFamily="34" charset="0"/>
                <a:ea typeface="Arial" pitchFamily="34" charset="-122"/>
                <a:cs typeface="Arial" pitchFamily="34" charset="-120"/>
              </a:rPr>
              <a:t>Multi-cycle blocks</a:t>
            </a:r>
            <a:endParaRPr lang="en-US" sz="1400" dirty="0"/>
          </a:p>
        </p:txBody>
      </p:sp>
      <p:sp>
        <p:nvSpPr>
          <p:cNvPr id="25" name="Text 17"/>
          <p:cNvSpPr txBox="1"/>
          <p:nvPr/>
        </p:nvSpPr>
        <p:spPr>
          <a:xfrm>
            <a:off x="731520" y="4005072"/>
            <a:ext cx="3200400" cy="640080"/>
          </a:xfrm>
          <a:prstGeom prst="rect">
            <a:avLst/>
          </a:prstGeom>
          <a:noFill/>
          <a:ln/>
        </p:spPr>
        <p:txBody>
          <a:bodyPr wrap="square" lIns="0" tIns="0" rIns="0" bIns="0" rtlCol="0" anchor="t"/>
          <a:lstStyle/>
          <a:p>
            <a:pPr indent="0" marL="0">
              <a:buNone/>
            </a:pPr>
            <a:r>
              <a:rPr lang="en-US" sz="1200" dirty="0">
                <a:solidFill>
                  <a:srgbClr val="1B2333"/>
                </a:solidFill>
                <a:latin typeface="Arial" pitchFamily="34" charset="0"/>
                <a:ea typeface="Arial" pitchFamily="34" charset="-122"/>
                <a:cs typeface="Arial" pitchFamily="34" charset="-120"/>
              </a:rPr>
              <a:t>AES, CRC and UART each take many cycles. We cannot assume an output is ready just because we started the block.</a:t>
            </a:r>
            <a:endParaRPr lang="en-US" sz="1200" dirty="0"/>
          </a:p>
        </p:txBody>
      </p:sp>
      <p:pic>
        <p:nvPicPr>
          <p:cNvPr id="26" name="Image 6" descr="preencoded.png">    </p:cNvPr>
          <p:cNvPicPr>
            <a:picLocks noChangeAspect="1"/>
          </p:cNvPicPr>
          <p:nvPr/>
        </p:nvPicPr>
        <p:blipFill>
          <a:blip r:embed="rId7"/>
          <a:stretch>
            <a:fillRect/>
          </a:stretch>
        </p:blipFill>
        <p:spPr>
          <a:xfrm>
            <a:off x="4142232" y="3886200"/>
            <a:ext cx="182880" cy="182880"/>
          </a:xfrm>
          <a:prstGeom prst="rect">
            <a:avLst/>
          </a:prstGeom>
        </p:spPr>
      </p:pic>
      <p:sp>
        <p:nvSpPr>
          <p:cNvPr id="27" name="Shape 18"/>
          <p:cNvSpPr/>
          <p:nvPr/>
        </p:nvSpPr>
        <p:spPr>
          <a:xfrm>
            <a:off x="4343400" y="3291840"/>
            <a:ext cx="4023360" cy="1371600"/>
          </a:xfrm>
          <a:prstGeom prst="roundRect">
            <a:avLst>
              <a:gd name="adj" fmla="val 8000"/>
            </a:avLst>
          </a:prstGeom>
          <a:solidFill>
            <a:srgbClr val="EAF1FB"/>
          </a:solidFill>
          <a:ln w="12700">
            <a:solidFill>
              <a:srgbClr val="EAF1FB"/>
            </a:solidFill>
            <a:prstDash val="solid"/>
          </a:ln>
        </p:spPr>
      </p:sp>
      <p:sp>
        <p:nvSpPr>
          <p:cNvPr id="28" name="Text 19"/>
          <p:cNvSpPr txBox="1"/>
          <p:nvPr/>
        </p:nvSpPr>
        <p:spPr>
          <a:xfrm>
            <a:off x="4572000" y="3429000"/>
            <a:ext cx="3566160" cy="1097280"/>
          </a:xfrm>
          <a:prstGeom prst="rect">
            <a:avLst/>
          </a:prstGeom>
          <a:noFill/>
          <a:ln/>
        </p:spPr>
        <p:txBody>
          <a:bodyPr wrap="square" lIns="0" tIns="0" rIns="0" bIns="0" rtlCol="0" anchor="ctr"/>
          <a:lstStyle/>
          <a:p>
            <a:pPr indent="0" marL="0">
              <a:buNone/>
            </a:pPr>
            <a:r>
              <a:rPr lang="en-US" sz="1250" dirty="0">
                <a:solidFill>
                  <a:srgbClr val="1B2333"/>
                </a:solidFill>
                <a:latin typeface="Arial" pitchFamily="34" charset="0"/>
                <a:ea typeface="Arial" pitchFamily="34" charset="-122"/>
                <a:cs typeface="Arial" pitchFamily="34" charset="-120"/>
              </a:rPr>
              <a:t>A start / busy / done handshake on every block and a 9-state top-level FSM. Busy protection stops a byte being loaded while another is in flight.</a:t>
            </a:r>
            <a:endParaRPr lang="en-US" sz="1250" dirty="0"/>
          </a:p>
        </p:txBody>
      </p:sp>
      <p:pic>
        <p:nvPicPr>
          <p:cNvPr id="29" name="Image 7" descr="preencoded.png">    </p:cNvPr>
          <p:cNvPicPr>
            <a:picLocks noChangeAspect="1"/>
          </p:cNvPicPr>
          <p:nvPr/>
        </p:nvPicPr>
        <p:blipFill>
          <a:blip r:embed="rId8"/>
          <a:stretch>
            <a:fillRect/>
          </a:stretch>
        </p:blipFill>
        <p:spPr>
          <a:xfrm>
            <a:off x="8394192" y="3886200"/>
            <a:ext cx="182880" cy="182880"/>
          </a:xfrm>
          <a:prstGeom prst="rect">
            <a:avLst/>
          </a:prstGeom>
        </p:spPr>
      </p:pic>
      <p:sp>
        <p:nvSpPr>
          <p:cNvPr id="30" name="Shape 20"/>
          <p:cNvSpPr/>
          <p:nvPr/>
        </p:nvSpPr>
        <p:spPr>
          <a:xfrm>
            <a:off x="8595360" y="3291840"/>
            <a:ext cx="3044952" cy="1371600"/>
          </a:xfrm>
          <a:prstGeom prst="roundRect">
            <a:avLst>
              <a:gd name="adj" fmla="val 8000"/>
            </a:avLst>
          </a:prstGeom>
          <a:solidFill>
            <a:srgbClr val="E6F6EE"/>
          </a:solidFill>
          <a:ln w="12700">
            <a:solidFill>
              <a:srgbClr val="E6F6EE"/>
            </a:solidFill>
            <a:prstDash val="solid"/>
          </a:ln>
        </p:spPr>
      </p:sp>
      <p:pic>
        <p:nvPicPr>
          <p:cNvPr id="31" name="Image 8" descr="preencoded.png">    </p:cNvPr>
          <p:cNvPicPr>
            <a:picLocks noChangeAspect="1"/>
          </p:cNvPicPr>
          <p:nvPr/>
        </p:nvPicPr>
        <p:blipFill>
          <a:blip r:embed="rId9"/>
          <a:stretch>
            <a:fillRect/>
          </a:stretch>
        </p:blipFill>
        <p:spPr>
          <a:xfrm>
            <a:off x="8778240" y="3493008"/>
            <a:ext cx="274320" cy="274320"/>
          </a:xfrm>
          <a:prstGeom prst="rect">
            <a:avLst/>
          </a:prstGeom>
        </p:spPr>
      </p:pic>
      <p:sp>
        <p:nvSpPr>
          <p:cNvPr id="32" name="Text 21"/>
          <p:cNvSpPr txBox="1"/>
          <p:nvPr/>
        </p:nvSpPr>
        <p:spPr>
          <a:xfrm>
            <a:off x="9162288" y="3429000"/>
            <a:ext cx="2313432" cy="1097280"/>
          </a:xfrm>
          <a:prstGeom prst="rect">
            <a:avLst/>
          </a:prstGeom>
          <a:noFill/>
          <a:ln/>
        </p:spPr>
        <p:txBody>
          <a:bodyPr wrap="square" lIns="0" tIns="0" rIns="0" bIns="0" rtlCol="0" anchor="ctr"/>
          <a:lstStyle/>
          <a:p>
            <a:pPr indent="0" marL="0">
              <a:buNone/>
            </a:pPr>
            <a:r>
              <a:rPr lang="en-US" sz="1250" dirty="0">
                <a:solidFill>
                  <a:srgbClr val="1B2333"/>
                </a:solidFill>
                <a:latin typeface="Arial" pitchFamily="34" charset="0"/>
                <a:ea typeface="Arial" pitchFamily="34" charset="-122"/>
                <a:cs typeface="Arial" pitchFamily="34" charset="-120"/>
              </a:rPr>
              <a:t>In simulation done_AES triggers the CRC and done_crc releases the 144-bit output.</a:t>
            </a:r>
            <a:endParaRPr lang="en-US" sz="1250" dirty="0"/>
          </a:p>
        </p:txBody>
      </p:sp>
      <p:sp>
        <p:nvSpPr>
          <p:cNvPr id="33" name="Shape 22"/>
          <p:cNvSpPr/>
          <p:nvPr/>
        </p:nvSpPr>
        <p:spPr>
          <a:xfrm>
            <a:off x="548640" y="4800600"/>
            <a:ext cx="3566160" cy="1371600"/>
          </a:xfrm>
          <a:prstGeom prst="roundRect">
            <a:avLst>
              <a:gd name="adj" fmla="val 8000"/>
            </a:avLst>
          </a:prstGeom>
          <a:solidFill>
            <a:srgbClr val="FFEDED"/>
          </a:solidFill>
          <a:ln w="12700">
            <a:solidFill>
              <a:srgbClr val="FFEDED"/>
            </a:solidFill>
            <a:prstDash val="solid"/>
          </a:ln>
        </p:spPr>
      </p:sp>
      <p:sp>
        <p:nvSpPr>
          <p:cNvPr id="34" name="Shape 23"/>
          <p:cNvSpPr/>
          <p:nvPr/>
        </p:nvSpPr>
        <p:spPr>
          <a:xfrm>
            <a:off x="731520" y="4983480"/>
            <a:ext cx="457200" cy="457200"/>
          </a:xfrm>
          <a:prstGeom prst="ellipse">
            <a:avLst/>
          </a:prstGeom>
          <a:solidFill>
            <a:srgbClr val="FF5757"/>
          </a:solidFill>
          <a:ln w="12700">
            <a:solidFill>
              <a:srgbClr val="FF5757"/>
            </a:solidFill>
            <a:prstDash val="solid"/>
          </a:ln>
        </p:spPr>
      </p:sp>
      <p:pic>
        <p:nvPicPr>
          <p:cNvPr id="35" name="Image 9" descr="preencoded.png">    </p:cNvPr>
          <p:cNvPicPr>
            <a:picLocks noChangeAspect="1"/>
          </p:cNvPicPr>
          <p:nvPr/>
        </p:nvPicPr>
        <p:blipFill>
          <a:blip r:embed="rId10"/>
          <a:stretch>
            <a:fillRect/>
          </a:stretch>
        </p:blipFill>
        <p:spPr>
          <a:xfrm>
            <a:off x="850392" y="5102352"/>
            <a:ext cx="219456" cy="219456"/>
          </a:xfrm>
          <a:prstGeom prst="rect">
            <a:avLst/>
          </a:prstGeom>
        </p:spPr>
      </p:pic>
      <p:sp>
        <p:nvSpPr>
          <p:cNvPr id="36" name="Text 24"/>
          <p:cNvSpPr txBox="1"/>
          <p:nvPr/>
        </p:nvSpPr>
        <p:spPr>
          <a:xfrm>
            <a:off x="1325880" y="4983480"/>
            <a:ext cx="2651760" cy="457200"/>
          </a:xfrm>
          <a:prstGeom prst="rect">
            <a:avLst/>
          </a:prstGeom>
          <a:noFill/>
          <a:ln/>
        </p:spPr>
        <p:txBody>
          <a:bodyPr wrap="square" lIns="0" tIns="0" rIns="0" bIns="0" rtlCol="0" anchor="ctr"/>
          <a:lstStyle/>
          <a:p>
            <a:pPr indent="0" marL="0">
              <a:buNone/>
            </a:pPr>
            <a:r>
              <a:rPr lang="en-US" sz="1400" b="1" dirty="0">
                <a:solidFill>
                  <a:srgbClr val="0B1F44"/>
                </a:solidFill>
                <a:latin typeface="Arial" pitchFamily="34" charset="0"/>
                <a:ea typeface="Arial" pitchFamily="34" charset="-122"/>
                <a:cs typeface="Arial" pitchFamily="34" charset="-120"/>
              </a:rPr>
              <a:t>UART receiver timing</a:t>
            </a:r>
            <a:endParaRPr lang="en-US" sz="1400" dirty="0"/>
          </a:p>
        </p:txBody>
      </p:sp>
      <p:sp>
        <p:nvSpPr>
          <p:cNvPr id="37" name="Text 25"/>
          <p:cNvSpPr txBox="1"/>
          <p:nvPr/>
        </p:nvSpPr>
        <p:spPr>
          <a:xfrm>
            <a:off x="731520" y="5513832"/>
            <a:ext cx="3200400" cy="640080"/>
          </a:xfrm>
          <a:prstGeom prst="rect">
            <a:avLst/>
          </a:prstGeom>
          <a:noFill/>
          <a:ln/>
        </p:spPr>
        <p:txBody>
          <a:bodyPr wrap="square" lIns="0" tIns="0" rIns="0" bIns="0" rtlCol="0" anchor="t"/>
          <a:lstStyle/>
          <a:p>
            <a:pPr indent="0" marL="0">
              <a:buNone/>
            </a:pPr>
            <a:r>
              <a:rPr lang="en-US" sz="1200" dirty="0">
                <a:solidFill>
                  <a:srgbClr val="1B2333"/>
                </a:solidFill>
                <a:latin typeface="Arial" pitchFamily="34" charset="0"/>
                <a:ea typeface="Arial" pitchFamily="34" charset="-122"/>
                <a:cs typeface="Arial" pitchFamily="34" charset="-120"/>
              </a:rPr>
              <a:t>The receiver has no clock from the sender, so it must decide when to sample each bit.</a:t>
            </a:r>
            <a:endParaRPr lang="en-US" sz="1200" dirty="0"/>
          </a:p>
        </p:txBody>
      </p:sp>
      <p:pic>
        <p:nvPicPr>
          <p:cNvPr id="38" name="Image 10" descr="preencoded.png">    </p:cNvPr>
          <p:cNvPicPr>
            <a:picLocks noChangeAspect="1"/>
          </p:cNvPicPr>
          <p:nvPr/>
        </p:nvPicPr>
        <p:blipFill>
          <a:blip r:embed="rId11"/>
          <a:stretch>
            <a:fillRect/>
          </a:stretch>
        </p:blipFill>
        <p:spPr>
          <a:xfrm>
            <a:off x="4142232" y="5394960"/>
            <a:ext cx="182880" cy="182880"/>
          </a:xfrm>
          <a:prstGeom prst="rect">
            <a:avLst/>
          </a:prstGeom>
        </p:spPr>
      </p:pic>
      <p:sp>
        <p:nvSpPr>
          <p:cNvPr id="39" name="Shape 26"/>
          <p:cNvSpPr/>
          <p:nvPr/>
        </p:nvSpPr>
        <p:spPr>
          <a:xfrm>
            <a:off x="4343400" y="4800600"/>
            <a:ext cx="4023360" cy="1371600"/>
          </a:xfrm>
          <a:prstGeom prst="roundRect">
            <a:avLst>
              <a:gd name="adj" fmla="val 8000"/>
            </a:avLst>
          </a:prstGeom>
          <a:solidFill>
            <a:srgbClr val="EAF1FB"/>
          </a:solidFill>
          <a:ln w="12700">
            <a:solidFill>
              <a:srgbClr val="EAF1FB"/>
            </a:solidFill>
            <a:prstDash val="solid"/>
          </a:ln>
        </p:spPr>
      </p:sp>
      <p:sp>
        <p:nvSpPr>
          <p:cNvPr id="40" name="Text 27"/>
          <p:cNvSpPr txBox="1"/>
          <p:nvPr/>
        </p:nvSpPr>
        <p:spPr>
          <a:xfrm>
            <a:off x="4572000" y="4937760"/>
            <a:ext cx="3566160" cy="1097280"/>
          </a:xfrm>
          <a:prstGeom prst="rect">
            <a:avLst/>
          </a:prstGeom>
          <a:noFill/>
          <a:ln/>
        </p:spPr>
        <p:txBody>
          <a:bodyPr wrap="square" lIns="0" tIns="0" rIns="0" bIns="0" rtlCol="0" anchor="ctr"/>
          <a:lstStyle/>
          <a:p>
            <a:pPr indent="0" marL="0">
              <a:buNone/>
            </a:pPr>
            <a:r>
              <a:rPr lang="en-US" sz="1250" dirty="0">
                <a:solidFill>
                  <a:srgbClr val="1B2333"/>
                </a:solidFill>
                <a:latin typeface="Arial" pitchFamily="34" charset="0"/>
                <a:ea typeface="Arial" pitchFamily="34" charset="-122"/>
                <a:cs typeface="Arial" pitchFamily="34" charset="-120"/>
              </a:rPr>
              <a:t>Detect the falling edge, wait 1.5 bit periods to reach mid start bit, then sample every 1 bit period. Check the stop bit and raise err if it is low.</a:t>
            </a:r>
            <a:endParaRPr lang="en-US" sz="1250" dirty="0"/>
          </a:p>
        </p:txBody>
      </p:sp>
      <p:pic>
        <p:nvPicPr>
          <p:cNvPr id="41" name="Image 11" descr="preencoded.png">    </p:cNvPr>
          <p:cNvPicPr>
            <a:picLocks noChangeAspect="1"/>
          </p:cNvPicPr>
          <p:nvPr/>
        </p:nvPicPr>
        <p:blipFill>
          <a:blip r:embed="rId12"/>
          <a:stretch>
            <a:fillRect/>
          </a:stretch>
        </p:blipFill>
        <p:spPr>
          <a:xfrm>
            <a:off x="8394192" y="5394960"/>
            <a:ext cx="182880" cy="182880"/>
          </a:xfrm>
          <a:prstGeom prst="rect">
            <a:avLst/>
          </a:prstGeom>
        </p:spPr>
      </p:pic>
      <p:sp>
        <p:nvSpPr>
          <p:cNvPr id="42" name="Shape 28"/>
          <p:cNvSpPr/>
          <p:nvPr/>
        </p:nvSpPr>
        <p:spPr>
          <a:xfrm>
            <a:off x="8595360" y="4800600"/>
            <a:ext cx="3044952" cy="1371600"/>
          </a:xfrm>
          <a:prstGeom prst="roundRect">
            <a:avLst>
              <a:gd name="adj" fmla="val 8000"/>
            </a:avLst>
          </a:prstGeom>
          <a:solidFill>
            <a:srgbClr val="E6F6EE"/>
          </a:solidFill>
          <a:ln w="12700">
            <a:solidFill>
              <a:srgbClr val="E6F6EE"/>
            </a:solidFill>
            <a:prstDash val="solid"/>
          </a:ln>
        </p:spPr>
      </p:sp>
      <p:pic>
        <p:nvPicPr>
          <p:cNvPr id="43" name="Image 12" descr="preencoded.png">    </p:cNvPr>
          <p:cNvPicPr>
            <a:picLocks noChangeAspect="1"/>
          </p:cNvPicPr>
          <p:nvPr/>
        </p:nvPicPr>
        <p:blipFill>
          <a:blip r:embed="rId13"/>
          <a:stretch>
            <a:fillRect/>
          </a:stretch>
        </p:blipFill>
        <p:spPr>
          <a:xfrm>
            <a:off x="8778240" y="5001768"/>
            <a:ext cx="274320" cy="274320"/>
          </a:xfrm>
          <a:prstGeom prst="rect">
            <a:avLst/>
          </a:prstGeom>
        </p:spPr>
      </p:pic>
      <p:sp>
        <p:nvSpPr>
          <p:cNvPr id="44" name="Text 29"/>
          <p:cNvSpPr txBox="1"/>
          <p:nvPr/>
        </p:nvSpPr>
        <p:spPr>
          <a:xfrm>
            <a:off x="9162288" y="4937760"/>
            <a:ext cx="2313432" cy="1097280"/>
          </a:xfrm>
          <a:prstGeom prst="rect">
            <a:avLst/>
          </a:prstGeom>
          <a:noFill/>
          <a:ln/>
        </p:spPr>
        <p:txBody>
          <a:bodyPr wrap="square" lIns="0" tIns="0" rIns="0" bIns="0" rtlCol="0" anchor="ctr"/>
          <a:lstStyle/>
          <a:p>
            <a:pPr indent="0" marL="0">
              <a:buNone/>
            </a:pPr>
            <a:r>
              <a:rPr lang="en-US" sz="1250" dirty="0">
                <a:solidFill>
                  <a:srgbClr val="1B2333"/>
                </a:solidFill>
                <a:latin typeface="Arial" pitchFamily="34" charset="0"/>
                <a:ea typeface="Arial" pitchFamily="34" charset="-122"/>
                <a:cs typeface="Arial" pitchFamily="34" charset="-120"/>
              </a:rPr>
              <a:t>Loopback testbench recovers the sent byte (waveform: A5 in, A5 out, err low).</a:t>
            </a:r>
            <a:endParaRPr lang="en-US" sz="12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47472"/>
            <a:ext cx="7315200" cy="228600"/>
          </a:xfrm>
          <a:prstGeom prst="rect">
            <a:avLst/>
          </a:prstGeom>
          <a:noFill/>
          <a:ln/>
        </p:spPr>
        <p:txBody>
          <a:bodyPr wrap="square" lIns="0" tIns="0" rIns="0" bIns="0" rtlCol="0" anchor="t"/>
          <a:lstStyle/>
          <a:p>
            <a:pPr indent="0" marL="0">
              <a:buNone/>
            </a:pPr>
            <a:r>
              <a:rPr lang="en-US" sz="1200" b="1" spc="300" kern="0" dirty="0">
                <a:solidFill>
                  <a:srgbClr val="FF5757"/>
                </a:solidFill>
                <a:latin typeface="Arial" pitchFamily="34" charset="0"/>
                <a:ea typeface="Arial" pitchFamily="34" charset="-122"/>
                <a:cs typeface="Arial" pitchFamily="34" charset="-120"/>
              </a:rPr>
              <a:t>04  CHALLENGES AND SOLUTIONS</a:t>
            </a:r>
            <a:endParaRPr lang="en-US" sz="1200" dirty="0"/>
          </a:p>
        </p:txBody>
      </p:sp>
      <p:sp>
        <p:nvSpPr>
          <p:cNvPr id="3" name="Text 1"/>
          <p:cNvSpPr txBox="1"/>
          <p:nvPr/>
        </p:nvSpPr>
        <p:spPr>
          <a:xfrm>
            <a:off x="548640" y="603504"/>
            <a:ext cx="9966960" cy="685800"/>
          </a:xfrm>
          <a:prstGeom prst="rect">
            <a:avLst/>
          </a:prstGeom>
          <a:noFill/>
          <a:ln/>
        </p:spPr>
        <p:txBody>
          <a:bodyPr wrap="square" lIns="0" tIns="0" rIns="0" bIns="0" rtlCol="0" anchor="ctr"/>
          <a:lstStyle/>
          <a:p>
            <a:pPr indent="0" marL="0">
              <a:buNone/>
            </a:pPr>
            <a:r>
              <a:rPr lang="en-US" sz="3200" b="1" dirty="0">
                <a:solidFill>
                  <a:srgbClr val="0B1F44"/>
                </a:solidFill>
                <a:latin typeface="Arial" pitchFamily="34" charset="0"/>
                <a:ea typeface="Arial" pitchFamily="34" charset="-122"/>
                <a:cs typeface="Arial" pitchFamily="34" charset="-120"/>
              </a:rPr>
              <a:t>Challenges and solutions (2/2)</a:t>
            </a:r>
            <a:endParaRPr lang="en-US" sz="3200" dirty="0"/>
          </a:p>
        </p:txBody>
      </p:sp>
      <p:pic>
        <p:nvPicPr>
          <p:cNvPr id="4" name="Image 0" descr="/home/claude/assets/logo.png">    </p:cNvPr>
          <p:cNvPicPr>
            <a:picLocks noChangeAspect="1"/>
          </p:cNvPicPr>
          <p:nvPr/>
        </p:nvPicPr>
        <p:blipFill>
          <a:blip r:embed="rId1"/>
          <a:stretch>
            <a:fillRect/>
          </a:stretch>
        </p:blipFill>
        <p:spPr>
          <a:xfrm>
            <a:off x="10744200" y="365760"/>
            <a:ext cx="896112" cy="434340"/>
          </a:xfrm>
          <a:prstGeom prst="rect">
            <a:avLst/>
          </a:prstGeom>
        </p:spPr>
      </p:pic>
      <p:sp>
        <p:nvSpPr>
          <p:cNvPr id="5" name="Text 2"/>
          <p:cNvSpPr txBox="1"/>
          <p:nvPr/>
        </p:nvSpPr>
        <p:spPr>
          <a:xfrm>
            <a:off x="548640" y="6428232"/>
            <a:ext cx="6400800" cy="228600"/>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Secure UART Communication System  ·  NTI Digital Design Project</a:t>
            </a:r>
            <a:endParaRPr lang="en-US" sz="1000" dirty="0"/>
          </a:p>
        </p:txBody>
      </p:sp>
      <p:sp>
        <p:nvSpPr>
          <p:cNvPr id="6" name="Text 3"/>
          <p:cNvSpPr txBox="1"/>
          <p:nvPr/>
        </p:nvSpPr>
        <p:spPr>
          <a:xfrm>
            <a:off x="548640" y="1417320"/>
            <a:ext cx="3566160" cy="274320"/>
          </a:xfrm>
          <a:prstGeom prst="rect">
            <a:avLst/>
          </a:prstGeom>
          <a:noFill/>
          <a:ln/>
        </p:spPr>
        <p:txBody>
          <a:bodyPr wrap="square" lIns="0" tIns="0" rIns="0" bIns="0" rtlCol="0" anchor="t"/>
          <a:lstStyle/>
          <a:p>
            <a:pPr indent="0" marL="0">
              <a:buNone/>
            </a:pPr>
            <a:r>
              <a:rPr lang="en-US" sz="1200" b="1" spc="300" kern="0" dirty="0">
                <a:solidFill>
                  <a:srgbClr val="FF5757"/>
                </a:solidFill>
                <a:latin typeface="Arial" pitchFamily="34" charset="0"/>
                <a:ea typeface="Arial" pitchFamily="34" charset="-122"/>
                <a:cs typeface="Arial" pitchFamily="34" charset="-120"/>
              </a:rPr>
              <a:t>CHALLENGE</a:t>
            </a:r>
            <a:endParaRPr lang="en-US" sz="1200" dirty="0"/>
          </a:p>
        </p:txBody>
      </p:sp>
      <p:sp>
        <p:nvSpPr>
          <p:cNvPr id="7" name="Text 4"/>
          <p:cNvSpPr txBox="1"/>
          <p:nvPr/>
        </p:nvSpPr>
        <p:spPr>
          <a:xfrm>
            <a:off x="4343400" y="1417320"/>
            <a:ext cx="4023360" cy="274320"/>
          </a:xfrm>
          <a:prstGeom prst="rect">
            <a:avLst/>
          </a:prstGeom>
          <a:noFill/>
          <a:ln/>
        </p:spPr>
        <p:txBody>
          <a:bodyPr wrap="square" lIns="0" tIns="0" rIns="0" bIns="0" rtlCol="0" anchor="t"/>
          <a:lstStyle/>
          <a:p>
            <a:pPr indent="0" marL="0">
              <a:buNone/>
            </a:pPr>
            <a:r>
              <a:rPr lang="en-US" sz="1200" b="1" spc="300" kern="0" dirty="0">
                <a:solidFill>
                  <a:srgbClr val="004AAD"/>
                </a:solidFill>
                <a:latin typeface="Arial" pitchFamily="34" charset="0"/>
                <a:ea typeface="Arial" pitchFamily="34" charset="-122"/>
                <a:cs typeface="Arial" pitchFamily="34" charset="-120"/>
              </a:rPr>
              <a:t>OUR APPROACH</a:t>
            </a:r>
            <a:endParaRPr lang="en-US" sz="1200" dirty="0"/>
          </a:p>
        </p:txBody>
      </p:sp>
      <p:sp>
        <p:nvSpPr>
          <p:cNvPr id="8" name="Text 5"/>
          <p:cNvSpPr txBox="1"/>
          <p:nvPr/>
        </p:nvSpPr>
        <p:spPr>
          <a:xfrm>
            <a:off x="8595360" y="1417320"/>
            <a:ext cx="3044952" cy="274320"/>
          </a:xfrm>
          <a:prstGeom prst="rect">
            <a:avLst/>
          </a:prstGeom>
          <a:noFill/>
          <a:ln/>
        </p:spPr>
        <p:txBody>
          <a:bodyPr wrap="square" lIns="0" tIns="0" rIns="0" bIns="0" rtlCol="0" anchor="t"/>
          <a:lstStyle/>
          <a:p>
            <a:pPr indent="0" marL="0">
              <a:buNone/>
            </a:pPr>
            <a:r>
              <a:rPr lang="en-US" sz="1200" b="1" spc="300" kern="0" dirty="0">
                <a:solidFill>
                  <a:srgbClr val="1E9E63"/>
                </a:solidFill>
                <a:latin typeface="Arial" pitchFamily="34" charset="0"/>
                <a:ea typeface="Arial" pitchFamily="34" charset="-122"/>
                <a:cs typeface="Arial" pitchFamily="34" charset="-120"/>
              </a:rPr>
              <a:t>RESULT</a:t>
            </a:r>
            <a:endParaRPr lang="en-US" sz="1200" dirty="0"/>
          </a:p>
        </p:txBody>
      </p:sp>
      <p:sp>
        <p:nvSpPr>
          <p:cNvPr id="9" name="Shape 6"/>
          <p:cNvSpPr/>
          <p:nvPr/>
        </p:nvSpPr>
        <p:spPr>
          <a:xfrm>
            <a:off x="548640" y="1783080"/>
            <a:ext cx="3566160" cy="1371600"/>
          </a:xfrm>
          <a:prstGeom prst="roundRect">
            <a:avLst>
              <a:gd name="adj" fmla="val 8000"/>
            </a:avLst>
          </a:prstGeom>
          <a:solidFill>
            <a:srgbClr val="FFEDED"/>
          </a:solidFill>
          <a:ln w="12700">
            <a:solidFill>
              <a:srgbClr val="FFEDED"/>
            </a:solidFill>
            <a:prstDash val="solid"/>
          </a:ln>
        </p:spPr>
      </p:sp>
      <p:sp>
        <p:nvSpPr>
          <p:cNvPr id="10" name="Shape 7"/>
          <p:cNvSpPr/>
          <p:nvPr/>
        </p:nvSpPr>
        <p:spPr>
          <a:xfrm>
            <a:off x="731520" y="1965960"/>
            <a:ext cx="457200" cy="457200"/>
          </a:xfrm>
          <a:prstGeom prst="ellipse">
            <a:avLst/>
          </a:prstGeom>
          <a:solidFill>
            <a:srgbClr val="FF5757"/>
          </a:solidFill>
          <a:ln w="12700">
            <a:solidFill>
              <a:srgbClr val="FF5757"/>
            </a:solidFill>
            <a:prstDash val="solid"/>
          </a:ln>
        </p:spPr>
      </p:sp>
      <p:pic>
        <p:nvPicPr>
          <p:cNvPr id="11" name="Image 1" descr="preencoded.png">    </p:cNvPr>
          <p:cNvPicPr>
            <a:picLocks noChangeAspect="1"/>
          </p:cNvPicPr>
          <p:nvPr/>
        </p:nvPicPr>
        <p:blipFill>
          <a:blip r:embed="rId2"/>
          <a:stretch>
            <a:fillRect/>
          </a:stretch>
        </p:blipFill>
        <p:spPr>
          <a:xfrm>
            <a:off x="850392" y="2084832"/>
            <a:ext cx="219456" cy="219456"/>
          </a:xfrm>
          <a:prstGeom prst="rect">
            <a:avLst/>
          </a:prstGeom>
        </p:spPr>
      </p:pic>
      <p:sp>
        <p:nvSpPr>
          <p:cNvPr id="12" name="Text 8"/>
          <p:cNvSpPr txBox="1"/>
          <p:nvPr/>
        </p:nvSpPr>
        <p:spPr>
          <a:xfrm>
            <a:off x="1325880" y="1965960"/>
            <a:ext cx="2651760" cy="457200"/>
          </a:xfrm>
          <a:prstGeom prst="rect">
            <a:avLst/>
          </a:prstGeom>
          <a:noFill/>
          <a:ln/>
        </p:spPr>
        <p:txBody>
          <a:bodyPr wrap="square" lIns="0" tIns="0" rIns="0" bIns="0" rtlCol="0" anchor="ctr"/>
          <a:lstStyle/>
          <a:p>
            <a:pPr indent="0" marL="0">
              <a:buNone/>
            </a:pPr>
            <a:r>
              <a:rPr lang="en-US" sz="1400" b="1" dirty="0">
                <a:solidFill>
                  <a:srgbClr val="0B1F44"/>
                </a:solidFill>
                <a:latin typeface="Arial" pitchFamily="34" charset="0"/>
                <a:ea typeface="Arial" pitchFamily="34" charset="-122"/>
                <a:cs typeface="Arial" pitchFamily="34" charset="-120"/>
              </a:rPr>
              <a:t>Ambiguous CRC variant</a:t>
            </a:r>
            <a:endParaRPr lang="en-US" sz="1400" dirty="0"/>
          </a:p>
        </p:txBody>
      </p:sp>
      <p:sp>
        <p:nvSpPr>
          <p:cNvPr id="13" name="Text 9"/>
          <p:cNvSpPr txBox="1"/>
          <p:nvPr/>
        </p:nvSpPr>
        <p:spPr>
          <a:xfrm>
            <a:off x="731520" y="2496312"/>
            <a:ext cx="3200400" cy="640080"/>
          </a:xfrm>
          <a:prstGeom prst="rect">
            <a:avLst/>
          </a:prstGeom>
          <a:noFill/>
          <a:ln/>
        </p:spPr>
        <p:txBody>
          <a:bodyPr wrap="square" lIns="0" tIns="0" rIns="0" bIns="0" rtlCol="0" anchor="t"/>
          <a:lstStyle/>
          <a:p>
            <a:pPr indent="0" marL="0">
              <a:buNone/>
            </a:pPr>
            <a:r>
              <a:rPr lang="en-US" sz="1200" dirty="0">
                <a:solidFill>
                  <a:srgbClr val="1B2333"/>
                </a:solidFill>
                <a:latin typeface="Arial" pitchFamily="34" charset="0"/>
                <a:ea typeface="Arial" pitchFamily="34" charset="-122"/>
                <a:cs typeface="Arial" pitchFamily="34" charset="-120"/>
              </a:rPr>
              <a:t>CRC-16/XMODEM and CRC-16/CCITT-FALSE share the polynomial and differ only in the initial value.</a:t>
            </a:r>
            <a:endParaRPr lang="en-US" sz="1200" dirty="0"/>
          </a:p>
        </p:txBody>
      </p:sp>
      <p:pic>
        <p:nvPicPr>
          <p:cNvPr id="14" name="Image 2" descr="preencoded.png">    </p:cNvPr>
          <p:cNvPicPr>
            <a:picLocks noChangeAspect="1"/>
          </p:cNvPicPr>
          <p:nvPr/>
        </p:nvPicPr>
        <p:blipFill>
          <a:blip r:embed="rId3"/>
          <a:stretch>
            <a:fillRect/>
          </a:stretch>
        </p:blipFill>
        <p:spPr>
          <a:xfrm>
            <a:off x="4142232" y="2377440"/>
            <a:ext cx="182880" cy="182880"/>
          </a:xfrm>
          <a:prstGeom prst="rect">
            <a:avLst/>
          </a:prstGeom>
        </p:spPr>
      </p:pic>
      <p:sp>
        <p:nvSpPr>
          <p:cNvPr id="15" name="Shape 10"/>
          <p:cNvSpPr/>
          <p:nvPr/>
        </p:nvSpPr>
        <p:spPr>
          <a:xfrm>
            <a:off x="4343400" y="1783080"/>
            <a:ext cx="4023360" cy="1371600"/>
          </a:xfrm>
          <a:prstGeom prst="roundRect">
            <a:avLst>
              <a:gd name="adj" fmla="val 8000"/>
            </a:avLst>
          </a:prstGeom>
          <a:solidFill>
            <a:srgbClr val="EAF1FB"/>
          </a:solidFill>
          <a:ln w="12700">
            <a:solidFill>
              <a:srgbClr val="EAF1FB"/>
            </a:solidFill>
            <a:prstDash val="solid"/>
          </a:ln>
        </p:spPr>
      </p:sp>
      <p:sp>
        <p:nvSpPr>
          <p:cNvPr id="16" name="Text 11"/>
          <p:cNvSpPr txBox="1"/>
          <p:nvPr/>
        </p:nvSpPr>
        <p:spPr>
          <a:xfrm>
            <a:off x="4572000" y="1920240"/>
            <a:ext cx="3566160" cy="1097280"/>
          </a:xfrm>
          <a:prstGeom prst="rect">
            <a:avLst/>
          </a:prstGeom>
          <a:noFill/>
          <a:ln/>
        </p:spPr>
        <p:txBody>
          <a:bodyPr wrap="square" lIns="0" tIns="0" rIns="0" bIns="0" rtlCol="0" anchor="ctr"/>
          <a:lstStyle/>
          <a:p>
            <a:pPr indent="0" marL="0">
              <a:buNone/>
            </a:pPr>
            <a:r>
              <a:rPr lang="en-US" sz="1250" dirty="0">
                <a:solidFill>
                  <a:srgbClr val="1B2333"/>
                </a:solidFill>
                <a:latin typeface="Arial" pitchFamily="34" charset="0"/>
                <a:ea typeface="Arial" pitchFamily="34" charset="-122"/>
                <a:cs typeface="Arial" pitchFamily="34" charset="-120"/>
              </a:rPr>
              <a:t>Fixed the exact parameters: poly 0x1021, init 0x0000, no reflection, XorOut 0. Checked against the standard string "123456789".</a:t>
            </a:r>
            <a:endParaRPr lang="en-US" sz="1250" dirty="0"/>
          </a:p>
        </p:txBody>
      </p:sp>
      <p:pic>
        <p:nvPicPr>
          <p:cNvPr id="17" name="Image 3" descr="preencoded.png">    </p:cNvPr>
          <p:cNvPicPr>
            <a:picLocks noChangeAspect="1"/>
          </p:cNvPicPr>
          <p:nvPr/>
        </p:nvPicPr>
        <p:blipFill>
          <a:blip r:embed="rId4"/>
          <a:stretch>
            <a:fillRect/>
          </a:stretch>
        </p:blipFill>
        <p:spPr>
          <a:xfrm>
            <a:off x="8394192" y="2377440"/>
            <a:ext cx="182880" cy="182880"/>
          </a:xfrm>
          <a:prstGeom prst="rect">
            <a:avLst/>
          </a:prstGeom>
        </p:spPr>
      </p:pic>
      <p:sp>
        <p:nvSpPr>
          <p:cNvPr id="18" name="Shape 12"/>
          <p:cNvSpPr/>
          <p:nvPr/>
        </p:nvSpPr>
        <p:spPr>
          <a:xfrm>
            <a:off x="8595360" y="1783080"/>
            <a:ext cx="3044952" cy="1371600"/>
          </a:xfrm>
          <a:prstGeom prst="roundRect">
            <a:avLst>
              <a:gd name="adj" fmla="val 8000"/>
            </a:avLst>
          </a:prstGeom>
          <a:solidFill>
            <a:srgbClr val="E6F6EE"/>
          </a:solidFill>
          <a:ln w="12700">
            <a:solidFill>
              <a:srgbClr val="E6F6EE"/>
            </a:solidFill>
            <a:prstDash val="solid"/>
          </a:ln>
        </p:spPr>
      </p:sp>
      <p:pic>
        <p:nvPicPr>
          <p:cNvPr id="19" name="Image 4" descr="preencoded.png">    </p:cNvPr>
          <p:cNvPicPr>
            <a:picLocks noChangeAspect="1"/>
          </p:cNvPicPr>
          <p:nvPr/>
        </p:nvPicPr>
        <p:blipFill>
          <a:blip r:embed="rId5"/>
          <a:stretch>
            <a:fillRect/>
          </a:stretch>
        </p:blipFill>
        <p:spPr>
          <a:xfrm>
            <a:off x="8778240" y="1984248"/>
            <a:ext cx="274320" cy="274320"/>
          </a:xfrm>
          <a:prstGeom prst="rect">
            <a:avLst/>
          </a:prstGeom>
        </p:spPr>
      </p:pic>
      <p:sp>
        <p:nvSpPr>
          <p:cNvPr id="20" name="Text 13"/>
          <p:cNvSpPr txBox="1"/>
          <p:nvPr/>
        </p:nvSpPr>
        <p:spPr>
          <a:xfrm>
            <a:off x="9162288" y="1920240"/>
            <a:ext cx="2313432" cy="1097280"/>
          </a:xfrm>
          <a:prstGeom prst="rect">
            <a:avLst/>
          </a:prstGeom>
          <a:noFill/>
          <a:ln/>
        </p:spPr>
        <p:txBody>
          <a:bodyPr wrap="square" lIns="0" tIns="0" rIns="0" bIns="0" rtlCol="0" anchor="ctr"/>
          <a:lstStyle/>
          <a:p>
            <a:pPr indent="0" marL="0">
              <a:buNone/>
            </a:pPr>
            <a:r>
              <a:rPr lang="en-US" sz="1250" dirty="0">
                <a:solidFill>
                  <a:srgbClr val="1B2333"/>
                </a:solidFill>
                <a:latin typeface="Arial" pitchFamily="34" charset="0"/>
                <a:ea typeface="Arial" pitchFamily="34" charset="-122"/>
                <a:cs typeface="Arial" pitchFamily="34" charset="-120"/>
              </a:rPr>
              <a:t>RTL returns 0x31C3, plus 0x1248 and 0x8169 on two more vectors. All match.</a:t>
            </a:r>
            <a:endParaRPr lang="en-US" sz="1250" dirty="0"/>
          </a:p>
        </p:txBody>
      </p:sp>
      <p:sp>
        <p:nvSpPr>
          <p:cNvPr id="21" name="Shape 14"/>
          <p:cNvSpPr/>
          <p:nvPr/>
        </p:nvSpPr>
        <p:spPr>
          <a:xfrm>
            <a:off x="548640" y="3291840"/>
            <a:ext cx="3566160" cy="1371600"/>
          </a:xfrm>
          <a:prstGeom prst="roundRect">
            <a:avLst>
              <a:gd name="adj" fmla="val 8000"/>
            </a:avLst>
          </a:prstGeom>
          <a:solidFill>
            <a:srgbClr val="FFEDED"/>
          </a:solidFill>
          <a:ln w="12700">
            <a:solidFill>
              <a:srgbClr val="FFEDED"/>
            </a:solidFill>
            <a:prstDash val="solid"/>
          </a:ln>
        </p:spPr>
      </p:sp>
      <p:sp>
        <p:nvSpPr>
          <p:cNvPr id="22" name="Shape 15"/>
          <p:cNvSpPr/>
          <p:nvPr/>
        </p:nvSpPr>
        <p:spPr>
          <a:xfrm>
            <a:off x="731520" y="3474720"/>
            <a:ext cx="457200" cy="457200"/>
          </a:xfrm>
          <a:prstGeom prst="ellipse">
            <a:avLst/>
          </a:prstGeom>
          <a:solidFill>
            <a:srgbClr val="FF5757"/>
          </a:solidFill>
          <a:ln w="12700">
            <a:solidFill>
              <a:srgbClr val="FF5757"/>
            </a:solidFill>
            <a:prstDash val="solid"/>
          </a:ln>
        </p:spPr>
      </p:sp>
      <p:pic>
        <p:nvPicPr>
          <p:cNvPr id="23" name="Image 5" descr="preencoded.png">    </p:cNvPr>
          <p:cNvPicPr>
            <a:picLocks noChangeAspect="1"/>
          </p:cNvPicPr>
          <p:nvPr/>
        </p:nvPicPr>
        <p:blipFill>
          <a:blip r:embed="rId6"/>
          <a:stretch>
            <a:fillRect/>
          </a:stretch>
        </p:blipFill>
        <p:spPr>
          <a:xfrm>
            <a:off x="850392" y="3593592"/>
            <a:ext cx="219456" cy="219456"/>
          </a:xfrm>
          <a:prstGeom prst="rect">
            <a:avLst/>
          </a:prstGeom>
        </p:spPr>
      </p:pic>
      <p:sp>
        <p:nvSpPr>
          <p:cNvPr id="24" name="Text 16"/>
          <p:cNvSpPr txBox="1"/>
          <p:nvPr/>
        </p:nvSpPr>
        <p:spPr>
          <a:xfrm>
            <a:off x="1325880" y="3474720"/>
            <a:ext cx="2651760" cy="457200"/>
          </a:xfrm>
          <a:prstGeom prst="rect">
            <a:avLst/>
          </a:prstGeom>
          <a:noFill/>
          <a:ln/>
        </p:spPr>
        <p:txBody>
          <a:bodyPr wrap="square" lIns="0" tIns="0" rIns="0" bIns="0" rtlCol="0" anchor="ctr"/>
          <a:lstStyle/>
          <a:p>
            <a:pPr indent="0" marL="0">
              <a:buNone/>
            </a:pPr>
            <a:r>
              <a:rPr lang="en-US" sz="1400" b="1" dirty="0">
                <a:solidFill>
                  <a:srgbClr val="0B1F44"/>
                </a:solidFill>
                <a:latin typeface="Arial" pitchFamily="34" charset="0"/>
                <a:ea typeface="Arial" pitchFamily="34" charset="-122"/>
                <a:cs typeface="Arial" pitchFamily="34" charset="-120"/>
              </a:rPr>
              <a:t>CRC restarts on its own</a:t>
            </a:r>
            <a:endParaRPr lang="en-US" sz="1400" dirty="0"/>
          </a:p>
        </p:txBody>
      </p:sp>
      <p:sp>
        <p:nvSpPr>
          <p:cNvPr id="25" name="Text 17"/>
          <p:cNvSpPr txBox="1"/>
          <p:nvPr/>
        </p:nvSpPr>
        <p:spPr>
          <a:xfrm>
            <a:off x="731520" y="4005072"/>
            <a:ext cx="3200400" cy="640080"/>
          </a:xfrm>
          <a:prstGeom prst="rect">
            <a:avLst/>
          </a:prstGeom>
          <a:noFill/>
          <a:ln/>
        </p:spPr>
        <p:txBody>
          <a:bodyPr wrap="square" lIns="0" tIns="0" rIns="0" bIns="0" rtlCol="0" anchor="t"/>
          <a:lstStyle/>
          <a:p>
            <a:pPr indent="0" marL="0">
              <a:buNone/>
            </a:pPr>
            <a:r>
              <a:rPr lang="en-US" sz="1200" dirty="0">
                <a:solidFill>
                  <a:srgbClr val="1B2333"/>
                </a:solidFill>
                <a:latin typeface="Arial" pitchFamily="34" charset="0"/>
                <a:ea typeface="Arial" pitchFamily="34" charset="-122"/>
                <a:cs typeface="Arial" pitchFamily="34" charset="-120"/>
              </a:rPr>
              <a:t>The CRC engine starts by itself whenever busy is low, so input and result timing in the testbench matters.</a:t>
            </a:r>
            <a:endParaRPr lang="en-US" sz="1200" dirty="0"/>
          </a:p>
        </p:txBody>
      </p:sp>
      <p:pic>
        <p:nvPicPr>
          <p:cNvPr id="26" name="Image 6" descr="preencoded.png">    </p:cNvPr>
          <p:cNvPicPr>
            <a:picLocks noChangeAspect="1"/>
          </p:cNvPicPr>
          <p:nvPr/>
        </p:nvPicPr>
        <p:blipFill>
          <a:blip r:embed="rId7"/>
          <a:stretch>
            <a:fillRect/>
          </a:stretch>
        </p:blipFill>
        <p:spPr>
          <a:xfrm>
            <a:off x="4142232" y="3886200"/>
            <a:ext cx="182880" cy="182880"/>
          </a:xfrm>
          <a:prstGeom prst="rect">
            <a:avLst/>
          </a:prstGeom>
        </p:spPr>
      </p:pic>
      <p:sp>
        <p:nvSpPr>
          <p:cNvPr id="27" name="Shape 18"/>
          <p:cNvSpPr/>
          <p:nvPr/>
        </p:nvSpPr>
        <p:spPr>
          <a:xfrm>
            <a:off x="4343400" y="3291840"/>
            <a:ext cx="4023360" cy="1371600"/>
          </a:xfrm>
          <a:prstGeom prst="roundRect">
            <a:avLst>
              <a:gd name="adj" fmla="val 8000"/>
            </a:avLst>
          </a:prstGeom>
          <a:solidFill>
            <a:srgbClr val="EAF1FB"/>
          </a:solidFill>
          <a:ln w="12700">
            <a:solidFill>
              <a:srgbClr val="EAF1FB"/>
            </a:solidFill>
            <a:prstDash val="solid"/>
          </a:ln>
        </p:spPr>
      </p:sp>
      <p:sp>
        <p:nvSpPr>
          <p:cNvPr id="28" name="Text 19"/>
          <p:cNvSpPr txBox="1"/>
          <p:nvPr/>
        </p:nvSpPr>
        <p:spPr>
          <a:xfrm>
            <a:off x="4572000" y="3429000"/>
            <a:ext cx="3566160" cy="1097280"/>
          </a:xfrm>
          <a:prstGeom prst="rect">
            <a:avLst/>
          </a:prstGeom>
          <a:noFill/>
          <a:ln/>
        </p:spPr>
        <p:txBody>
          <a:bodyPr wrap="square" lIns="0" tIns="0" rIns="0" bIns="0" rtlCol="0" anchor="ctr"/>
          <a:lstStyle/>
          <a:p>
            <a:pPr indent="0" marL="0">
              <a:buNone/>
            </a:pPr>
            <a:r>
              <a:rPr lang="en-US" sz="1250" dirty="0">
                <a:solidFill>
                  <a:srgbClr val="1B2333"/>
                </a:solidFill>
                <a:latin typeface="Arial" pitchFamily="34" charset="0"/>
                <a:ea typeface="Arial" pitchFamily="34" charset="-122"/>
                <a:cs typeface="Arial" pitchFamily="34" charset="-120"/>
              </a:rPr>
              <a:t>The testbench waits for idle before applying input, then waits for done before comparing data_with_crc[15:0].</a:t>
            </a:r>
            <a:endParaRPr lang="en-US" sz="1250" dirty="0"/>
          </a:p>
        </p:txBody>
      </p:sp>
      <p:pic>
        <p:nvPicPr>
          <p:cNvPr id="29" name="Image 7" descr="preencoded.png">    </p:cNvPr>
          <p:cNvPicPr>
            <a:picLocks noChangeAspect="1"/>
          </p:cNvPicPr>
          <p:nvPr/>
        </p:nvPicPr>
        <p:blipFill>
          <a:blip r:embed="rId8"/>
          <a:stretch>
            <a:fillRect/>
          </a:stretch>
        </p:blipFill>
        <p:spPr>
          <a:xfrm>
            <a:off x="8394192" y="3886200"/>
            <a:ext cx="182880" cy="182880"/>
          </a:xfrm>
          <a:prstGeom prst="rect">
            <a:avLst/>
          </a:prstGeom>
        </p:spPr>
      </p:pic>
      <p:sp>
        <p:nvSpPr>
          <p:cNvPr id="30" name="Shape 20"/>
          <p:cNvSpPr/>
          <p:nvPr/>
        </p:nvSpPr>
        <p:spPr>
          <a:xfrm>
            <a:off x="8595360" y="3291840"/>
            <a:ext cx="3044952" cy="1371600"/>
          </a:xfrm>
          <a:prstGeom prst="roundRect">
            <a:avLst>
              <a:gd name="adj" fmla="val 8000"/>
            </a:avLst>
          </a:prstGeom>
          <a:solidFill>
            <a:srgbClr val="E6F6EE"/>
          </a:solidFill>
          <a:ln w="12700">
            <a:solidFill>
              <a:srgbClr val="E6F6EE"/>
            </a:solidFill>
            <a:prstDash val="solid"/>
          </a:ln>
        </p:spPr>
      </p:sp>
      <p:pic>
        <p:nvPicPr>
          <p:cNvPr id="31" name="Image 8" descr="preencoded.png">    </p:cNvPr>
          <p:cNvPicPr>
            <a:picLocks noChangeAspect="1"/>
          </p:cNvPicPr>
          <p:nvPr/>
        </p:nvPicPr>
        <p:blipFill>
          <a:blip r:embed="rId9"/>
          <a:stretch>
            <a:fillRect/>
          </a:stretch>
        </p:blipFill>
        <p:spPr>
          <a:xfrm>
            <a:off x="8778240" y="3493008"/>
            <a:ext cx="274320" cy="274320"/>
          </a:xfrm>
          <a:prstGeom prst="rect">
            <a:avLst/>
          </a:prstGeom>
        </p:spPr>
      </p:pic>
      <p:sp>
        <p:nvSpPr>
          <p:cNvPr id="32" name="Text 21"/>
          <p:cNvSpPr txBox="1"/>
          <p:nvPr/>
        </p:nvSpPr>
        <p:spPr>
          <a:xfrm>
            <a:off x="9162288" y="3429000"/>
            <a:ext cx="2313432" cy="1097280"/>
          </a:xfrm>
          <a:prstGeom prst="rect">
            <a:avLst/>
          </a:prstGeom>
          <a:noFill/>
          <a:ln/>
        </p:spPr>
        <p:txBody>
          <a:bodyPr wrap="square" lIns="0" tIns="0" rIns="0" bIns="0" rtlCol="0" anchor="ctr"/>
          <a:lstStyle/>
          <a:p>
            <a:pPr indent="0" marL="0">
              <a:buNone/>
            </a:pPr>
            <a:r>
              <a:rPr lang="en-US" sz="1250" dirty="0">
                <a:solidFill>
                  <a:srgbClr val="1B2333"/>
                </a:solidFill>
                <a:latin typeface="Arial" pitchFamily="34" charset="0"/>
                <a:ea typeface="Arial" pitchFamily="34" charset="-122"/>
                <a:cs typeface="Arial" pitchFamily="34" charset="-120"/>
              </a:rPr>
              <a:t>Repeatable checks: counter reaches 128, done rises, busy falls.</a:t>
            </a:r>
            <a:endParaRPr lang="en-US" sz="1250" dirty="0"/>
          </a:p>
        </p:txBody>
      </p:sp>
      <p:sp>
        <p:nvSpPr>
          <p:cNvPr id="33" name="Shape 22"/>
          <p:cNvSpPr/>
          <p:nvPr/>
        </p:nvSpPr>
        <p:spPr>
          <a:xfrm>
            <a:off x="548640" y="4800600"/>
            <a:ext cx="3566160" cy="1371600"/>
          </a:xfrm>
          <a:prstGeom prst="roundRect">
            <a:avLst>
              <a:gd name="adj" fmla="val 8000"/>
            </a:avLst>
          </a:prstGeom>
          <a:solidFill>
            <a:srgbClr val="FFEDED"/>
          </a:solidFill>
          <a:ln w="12700">
            <a:solidFill>
              <a:srgbClr val="FFEDED"/>
            </a:solidFill>
            <a:prstDash val="solid"/>
          </a:ln>
        </p:spPr>
      </p:sp>
      <p:sp>
        <p:nvSpPr>
          <p:cNvPr id="34" name="Shape 23"/>
          <p:cNvSpPr/>
          <p:nvPr/>
        </p:nvSpPr>
        <p:spPr>
          <a:xfrm>
            <a:off x="731520" y="4983480"/>
            <a:ext cx="457200" cy="457200"/>
          </a:xfrm>
          <a:prstGeom prst="ellipse">
            <a:avLst/>
          </a:prstGeom>
          <a:solidFill>
            <a:srgbClr val="FF5757"/>
          </a:solidFill>
          <a:ln w="12700">
            <a:solidFill>
              <a:srgbClr val="FF5757"/>
            </a:solidFill>
            <a:prstDash val="solid"/>
          </a:ln>
        </p:spPr>
      </p:sp>
      <p:pic>
        <p:nvPicPr>
          <p:cNvPr id="35" name="Image 9" descr="preencoded.png">    </p:cNvPr>
          <p:cNvPicPr>
            <a:picLocks noChangeAspect="1"/>
          </p:cNvPicPr>
          <p:nvPr/>
        </p:nvPicPr>
        <p:blipFill>
          <a:blip r:embed="rId10"/>
          <a:stretch>
            <a:fillRect/>
          </a:stretch>
        </p:blipFill>
        <p:spPr>
          <a:xfrm>
            <a:off x="850392" y="5102352"/>
            <a:ext cx="219456" cy="219456"/>
          </a:xfrm>
          <a:prstGeom prst="rect">
            <a:avLst/>
          </a:prstGeom>
        </p:spPr>
      </p:pic>
      <p:sp>
        <p:nvSpPr>
          <p:cNvPr id="36" name="Text 24"/>
          <p:cNvSpPr txBox="1"/>
          <p:nvPr/>
        </p:nvSpPr>
        <p:spPr>
          <a:xfrm>
            <a:off x="1325880" y="4983480"/>
            <a:ext cx="2651760" cy="457200"/>
          </a:xfrm>
          <a:prstGeom prst="rect">
            <a:avLst/>
          </a:prstGeom>
          <a:noFill/>
          <a:ln/>
        </p:spPr>
        <p:txBody>
          <a:bodyPr wrap="square" lIns="0" tIns="0" rIns="0" bIns="0" rtlCol="0" anchor="ctr"/>
          <a:lstStyle/>
          <a:p>
            <a:pPr indent="0" marL="0">
              <a:buNone/>
            </a:pPr>
            <a:r>
              <a:rPr lang="en-US" sz="1400" b="1" dirty="0">
                <a:solidFill>
                  <a:srgbClr val="0B1F44"/>
                </a:solidFill>
                <a:latin typeface="Arial" pitchFamily="34" charset="0"/>
                <a:ea typeface="Arial" pitchFamily="34" charset="-122"/>
                <a:cs typeface="Arial" pitchFamily="34" charset="-120"/>
              </a:rPr>
              <a:t>AES area versus latency</a:t>
            </a:r>
            <a:endParaRPr lang="en-US" sz="1400" dirty="0"/>
          </a:p>
        </p:txBody>
      </p:sp>
      <p:sp>
        <p:nvSpPr>
          <p:cNvPr id="37" name="Text 25"/>
          <p:cNvSpPr txBox="1"/>
          <p:nvPr/>
        </p:nvSpPr>
        <p:spPr>
          <a:xfrm>
            <a:off x="731520" y="5513832"/>
            <a:ext cx="3200400" cy="640080"/>
          </a:xfrm>
          <a:prstGeom prst="rect">
            <a:avLst/>
          </a:prstGeom>
          <a:noFill/>
          <a:ln/>
        </p:spPr>
        <p:txBody>
          <a:bodyPr wrap="square" lIns="0" tIns="0" rIns="0" bIns="0" rtlCol="0" anchor="t"/>
          <a:lstStyle/>
          <a:p>
            <a:pPr indent="0" marL="0">
              <a:buNone/>
            </a:pPr>
            <a:r>
              <a:rPr lang="en-US" sz="1200" dirty="0">
                <a:solidFill>
                  <a:srgbClr val="1B2333"/>
                </a:solidFill>
                <a:latin typeface="Arial" pitchFamily="34" charset="0"/>
                <a:ea typeface="Arial" pitchFamily="34" charset="-122"/>
                <a:cs typeface="Arial" pitchFamily="34" charset="-120"/>
              </a:rPr>
              <a:t>A fully unrolled 10-round AES is large and has long combinational paths.</a:t>
            </a:r>
            <a:endParaRPr lang="en-US" sz="1200" dirty="0"/>
          </a:p>
        </p:txBody>
      </p:sp>
      <p:pic>
        <p:nvPicPr>
          <p:cNvPr id="38" name="Image 10" descr="preencoded.png">    </p:cNvPr>
          <p:cNvPicPr>
            <a:picLocks noChangeAspect="1"/>
          </p:cNvPicPr>
          <p:nvPr/>
        </p:nvPicPr>
        <p:blipFill>
          <a:blip r:embed="rId11"/>
          <a:stretch>
            <a:fillRect/>
          </a:stretch>
        </p:blipFill>
        <p:spPr>
          <a:xfrm>
            <a:off x="4142232" y="5394960"/>
            <a:ext cx="182880" cy="182880"/>
          </a:xfrm>
          <a:prstGeom prst="rect">
            <a:avLst/>
          </a:prstGeom>
        </p:spPr>
      </p:pic>
      <p:sp>
        <p:nvSpPr>
          <p:cNvPr id="39" name="Shape 26"/>
          <p:cNvSpPr/>
          <p:nvPr/>
        </p:nvSpPr>
        <p:spPr>
          <a:xfrm>
            <a:off x="4343400" y="4800600"/>
            <a:ext cx="4023360" cy="1371600"/>
          </a:xfrm>
          <a:prstGeom prst="roundRect">
            <a:avLst>
              <a:gd name="adj" fmla="val 8000"/>
            </a:avLst>
          </a:prstGeom>
          <a:solidFill>
            <a:srgbClr val="EAF1FB"/>
          </a:solidFill>
          <a:ln w="12700">
            <a:solidFill>
              <a:srgbClr val="EAF1FB"/>
            </a:solidFill>
            <a:prstDash val="solid"/>
          </a:ln>
        </p:spPr>
      </p:sp>
      <p:sp>
        <p:nvSpPr>
          <p:cNvPr id="40" name="Text 27"/>
          <p:cNvSpPr txBox="1"/>
          <p:nvPr/>
        </p:nvSpPr>
        <p:spPr>
          <a:xfrm>
            <a:off x="4572000" y="4937760"/>
            <a:ext cx="3566160" cy="1097280"/>
          </a:xfrm>
          <a:prstGeom prst="rect">
            <a:avLst/>
          </a:prstGeom>
          <a:noFill/>
          <a:ln/>
        </p:spPr>
        <p:txBody>
          <a:bodyPr wrap="square" lIns="0" tIns="0" rIns="0" bIns="0" rtlCol="0" anchor="ctr"/>
          <a:lstStyle/>
          <a:p>
            <a:pPr indent="0" marL="0">
              <a:buNone/>
            </a:pPr>
            <a:r>
              <a:rPr lang="en-US" sz="1250" dirty="0">
                <a:solidFill>
                  <a:srgbClr val="1B2333"/>
                </a:solidFill>
                <a:latin typeface="Arial" pitchFamily="34" charset="0"/>
                <a:ea typeface="Arial" pitchFamily="34" charset="-122"/>
                <a:cs typeface="Arial" pitchFamily="34" charset="-120"/>
              </a:rPr>
              <a:t>An iterative FSM (IDLE, LOAD, KEY_EXPANSION, rounds, DONE) that reuses one round datapath for all ten rounds.</a:t>
            </a:r>
            <a:endParaRPr lang="en-US" sz="1250" dirty="0"/>
          </a:p>
        </p:txBody>
      </p:sp>
      <p:pic>
        <p:nvPicPr>
          <p:cNvPr id="41" name="Image 11" descr="preencoded.png">    </p:cNvPr>
          <p:cNvPicPr>
            <a:picLocks noChangeAspect="1"/>
          </p:cNvPicPr>
          <p:nvPr/>
        </p:nvPicPr>
        <p:blipFill>
          <a:blip r:embed="rId12"/>
          <a:stretch>
            <a:fillRect/>
          </a:stretch>
        </p:blipFill>
        <p:spPr>
          <a:xfrm>
            <a:off x="8394192" y="5394960"/>
            <a:ext cx="182880" cy="182880"/>
          </a:xfrm>
          <a:prstGeom prst="rect">
            <a:avLst/>
          </a:prstGeom>
        </p:spPr>
      </p:pic>
      <p:sp>
        <p:nvSpPr>
          <p:cNvPr id="42" name="Shape 28"/>
          <p:cNvSpPr/>
          <p:nvPr/>
        </p:nvSpPr>
        <p:spPr>
          <a:xfrm>
            <a:off x="8595360" y="4800600"/>
            <a:ext cx="3044952" cy="1371600"/>
          </a:xfrm>
          <a:prstGeom prst="roundRect">
            <a:avLst>
              <a:gd name="adj" fmla="val 8000"/>
            </a:avLst>
          </a:prstGeom>
          <a:solidFill>
            <a:srgbClr val="E6F6EE"/>
          </a:solidFill>
          <a:ln w="12700">
            <a:solidFill>
              <a:srgbClr val="E6F6EE"/>
            </a:solidFill>
            <a:prstDash val="solid"/>
          </a:ln>
        </p:spPr>
      </p:sp>
      <p:pic>
        <p:nvPicPr>
          <p:cNvPr id="43" name="Image 12" descr="preencoded.png">    </p:cNvPr>
          <p:cNvPicPr>
            <a:picLocks noChangeAspect="1"/>
          </p:cNvPicPr>
          <p:nvPr/>
        </p:nvPicPr>
        <p:blipFill>
          <a:blip r:embed="rId13"/>
          <a:stretch>
            <a:fillRect/>
          </a:stretch>
        </p:blipFill>
        <p:spPr>
          <a:xfrm>
            <a:off x="8778240" y="5001768"/>
            <a:ext cx="274320" cy="274320"/>
          </a:xfrm>
          <a:prstGeom prst="rect">
            <a:avLst/>
          </a:prstGeom>
        </p:spPr>
      </p:pic>
      <p:sp>
        <p:nvSpPr>
          <p:cNvPr id="44" name="Text 29"/>
          <p:cNvSpPr txBox="1"/>
          <p:nvPr/>
        </p:nvSpPr>
        <p:spPr>
          <a:xfrm>
            <a:off x="9162288" y="4937760"/>
            <a:ext cx="2313432" cy="1097280"/>
          </a:xfrm>
          <a:prstGeom prst="rect">
            <a:avLst/>
          </a:prstGeom>
          <a:noFill/>
          <a:ln/>
        </p:spPr>
        <p:txBody>
          <a:bodyPr wrap="square" lIns="0" tIns="0" rIns="0" bIns="0" rtlCol="0" anchor="ctr"/>
          <a:lstStyle/>
          <a:p>
            <a:pPr indent="0" marL="0">
              <a:buNone/>
            </a:pPr>
            <a:r>
              <a:rPr lang="en-US" sz="1250" dirty="0">
                <a:solidFill>
                  <a:srgbClr val="1B2333"/>
                </a:solidFill>
                <a:latin typeface="Arial" pitchFamily="34" charset="0"/>
                <a:ea typeface="Arial" pitchFamily="34" charset="-122"/>
                <a:cs typeface="Arial" pitchFamily="34" charset="-120"/>
              </a:rPr>
              <a:t>Compact core sequenced by the FSM, with a single-cycle done at the end.</a:t>
            </a:r>
            <a:endParaRPr lang="en-US" sz="12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47472"/>
            <a:ext cx="7315200" cy="228600"/>
          </a:xfrm>
          <a:prstGeom prst="rect">
            <a:avLst/>
          </a:prstGeom>
          <a:noFill/>
          <a:ln/>
        </p:spPr>
        <p:txBody>
          <a:bodyPr wrap="square" lIns="0" tIns="0" rIns="0" bIns="0" rtlCol="0" anchor="t"/>
          <a:lstStyle/>
          <a:p>
            <a:pPr indent="0" marL="0">
              <a:buNone/>
            </a:pPr>
            <a:r>
              <a:rPr lang="en-US" sz="1200" b="1" spc="300" kern="0" dirty="0">
                <a:solidFill>
                  <a:srgbClr val="FF5757"/>
                </a:solidFill>
                <a:latin typeface="Arial" pitchFamily="34" charset="0"/>
                <a:ea typeface="Arial" pitchFamily="34" charset="-122"/>
                <a:cs typeface="Arial" pitchFamily="34" charset="-120"/>
              </a:rPr>
              <a:t>05  SUMMARY</a:t>
            </a:r>
            <a:endParaRPr lang="en-US" sz="1200" dirty="0"/>
          </a:p>
        </p:txBody>
      </p:sp>
      <p:sp>
        <p:nvSpPr>
          <p:cNvPr id="3" name="Text 1"/>
          <p:cNvSpPr txBox="1"/>
          <p:nvPr/>
        </p:nvSpPr>
        <p:spPr>
          <a:xfrm>
            <a:off x="548640" y="603504"/>
            <a:ext cx="9966960" cy="685800"/>
          </a:xfrm>
          <a:prstGeom prst="rect">
            <a:avLst/>
          </a:prstGeom>
          <a:noFill/>
          <a:ln/>
        </p:spPr>
        <p:txBody>
          <a:bodyPr wrap="square" lIns="0" tIns="0" rIns="0" bIns="0" rtlCol="0" anchor="ctr"/>
          <a:lstStyle/>
          <a:p>
            <a:pPr indent="0" marL="0">
              <a:buNone/>
            </a:pPr>
            <a:r>
              <a:rPr lang="en-US" sz="3200" b="1" dirty="0">
                <a:solidFill>
                  <a:srgbClr val="0B1F44"/>
                </a:solidFill>
                <a:latin typeface="Arial" pitchFamily="34" charset="0"/>
                <a:ea typeface="Arial" pitchFamily="34" charset="-122"/>
                <a:cs typeface="Arial" pitchFamily="34" charset="-120"/>
              </a:rPr>
              <a:t>Summary of the outcome</a:t>
            </a:r>
            <a:endParaRPr lang="en-US" sz="3200" dirty="0"/>
          </a:p>
        </p:txBody>
      </p:sp>
      <p:pic>
        <p:nvPicPr>
          <p:cNvPr id="4" name="Image 0" descr="/home/claude/assets/logo.png">    </p:cNvPr>
          <p:cNvPicPr>
            <a:picLocks noChangeAspect="1"/>
          </p:cNvPicPr>
          <p:nvPr/>
        </p:nvPicPr>
        <p:blipFill>
          <a:blip r:embed="rId1"/>
          <a:stretch>
            <a:fillRect/>
          </a:stretch>
        </p:blipFill>
        <p:spPr>
          <a:xfrm>
            <a:off x="10744200" y="365760"/>
            <a:ext cx="896112" cy="434340"/>
          </a:xfrm>
          <a:prstGeom prst="rect">
            <a:avLst/>
          </a:prstGeom>
        </p:spPr>
      </p:pic>
      <p:sp>
        <p:nvSpPr>
          <p:cNvPr id="5" name="Text 2"/>
          <p:cNvSpPr txBox="1"/>
          <p:nvPr/>
        </p:nvSpPr>
        <p:spPr>
          <a:xfrm>
            <a:off x="548640" y="6428232"/>
            <a:ext cx="6400800" cy="228600"/>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Secure UART Communication System  ·  NTI Digital Design Project</a:t>
            </a:r>
            <a:endParaRPr lang="en-US" sz="1000" dirty="0"/>
          </a:p>
        </p:txBody>
      </p:sp>
      <p:sp>
        <p:nvSpPr>
          <p:cNvPr id="6" name="Shape 3"/>
          <p:cNvSpPr/>
          <p:nvPr/>
        </p:nvSpPr>
        <p:spPr>
          <a:xfrm>
            <a:off x="548640" y="1554480"/>
            <a:ext cx="2606040" cy="1600200"/>
          </a:xfrm>
          <a:prstGeom prst="roundRect">
            <a:avLst>
              <a:gd name="adj" fmla="val 6857"/>
            </a:avLst>
          </a:prstGeom>
          <a:solidFill>
            <a:srgbClr val="004AAD"/>
          </a:solidFill>
          <a:ln w="12700">
            <a:solidFill>
              <a:srgbClr val="004AAD"/>
            </a:solidFill>
            <a:prstDash val="solid"/>
          </a:ln>
        </p:spPr>
      </p:sp>
      <p:sp>
        <p:nvSpPr>
          <p:cNvPr id="7" name="Text 4"/>
          <p:cNvSpPr txBox="1"/>
          <p:nvPr/>
        </p:nvSpPr>
        <p:spPr>
          <a:xfrm>
            <a:off x="548640" y="1719072"/>
            <a:ext cx="2606040" cy="77724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3</a:t>
            </a:r>
            <a:endParaRPr lang="en-US" sz="4000" dirty="0"/>
          </a:p>
        </p:txBody>
      </p:sp>
      <p:sp>
        <p:nvSpPr>
          <p:cNvPr id="8" name="Text 5"/>
          <p:cNvSpPr txBox="1"/>
          <p:nvPr/>
        </p:nvSpPr>
        <p:spPr>
          <a:xfrm>
            <a:off x="685800" y="2514600"/>
            <a:ext cx="2331720" cy="548640"/>
          </a:xfrm>
          <a:prstGeom prst="rect">
            <a:avLst/>
          </a:prstGeom>
          <a:noFill/>
          <a:ln/>
        </p:spPr>
        <p:txBody>
          <a:bodyPr wrap="square" lIns="0" tIns="0" rIns="0" bIns="0" rtlCol="0" anchor="t"/>
          <a:lstStyle/>
          <a:p>
            <a:pPr algn="ctr" indent="0" marL="0">
              <a:buNone/>
            </a:pPr>
            <a:r>
              <a:rPr lang="en-US" sz="1200" dirty="0">
                <a:solidFill>
                  <a:srgbClr val="FFFFFF"/>
                </a:solidFill>
                <a:latin typeface="Arial" pitchFamily="34" charset="0"/>
                <a:ea typeface="Arial" pitchFamily="34" charset="-122"/>
                <a:cs typeface="Arial" pitchFamily="34" charset="-120"/>
              </a:rPr>
              <a:t>RTL blocks: UART, AES-128, CRC-16</a:t>
            </a:r>
            <a:endParaRPr lang="en-US" sz="1200" dirty="0"/>
          </a:p>
        </p:txBody>
      </p:sp>
      <p:sp>
        <p:nvSpPr>
          <p:cNvPr id="9" name="Shape 6"/>
          <p:cNvSpPr/>
          <p:nvPr/>
        </p:nvSpPr>
        <p:spPr>
          <a:xfrm>
            <a:off x="3355848" y="1554480"/>
            <a:ext cx="2606040" cy="1600200"/>
          </a:xfrm>
          <a:prstGeom prst="roundRect">
            <a:avLst>
              <a:gd name="adj" fmla="val 6857"/>
            </a:avLst>
          </a:prstGeom>
          <a:solidFill>
            <a:srgbClr val="004AAD"/>
          </a:solidFill>
          <a:ln w="12700">
            <a:solidFill>
              <a:srgbClr val="004AAD"/>
            </a:solidFill>
            <a:prstDash val="solid"/>
          </a:ln>
        </p:spPr>
      </p:sp>
      <p:sp>
        <p:nvSpPr>
          <p:cNvPr id="10" name="Text 7"/>
          <p:cNvSpPr txBox="1"/>
          <p:nvPr/>
        </p:nvSpPr>
        <p:spPr>
          <a:xfrm>
            <a:off x="3355848" y="1719072"/>
            <a:ext cx="2606040" cy="77724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1</a:t>
            </a:r>
            <a:endParaRPr lang="en-US" sz="4000" dirty="0"/>
          </a:p>
        </p:txBody>
      </p:sp>
      <p:sp>
        <p:nvSpPr>
          <p:cNvPr id="11" name="Text 8"/>
          <p:cNvSpPr txBox="1"/>
          <p:nvPr/>
        </p:nvSpPr>
        <p:spPr>
          <a:xfrm>
            <a:off x="3493008" y="2514600"/>
            <a:ext cx="2331720" cy="548640"/>
          </a:xfrm>
          <a:prstGeom prst="rect">
            <a:avLst/>
          </a:prstGeom>
          <a:noFill/>
          <a:ln/>
        </p:spPr>
        <p:txBody>
          <a:bodyPr wrap="square" lIns="0" tIns="0" rIns="0" bIns="0" rtlCol="0" anchor="t"/>
          <a:lstStyle/>
          <a:p>
            <a:pPr algn="ctr" indent="0" marL="0">
              <a:buNone/>
            </a:pPr>
            <a:r>
              <a:rPr lang="en-US" sz="1200" dirty="0">
                <a:solidFill>
                  <a:srgbClr val="FFFFFF"/>
                </a:solidFill>
                <a:latin typeface="Arial" pitchFamily="34" charset="0"/>
                <a:ea typeface="Arial" pitchFamily="34" charset="-122"/>
                <a:cs typeface="Arial" pitchFamily="34" charset="-120"/>
              </a:rPr>
              <a:t>integrated encrypt, CRC, transmit datapath</a:t>
            </a:r>
            <a:endParaRPr lang="en-US" sz="1200" dirty="0"/>
          </a:p>
        </p:txBody>
      </p:sp>
      <p:sp>
        <p:nvSpPr>
          <p:cNvPr id="12" name="Shape 9"/>
          <p:cNvSpPr/>
          <p:nvPr/>
        </p:nvSpPr>
        <p:spPr>
          <a:xfrm>
            <a:off x="6163056" y="1554480"/>
            <a:ext cx="2606040" cy="1600200"/>
          </a:xfrm>
          <a:prstGeom prst="roundRect">
            <a:avLst>
              <a:gd name="adj" fmla="val 6857"/>
            </a:avLst>
          </a:prstGeom>
          <a:solidFill>
            <a:srgbClr val="004AAD"/>
          </a:solidFill>
          <a:ln w="12700">
            <a:solidFill>
              <a:srgbClr val="004AAD"/>
            </a:solidFill>
            <a:prstDash val="solid"/>
          </a:ln>
        </p:spPr>
      </p:sp>
      <p:sp>
        <p:nvSpPr>
          <p:cNvPr id="13" name="Text 10"/>
          <p:cNvSpPr txBox="1"/>
          <p:nvPr/>
        </p:nvSpPr>
        <p:spPr>
          <a:xfrm>
            <a:off x="6163056" y="1719072"/>
            <a:ext cx="2606040" cy="77724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18 B</a:t>
            </a:r>
            <a:endParaRPr lang="en-US" sz="4000" dirty="0"/>
          </a:p>
        </p:txBody>
      </p:sp>
      <p:sp>
        <p:nvSpPr>
          <p:cNvPr id="14" name="Text 11"/>
          <p:cNvSpPr txBox="1"/>
          <p:nvPr/>
        </p:nvSpPr>
        <p:spPr>
          <a:xfrm>
            <a:off x="6300216" y="2514600"/>
            <a:ext cx="2331720" cy="548640"/>
          </a:xfrm>
          <a:prstGeom prst="rect">
            <a:avLst/>
          </a:prstGeom>
          <a:noFill/>
          <a:ln/>
        </p:spPr>
        <p:txBody>
          <a:bodyPr wrap="square" lIns="0" tIns="0" rIns="0" bIns="0" rtlCol="0" anchor="t"/>
          <a:lstStyle/>
          <a:p>
            <a:pPr algn="ctr" indent="0" marL="0">
              <a:buNone/>
            </a:pPr>
            <a:r>
              <a:rPr lang="en-US" sz="1200" dirty="0">
                <a:solidFill>
                  <a:srgbClr val="FFFFFF"/>
                </a:solidFill>
                <a:latin typeface="Arial" pitchFamily="34" charset="0"/>
                <a:ea typeface="Arial" pitchFamily="34" charset="-122"/>
                <a:cs typeface="Arial" pitchFamily="34" charset="-120"/>
              </a:rPr>
              <a:t>protected frame: 16 ciphertext + 2 CRC</a:t>
            </a:r>
            <a:endParaRPr lang="en-US" sz="1200" dirty="0"/>
          </a:p>
        </p:txBody>
      </p:sp>
      <p:sp>
        <p:nvSpPr>
          <p:cNvPr id="15" name="Shape 12"/>
          <p:cNvSpPr/>
          <p:nvPr/>
        </p:nvSpPr>
        <p:spPr>
          <a:xfrm>
            <a:off x="8970264" y="1554480"/>
            <a:ext cx="2606040" cy="1600200"/>
          </a:xfrm>
          <a:prstGeom prst="roundRect">
            <a:avLst>
              <a:gd name="adj" fmla="val 6857"/>
            </a:avLst>
          </a:prstGeom>
          <a:solidFill>
            <a:srgbClr val="FF5757"/>
          </a:solidFill>
          <a:ln w="12700">
            <a:solidFill>
              <a:srgbClr val="FF5757"/>
            </a:solidFill>
            <a:prstDash val="solid"/>
          </a:ln>
        </p:spPr>
      </p:sp>
      <p:sp>
        <p:nvSpPr>
          <p:cNvPr id="16" name="Text 13"/>
          <p:cNvSpPr txBox="1"/>
          <p:nvPr/>
        </p:nvSpPr>
        <p:spPr>
          <a:xfrm>
            <a:off x="8970264" y="1719072"/>
            <a:ext cx="2606040" cy="77724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3 / 3</a:t>
            </a:r>
            <a:endParaRPr lang="en-US" sz="4000" dirty="0"/>
          </a:p>
        </p:txBody>
      </p:sp>
      <p:sp>
        <p:nvSpPr>
          <p:cNvPr id="17" name="Text 14"/>
          <p:cNvSpPr txBox="1"/>
          <p:nvPr/>
        </p:nvSpPr>
        <p:spPr>
          <a:xfrm>
            <a:off x="9107424" y="2514600"/>
            <a:ext cx="2331720" cy="548640"/>
          </a:xfrm>
          <a:prstGeom prst="rect">
            <a:avLst/>
          </a:prstGeom>
          <a:noFill/>
          <a:ln/>
        </p:spPr>
        <p:txBody>
          <a:bodyPr wrap="square" lIns="0" tIns="0" rIns="0" bIns="0" rtlCol="0" anchor="t"/>
          <a:lstStyle/>
          <a:p>
            <a:pPr algn="ctr" indent="0" marL="0">
              <a:buNone/>
            </a:pPr>
            <a:r>
              <a:rPr lang="en-US" sz="1200" dirty="0">
                <a:solidFill>
                  <a:srgbClr val="FFFFFF"/>
                </a:solidFill>
                <a:latin typeface="Arial" pitchFamily="34" charset="0"/>
                <a:ea typeface="Arial" pitchFamily="34" charset="-122"/>
                <a:cs typeface="Arial" pitchFamily="34" charset="-120"/>
              </a:rPr>
              <a:t>CRC vectors match, incl. 0x31C3</a:t>
            </a:r>
            <a:endParaRPr lang="en-US" sz="1200" dirty="0"/>
          </a:p>
        </p:txBody>
      </p:sp>
      <p:sp>
        <p:nvSpPr>
          <p:cNvPr id="18" name="Shape 15"/>
          <p:cNvSpPr/>
          <p:nvPr/>
        </p:nvSpPr>
        <p:spPr>
          <a:xfrm>
            <a:off x="548640" y="3429000"/>
            <a:ext cx="6766560" cy="2788920"/>
          </a:xfrm>
          <a:prstGeom prst="roundRect">
            <a:avLst>
              <a:gd name="adj" fmla="val 3934"/>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19" name="Text 16"/>
          <p:cNvSpPr txBox="1"/>
          <p:nvPr/>
        </p:nvSpPr>
        <p:spPr>
          <a:xfrm>
            <a:off x="822960" y="3566160"/>
            <a:ext cx="5943600" cy="365760"/>
          </a:xfrm>
          <a:prstGeom prst="rect">
            <a:avLst/>
          </a:prstGeom>
          <a:noFill/>
          <a:ln/>
        </p:spPr>
        <p:txBody>
          <a:bodyPr wrap="square" lIns="0" tIns="0" rIns="0" bIns="0" rtlCol="0" anchor="t"/>
          <a:lstStyle/>
          <a:p>
            <a:pPr indent="0" marL="0">
              <a:buNone/>
            </a:pPr>
            <a:r>
              <a:rPr lang="en-US" sz="1800" b="1" dirty="0">
                <a:solidFill>
                  <a:srgbClr val="0B1F44"/>
                </a:solidFill>
                <a:latin typeface="Arial" pitchFamily="34" charset="0"/>
                <a:ea typeface="Arial" pitchFamily="34" charset="-122"/>
                <a:cs typeface="Arial" pitchFamily="34" charset="-120"/>
              </a:rPr>
              <a:t>What we got</a:t>
            </a:r>
            <a:endParaRPr lang="en-US" sz="1800" dirty="0"/>
          </a:p>
        </p:txBody>
      </p:sp>
      <p:pic>
        <p:nvPicPr>
          <p:cNvPr id="20" name="Image 1" descr="preencoded.png">    </p:cNvPr>
          <p:cNvPicPr>
            <a:picLocks noChangeAspect="1"/>
          </p:cNvPicPr>
          <p:nvPr/>
        </p:nvPicPr>
        <p:blipFill>
          <a:blip r:embed="rId2"/>
          <a:stretch>
            <a:fillRect/>
          </a:stretch>
        </p:blipFill>
        <p:spPr>
          <a:xfrm>
            <a:off x="822960" y="4069080"/>
            <a:ext cx="256032" cy="256032"/>
          </a:xfrm>
          <a:prstGeom prst="rect">
            <a:avLst/>
          </a:prstGeom>
        </p:spPr>
      </p:pic>
      <p:sp>
        <p:nvSpPr>
          <p:cNvPr id="21" name="Text 17"/>
          <p:cNvSpPr txBox="1"/>
          <p:nvPr/>
        </p:nvSpPr>
        <p:spPr>
          <a:xfrm>
            <a:off x="1234440" y="4041648"/>
            <a:ext cx="5897880" cy="457200"/>
          </a:xfrm>
          <a:prstGeom prst="rect">
            <a:avLst/>
          </a:prstGeom>
          <a:noFill/>
          <a:ln/>
        </p:spPr>
        <p:txBody>
          <a:bodyPr wrap="square" lIns="0" tIns="0" rIns="0" bIns="0" rtlCol="0" anchor="t"/>
          <a:lstStyle/>
          <a:p>
            <a:pPr indent="0" marL="0">
              <a:buNone/>
            </a:pPr>
            <a:r>
              <a:rPr lang="en-US" sz="1350" dirty="0">
                <a:solidFill>
                  <a:srgbClr val="1B2333"/>
                </a:solidFill>
                <a:latin typeface="Arial" pitchFamily="34" charset="0"/>
                <a:ea typeface="Arial" pitchFamily="34" charset="-122"/>
                <a:cs typeface="Arial" pitchFamily="34" charset="-120"/>
              </a:rPr>
              <a:t>UART transmitter and receiver, 8-N-1, with a loopback testbench</a:t>
            </a:r>
            <a:endParaRPr lang="en-US" sz="1350" dirty="0"/>
          </a:p>
        </p:txBody>
      </p:sp>
      <p:pic>
        <p:nvPicPr>
          <p:cNvPr id="22" name="Image 2" descr="preencoded.png">    </p:cNvPr>
          <p:cNvPicPr>
            <a:picLocks noChangeAspect="1"/>
          </p:cNvPicPr>
          <p:nvPr/>
        </p:nvPicPr>
        <p:blipFill>
          <a:blip r:embed="rId3"/>
          <a:stretch>
            <a:fillRect/>
          </a:stretch>
        </p:blipFill>
        <p:spPr>
          <a:xfrm>
            <a:off x="822960" y="4599432"/>
            <a:ext cx="256032" cy="256032"/>
          </a:xfrm>
          <a:prstGeom prst="rect">
            <a:avLst/>
          </a:prstGeom>
        </p:spPr>
      </p:pic>
      <p:sp>
        <p:nvSpPr>
          <p:cNvPr id="23" name="Text 18"/>
          <p:cNvSpPr txBox="1"/>
          <p:nvPr/>
        </p:nvSpPr>
        <p:spPr>
          <a:xfrm>
            <a:off x="1234440" y="4572000"/>
            <a:ext cx="5897880" cy="457200"/>
          </a:xfrm>
          <a:prstGeom prst="rect">
            <a:avLst/>
          </a:prstGeom>
          <a:noFill/>
          <a:ln/>
        </p:spPr>
        <p:txBody>
          <a:bodyPr wrap="square" lIns="0" tIns="0" rIns="0" bIns="0" rtlCol="0" anchor="t"/>
          <a:lstStyle/>
          <a:p>
            <a:pPr indent="0" marL="0">
              <a:buNone/>
            </a:pPr>
            <a:r>
              <a:rPr lang="en-US" sz="1350" dirty="0">
                <a:solidFill>
                  <a:srgbClr val="1B2333"/>
                </a:solidFill>
                <a:latin typeface="Arial" pitchFamily="34" charset="0"/>
                <a:ea typeface="Arial" pitchFamily="34" charset="-122"/>
                <a:cs typeface="Arial" pitchFamily="34" charset="-120"/>
              </a:rPr>
              <a:t>Iterative AES-128 core with FSM control over 10 rounds</a:t>
            </a:r>
            <a:endParaRPr lang="en-US" sz="1350" dirty="0"/>
          </a:p>
        </p:txBody>
      </p:sp>
      <p:pic>
        <p:nvPicPr>
          <p:cNvPr id="24" name="Image 3" descr="preencoded.png">    </p:cNvPr>
          <p:cNvPicPr>
            <a:picLocks noChangeAspect="1"/>
          </p:cNvPicPr>
          <p:nvPr/>
        </p:nvPicPr>
        <p:blipFill>
          <a:blip r:embed="rId4"/>
          <a:stretch>
            <a:fillRect/>
          </a:stretch>
        </p:blipFill>
        <p:spPr>
          <a:xfrm>
            <a:off x="822960" y="5129784"/>
            <a:ext cx="256032" cy="256032"/>
          </a:xfrm>
          <a:prstGeom prst="rect">
            <a:avLst/>
          </a:prstGeom>
        </p:spPr>
      </p:pic>
      <p:sp>
        <p:nvSpPr>
          <p:cNvPr id="25" name="Text 19"/>
          <p:cNvSpPr txBox="1"/>
          <p:nvPr/>
        </p:nvSpPr>
        <p:spPr>
          <a:xfrm>
            <a:off x="1234440" y="5102352"/>
            <a:ext cx="5897880" cy="457200"/>
          </a:xfrm>
          <a:prstGeom prst="rect">
            <a:avLst/>
          </a:prstGeom>
          <a:noFill/>
          <a:ln/>
        </p:spPr>
        <p:txBody>
          <a:bodyPr wrap="square" lIns="0" tIns="0" rIns="0" bIns="0" rtlCol="0" anchor="t"/>
          <a:lstStyle/>
          <a:p>
            <a:pPr indent="0" marL="0">
              <a:buNone/>
            </a:pPr>
            <a:r>
              <a:rPr lang="en-US" sz="1350" dirty="0">
                <a:solidFill>
                  <a:srgbClr val="1B2333"/>
                </a:solidFill>
                <a:latin typeface="Arial" pitchFamily="34" charset="0"/>
                <a:ea typeface="Arial" pitchFamily="34" charset="-122"/>
                <a:cs typeface="Arial" pitchFamily="34" charset="-120"/>
              </a:rPr>
              <a:t>Bit-serial CRC-16/XMODEM engine checked against reference vectors</a:t>
            </a:r>
            <a:endParaRPr lang="en-US" sz="1350" dirty="0"/>
          </a:p>
        </p:txBody>
      </p:sp>
      <p:pic>
        <p:nvPicPr>
          <p:cNvPr id="26" name="Image 4" descr="preencoded.png">    </p:cNvPr>
          <p:cNvPicPr>
            <a:picLocks noChangeAspect="1"/>
          </p:cNvPicPr>
          <p:nvPr/>
        </p:nvPicPr>
        <p:blipFill>
          <a:blip r:embed="rId5"/>
          <a:stretch>
            <a:fillRect/>
          </a:stretch>
        </p:blipFill>
        <p:spPr>
          <a:xfrm>
            <a:off x="822960" y="5660136"/>
            <a:ext cx="256032" cy="256032"/>
          </a:xfrm>
          <a:prstGeom prst="rect">
            <a:avLst/>
          </a:prstGeom>
        </p:spPr>
      </p:pic>
      <p:sp>
        <p:nvSpPr>
          <p:cNvPr id="27" name="Text 20"/>
          <p:cNvSpPr txBox="1"/>
          <p:nvPr/>
        </p:nvSpPr>
        <p:spPr>
          <a:xfrm>
            <a:off x="1234440" y="5632704"/>
            <a:ext cx="5897880" cy="457200"/>
          </a:xfrm>
          <a:prstGeom prst="rect">
            <a:avLst/>
          </a:prstGeom>
          <a:noFill/>
          <a:ln/>
        </p:spPr>
        <p:txBody>
          <a:bodyPr wrap="square" lIns="0" tIns="0" rIns="0" bIns="0" rtlCol="0" anchor="t"/>
          <a:lstStyle/>
          <a:p>
            <a:pPr indent="0" marL="0">
              <a:buNone/>
            </a:pPr>
            <a:r>
              <a:rPr lang="en-US" sz="1350" dirty="0">
                <a:solidFill>
                  <a:srgbClr val="1B2333"/>
                </a:solidFill>
                <a:latin typeface="Arial" pitchFamily="34" charset="0"/>
                <a:ea typeface="Arial" pitchFamily="34" charset="-122"/>
                <a:cs typeface="Arial" pitchFamily="34" charset="-120"/>
              </a:rPr>
              <a:t>Integrated datapath with start / busy / done handshaking</a:t>
            </a:r>
            <a:endParaRPr lang="en-US" sz="1350" dirty="0"/>
          </a:p>
        </p:txBody>
      </p:sp>
      <p:sp>
        <p:nvSpPr>
          <p:cNvPr id="28" name="Shape 21"/>
          <p:cNvSpPr/>
          <p:nvPr/>
        </p:nvSpPr>
        <p:spPr>
          <a:xfrm>
            <a:off x="7589520" y="3429000"/>
            <a:ext cx="4050792" cy="2788920"/>
          </a:xfrm>
          <a:prstGeom prst="roundRect">
            <a:avLst>
              <a:gd name="adj" fmla="val 3934"/>
            </a:avLst>
          </a:prstGeom>
          <a:solidFill>
            <a:srgbClr val="0B1F44"/>
          </a:solidFill>
          <a:ln w="12700">
            <a:solidFill>
              <a:srgbClr val="0B1F44"/>
            </a:solidFill>
            <a:prstDash val="solid"/>
          </a:ln>
        </p:spPr>
      </p:sp>
      <p:sp>
        <p:nvSpPr>
          <p:cNvPr id="29" name="Text 22"/>
          <p:cNvSpPr txBox="1"/>
          <p:nvPr/>
        </p:nvSpPr>
        <p:spPr>
          <a:xfrm>
            <a:off x="7863840" y="3584448"/>
            <a:ext cx="3474720" cy="274320"/>
          </a:xfrm>
          <a:prstGeom prst="rect">
            <a:avLst/>
          </a:prstGeom>
          <a:noFill/>
          <a:ln/>
        </p:spPr>
        <p:txBody>
          <a:bodyPr wrap="square" lIns="0" tIns="0" rIns="0" bIns="0" rtlCol="0" anchor="t"/>
          <a:lstStyle/>
          <a:p>
            <a:pPr indent="0" marL="0">
              <a:buNone/>
            </a:pPr>
            <a:r>
              <a:rPr lang="en-US" sz="1200" b="1" spc="300" kern="0" dirty="0">
                <a:solidFill>
                  <a:srgbClr val="FF5757"/>
                </a:solidFill>
                <a:latin typeface="Arial" pitchFamily="34" charset="0"/>
                <a:ea typeface="Arial" pitchFamily="34" charset="-122"/>
                <a:cs typeface="Arial" pitchFamily="34" charset="-120"/>
              </a:rPr>
              <a:t>WHAT WE LEARNED</a:t>
            </a:r>
            <a:endParaRPr lang="en-US" sz="1200" dirty="0"/>
          </a:p>
        </p:txBody>
      </p:sp>
      <p:sp>
        <p:nvSpPr>
          <p:cNvPr id="30" name="Text 23"/>
          <p:cNvSpPr txBox="1"/>
          <p:nvPr/>
        </p:nvSpPr>
        <p:spPr>
          <a:xfrm>
            <a:off x="7863840" y="3977640"/>
            <a:ext cx="3520440" cy="214884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rgbClr val="FFFFFF"/>
                </a:solidFill>
                <a:latin typeface="Arial" pitchFamily="34" charset="0"/>
                <a:ea typeface="Arial" pitchFamily="34" charset="-122"/>
                <a:cs typeface="Arial" pitchFamily="34" charset="-120"/>
              </a:rPr>
              <a:t>Integration is harder than the algorithms: widths and timing differ</a:t>
            </a:r>
            <a:endParaRPr lang="en-US" sz="1450" dirty="0"/>
          </a:p>
          <a:p>
            <a:pPr marL="342900" indent="-342900">
              <a:spcAft>
                <a:spcPts val="1000"/>
              </a:spcAft>
              <a:buSzPct val="100000"/>
              <a:buChar char="•"/>
            </a:pPr>
            <a:r>
              <a:rPr lang="en-US" sz="1450" dirty="0">
                <a:solidFill>
                  <a:srgbClr val="FFFFFF"/>
                </a:solidFill>
                <a:latin typeface="Arial" pitchFamily="34" charset="0"/>
                <a:ea typeface="Arial" pitchFamily="34" charset="-122"/>
                <a:cs typeface="Arial" pitchFamily="34" charset="-120"/>
              </a:rPr>
              <a:t>Handshakes make multi-cycle blocks safe to chain</a:t>
            </a:r>
            <a:endParaRPr lang="en-US" sz="1450" dirty="0"/>
          </a:p>
          <a:p>
            <a:pPr marL="342900" indent="-342900">
              <a:spcAft>
                <a:spcPts val="1000"/>
              </a:spcAft>
              <a:buSzPct val="100000"/>
              <a:buChar char="•"/>
            </a:pPr>
            <a:r>
              <a:rPr lang="en-US" sz="1450" dirty="0">
                <a:solidFill>
                  <a:srgbClr val="FFFFFF"/>
                </a:solidFill>
                <a:latin typeface="Arial" pitchFamily="34" charset="0"/>
                <a:ea typeface="Arial" pitchFamily="34" charset="-122"/>
                <a:cs typeface="Arial" pitchFamily="34" charset="-120"/>
              </a:rPr>
              <a:t>Standard test vectors give an objective pass or fail</a:t>
            </a:r>
            <a:endParaRPr lang="en-US" sz="14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47472"/>
            <a:ext cx="7315200" cy="228600"/>
          </a:xfrm>
          <a:prstGeom prst="rect">
            <a:avLst/>
          </a:prstGeom>
          <a:noFill/>
          <a:ln/>
        </p:spPr>
        <p:txBody>
          <a:bodyPr wrap="square" lIns="0" tIns="0" rIns="0" bIns="0" rtlCol="0" anchor="t"/>
          <a:lstStyle/>
          <a:p>
            <a:pPr indent="0" marL="0">
              <a:buNone/>
            </a:pPr>
            <a:r>
              <a:rPr lang="en-US" sz="1200" b="1" spc="300" kern="0" dirty="0">
                <a:solidFill>
                  <a:srgbClr val="FF5757"/>
                </a:solidFill>
                <a:latin typeface="Arial" pitchFamily="34" charset="0"/>
                <a:ea typeface="Arial" pitchFamily="34" charset="-122"/>
                <a:cs typeface="Arial" pitchFamily="34" charset="-120"/>
              </a:rPr>
              <a:t>06  FUTURE WORK</a:t>
            </a:r>
            <a:endParaRPr lang="en-US" sz="1200" dirty="0"/>
          </a:p>
        </p:txBody>
      </p:sp>
      <p:sp>
        <p:nvSpPr>
          <p:cNvPr id="3" name="Text 1"/>
          <p:cNvSpPr txBox="1"/>
          <p:nvPr/>
        </p:nvSpPr>
        <p:spPr>
          <a:xfrm>
            <a:off x="548640" y="603504"/>
            <a:ext cx="9966960" cy="685800"/>
          </a:xfrm>
          <a:prstGeom prst="rect">
            <a:avLst/>
          </a:prstGeom>
          <a:noFill/>
          <a:ln/>
        </p:spPr>
        <p:txBody>
          <a:bodyPr wrap="square" lIns="0" tIns="0" rIns="0" bIns="0" rtlCol="0" anchor="ctr"/>
          <a:lstStyle/>
          <a:p>
            <a:pPr indent="0" marL="0">
              <a:buNone/>
            </a:pPr>
            <a:r>
              <a:rPr lang="en-US" sz="3200" b="1" dirty="0">
                <a:solidFill>
                  <a:srgbClr val="0B1F44"/>
                </a:solidFill>
                <a:latin typeface="Arial" pitchFamily="34" charset="0"/>
                <a:ea typeface="Arial" pitchFamily="34" charset="-122"/>
                <a:cs typeface="Arial" pitchFamily="34" charset="-120"/>
              </a:rPr>
              <a:t>Future work</a:t>
            </a:r>
            <a:endParaRPr lang="en-US" sz="3200" dirty="0"/>
          </a:p>
        </p:txBody>
      </p:sp>
      <p:pic>
        <p:nvPicPr>
          <p:cNvPr id="4" name="Image 0" descr="/home/claude/assets/logo.png">    </p:cNvPr>
          <p:cNvPicPr>
            <a:picLocks noChangeAspect="1"/>
          </p:cNvPicPr>
          <p:nvPr/>
        </p:nvPicPr>
        <p:blipFill>
          <a:blip r:embed="rId1"/>
          <a:stretch>
            <a:fillRect/>
          </a:stretch>
        </p:blipFill>
        <p:spPr>
          <a:xfrm>
            <a:off x="10744200" y="365760"/>
            <a:ext cx="896112" cy="434340"/>
          </a:xfrm>
          <a:prstGeom prst="rect">
            <a:avLst/>
          </a:prstGeom>
        </p:spPr>
      </p:pic>
      <p:sp>
        <p:nvSpPr>
          <p:cNvPr id="5" name="Text 2"/>
          <p:cNvSpPr txBox="1"/>
          <p:nvPr/>
        </p:nvSpPr>
        <p:spPr>
          <a:xfrm>
            <a:off x="548640" y="6428232"/>
            <a:ext cx="6400800" cy="228600"/>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Secure UART Communication System  ·  NTI Digital Design Project</a:t>
            </a:r>
            <a:endParaRPr lang="en-US" sz="1000" dirty="0"/>
          </a:p>
        </p:txBody>
      </p:sp>
      <p:sp>
        <p:nvSpPr>
          <p:cNvPr id="6" name="Shape 3"/>
          <p:cNvSpPr/>
          <p:nvPr/>
        </p:nvSpPr>
        <p:spPr>
          <a:xfrm>
            <a:off x="548640" y="1554480"/>
            <a:ext cx="3520440" cy="3931920"/>
          </a:xfrm>
          <a:prstGeom prst="roundRect">
            <a:avLst>
              <a:gd name="adj" fmla="val 3117"/>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7" name="Shape 4"/>
          <p:cNvSpPr/>
          <p:nvPr/>
        </p:nvSpPr>
        <p:spPr>
          <a:xfrm>
            <a:off x="822960" y="1828800"/>
            <a:ext cx="685800" cy="685800"/>
          </a:xfrm>
          <a:prstGeom prst="ellipse">
            <a:avLst/>
          </a:prstGeom>
          <a:solidFill>
            <a:srgbClr val="004AAD"/>
          </a:solidFill>
          <a:ln w="12700">
            <a:solidFill>
              <a:srgbClr val="004AAD"/>
            </a:solidFill>
            <a:prstDash val="solid"/>
          </a:ln>
        </p:spPr>
      </p:sp>
      <p:pic>
        <p:nvPicPr>
          <p:cNvPr id="8" name="Image 1" descr="preencoded.png">    </p:cNvPr>
          <p:cNvPicPr>
            <a:picLocks noChangeAspect="1"/>
          </p:cNvPicPr>
          <p:nvPr/>
        </p:nvPicPr>
        <p:blipFill>
          <a:blip r:embed="rId2"/>
          <a:stretch>
            <a:fillRect/>
          </a:stretch>
        </p:blipFill>
        <p:spPr>
          <a:xfrm>
            <a:off x="1001268" y="2007108"/>
            <a:ext cx="329184" cy="329184"/>
          </a:xfrm>
          <a:prstGeom prst="rect">
            <a:avLst/>
          </a:prstGeom>
        </p:spPr>
      </p:pic>
      <p:sp>
        <p:nvSpPr>
          <p:cNvPr id="9" name="Text 5"/>
          <p:cNvSpPr txBox="1"/>
          <p:nvPr/>
        </p:nvSpPr>
        <p:spPr>
          <a:xfrm>
            <a:off x="1645920" y="1828800"/>
            <a:ext cx="2286000" cy="685800"/>
          </a:xfrm>
          <a:prstGeom prst="rect">
            <a:avLst/>
          </a:prstGeom>
          <a:noFill/>
          <a:ln/>
        </p:spPr>
        <p:txBody>
          <a:bodyPr wrap="square" lIns="0" tIns="0" rIns="0" bIns="0" rtlCol="0" anchor="ctr"/>
          <a:lstStyle/>
          <a:p>
            <a:pPr indent="0" marL="0">
              <a:buNone/>
            </a:pPr>
            <a:r>
              <a:rPr lang="en-US" sz="1900" b="1" dirty="0">
                <a:solidFill>
                  <a:srgbClr val="0B1F44"/>
                </a:solidFill>
                <a:latin typeface="Arial" pitchFamily="34" charset="0"/>
                <a:ea typeface="Arial" pitchFamily="34" charset="-122"/>
                <a:cs typeface="Arial" pitchFamily="34" charset="-120"/>
              </a:rPr>
              <a:t>Functionality</a:t>
            </a:r>
            <a:endParaRPr lang="en-US" sz="1900" dirty="0"/>
          </a:p>
        </p:txBody>
      </p:sp>
      <p:sp>
        <p:nvSpPr>
          <p:cNvPr id="10" name="Shape 6"/>
          <p:cNvSpPr/>
          <p:nvPr/>
        </p:nvSpPr>
        <p:spPr>
          <a:xfrm>
            <a:off x="822960" y="2889504"/>
            <a:ext cx="146304" cy="146304"/>
          </a:xfrm>
          <a:prstGeom prst="ellipse">
            <a:avLst/>
          </a:prstGeom>
          <a:solidFill>
            <a:srgbClr val="004AAD"/>
          </a:solidFill>
          <a:ln w="12700">
            <a:solidFill>
              <a:srgbClr val="004AAD"/>
            </a:solidFill>
            <a:prstDash val="solid"/>
          </a:ln>
        </p:spPr>
      </p:sp>
      <p:sp>
        <p:nvSpPr>
          <p:cNvPr id="11" name="Text 7"/>
          <p:cNvSpPr txBox="1"/>
          <p:nvPr/>
        </p:nvSpPr>
        <p:spPr>
          <a:xfrm>
            <a:off x="1143000" y="2834640"/>
            <a:ext cx="2743200" cy="822960"/>
          </a:xfrm>
          <a:prstGeom prst="rect">
            <a:avLst/>
          </a:prstGeom>
          <a:noFill/>
          <a:ln/>
        </p:spPr>
        <p:txBody>
          <a:bodyPr wrap="square" lIns="0" tIns="0" rIns="0" bIns="0" rtlCol="0" anchor="t"/>
          <a:lstStyle/>
          <a:p>
            <a:pPr indent="0" marL="0">
              <a:buNone/>
            </a:pPr>
            <a:r>
              <a:rPr lang="en-US" sz="1350" dirty="0">
                <a:solidFill>
                  <a:srgbClr val="1B2333"/>
                </a:solidFill>
                <a:latin typeface="Arial" pitchFamily="34" charset="0"/>
                <a:ea typeface="Arial" pitchFamily="34" charset="-122"/>
                <a:cs typeface="Arial" pitchFamily="34" charset="-120"/>
              </a:rPr>
              <a:t>AES decryption path for bidirectional secure communication</a:t>
            </a:r>
            <a:endParaRPr lang="en-US" sz="1350" dirty="0"/>
          </a:p>
        </p:txBody>
      </p:sp>
      <p:sp>
        <p:nvSpPr>
          <p:cNvPr id="12" name="Shape 8"/>
          <p:cNvSpPr/>
          <p:nvPr/>
        </p:nvSpPr>
        <p:spPr>
          <a:xfrm>
            <a:off x="822960" y="3785616"/>
            <a:ext cx="146304" cy="146304"/>
          </a:xfrm>
          <a:prstGeom prst="ellipse">
            <a:avLst/>
          </a:prstGeom>
          <a:solidFill>
            <a:srgbClr val="004AAD"/>
          </a:solidFill>
          <a:ln w="12700">
            <a:solidFill>
              <a:srgbClr val="004AAD"/>
            </a:solidFill>
            <a:prstDash val="solid"/>
          </a:ln>
        </p:spPr>
      </p:sp>
      <p:sp>
        <p:nvSpPr>
          <p:cNvPr id="13" name="Text 9"/>
          <p:cNvSpPr txBox="1"/>
          <p:nvPr/>
        </p:nvSpPr>
        <p:spPr>
          <a:xfrm>
            <a:off x="1143000" y="3730752"/>
            <a:ext cx="2743200" cy="822960"/>
          </a:xfrm>
          <a:prstGeom prst="rect">
            <a:avLst/>
          </a:prstGeom>
          <a:noFill/>
          <a:ln/>
        </p:spPr>
        <p:txBody>
          <a:bodyPr wrap="square" lIns="0" tIns="0" rIns="0" bIns="0" rtlCol="0" anchor="t"/>
          <a:lstStyle/>
          <a:p>
            <a:pPr indent="0" marL="0">
              <a:buNone/>
            </a:pPr>
            <a:r>
              <a:rPr lang="en-US" sz="1350" dirty="0">
                <a:solidFill>
                  <a:srgbClr val="1B2333"/>
                </a:solidFill>
                <a:latin typeface="Arial" pitchFamily="34" charset="0"/>
                <a:ea typeface="Arial" pitchFamily="34" charset="-122"/>
                <a:cs typeface="Arial" pitchFamily="34" charset="-120"/>
              </a:rPr>
              <a:t>Formal frame format: synchronization, length, sequence number, explicit CRC coverage</a:t>
            </a:r>
            <a:endParaRPr lang="en-US" sz="1350" dirty="0"/>
          </a:p>
        </p:txBody>
      </p:sp>
      <p:sp>
        <p:nvSpPr>
          <p:cNvPr id="14" name="Shape 10"/>
          <p:cNvSpPr/>
          <p:nvPr/>
        </p:nvSpPr>
        <p:spPr>
          <a:xfrm>
            <a:off x="822960" y="4681728"/>
            <a:ext cx="146304" cy="146304"/>
          </a:xfrm>
          <a:prstGeom prst="ellipse">
            <a:avLst/>
          </a:prstGeom>
          <a:solidFill>
            <a:srgbClr val="004AAD"/>
          </a:solidFill>
          <a:ln w="12700">
            <a:solidFill>
              <a:srgbClr val="004AAD"/>
            </a:solidFill>
            <a:prstDash val="solid"/>
          </a:ln>
        </p:spPr>
      </p:sp>
      <p:sp>
        <p:nvSpPr>
          <p:cNvPr id="15" name="Text 11"/>
          <p:cNvSpPr txBox="1"/>
          <p:nvPr/>
        </p:nvSpPr>
        <p:spPr>
          <a:xfrm>
            <a:off x="1143000" y="4626864"/>
            <a:ext cx="2743200" cy="822960"/>
          </a:xfrm>
          <a:prstGeom prst="rect">
            <a:avLst/>
          </a:prstGeom>
          <a:noFill/>
          <a:ln/>
        </p:spPr>
        <p:txBody>
          <a:bodyPr wrap="square" lIns="0" tIns="0" rIns="0" bIns="0" rtlCol="0" anchor="t"/>
          <a:lstStyle/>
          <a:p>
            <a:pPr indent="0" marL="0">
              <a:buNone/>
            </a:pPr>
            <a:r>
              <a:rPr lang="en-US" sz="1350" dirty="0">
                <a:solidFill>
                  <a:srgbClr val="1B2333"/>
                </a:solidFill>
                <a:latin typeface="Arial" pitchFamily="34" charset="0"/>
                <a:ea typeface="Arial" pitchFamily="34" charset="-122"/>
                <a:cs typeface="Arial" pitchFamily="34" charset="-120"/>
              </a:rPr>
              <a:t>Receiver-side CRC error reporting and a retransmission policy</a:t>
            </a:r>
            <a:endParaRPr lang="en-US" sz="1350" dirty="0"/>
          </a:p>
        </p:txBody>
      </p:sp>
      <p:sp>
        <p:nvSpPr>
          <p:cNvPr id="16" name="Shape 12"/>
          <p:cNvSpPr/>
          <p:nvPr/>
        </p:nvSpPr>
        <p:spPr>
          <a:xfrm>
            <a:off x="4334256" y="1554480"/>
            <a:ext cx="3520440" cy="3931920"/>
          </a:xfrm>
          <a:prstGeom prst="roundRect">
            <a:avLst>
              <a:gd name="adj" fmla="val 3117"/>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17" name="Shape 13"/>
          <p:cNvSpPr/>
          <p:nvPr/>
        </p:nvSpPr>
        <p:spPr>
          <a:xfrm>
            <a:off x="4608576" y="1828800"/>
            <a:ext cx="685800" cy="685800"/>
          </a:xfrm>
          <a:prstGeom prst="ellipse">
            <a:avLst/>
          </a:prstGeom>
          <a:solidFill>
            <a:srgbClr val="1B75BB"/>
          </a:solidFill>
          <a:ln w="12700">
            <a:solidFill>
              <a:srgbClr val="1B75BB"/>
            </a:solidFill>
            <a:prstDash val="solid"/>
          </a:ln>
        </p:spPr>
      </p:sp>
      <p:pic>
        <p:nvPicPr>
          <p:cNvPr id="18" name="Image 2" descr="preencoded.png">    </p:cNvPr>
          <p:cNvPicPr>
            <a:picLocks noChangeAspect="1"/>
          </p:cNvPicPr>
          <p:nvPr/>
        </p:nvPicPr>
        <p:blipFill>
          <a:blip r:embed="rId3"/>
          <a:stretch>
            <a:fillRect/>
          </a:stretch>
        </p:blipFill>
        <p:spPr>
          <a:xfrm>
            <a:off x="4786884" y="2007108"/>
            <a:ext cx="329184" cy="329184"/>
          </a:xfrm>
          <a:prstGeom prst="rect">
            <a:avLst/>
          </a:prstGeom>
        </p:spPr>
      </p:pic>
      <p:sp>
        <p:nvSpPr>
          <p:cNvPr id="19" name="Text 14"/>
          <p:cNvSpPr txBox="1"/>
          <p:nvPr/>
        </p:nvSpPr>
        <p:spPr>
          <a:xfrm>
            <a:off x="5431536" y="1828800"/>
            <a:ext cx="2286000" cy="685800"/>
          </a:xfrm>
          <a:prstGeom prst="rect">
            <a:avLst/>
          </a:prstGeom>
          <a:noFill/>
          <a:ln/>
        </p:spPr>
        <p:txBody>
          <a:bodyPr wrap="square" lIns="0" tIns="0" rIns="0" bIns="0" rtlCol="0" anchor="ctr"/>
          <a:lstStyle/>
          <a:p>
            <a:pPr indent="0" marL="0">
              <a:buNone/>
            </a:pPr>
            <a:r>
              <a:rPr lang="en-US" sz="1900" b="1" dirty="0">
                <a:solidFill>
                  <a:srgbClr val="0B1F44"/>
                </a:solidFill>
                <a:latin typeface="Arial" pitchFamily="34" charset="0"/>
                <a:ea typeface="Arial" pitchFamily="34" charset="-122"/>
                <a:cs typeface="Arial" pitchFamily="34" charset="-120"/>
              </a:rPr>
              <a:t>Implementation</a:t>
            </a:r>
            <a:endParaRPr lang="en-US" sz="1900" dirty="0"/>
          </a:p>
        </p:txBody>
      </p:sp>
      <p:sp>
        <p:nvSpPr>
          <p:cNvPr id="20" name="Shape 15"/>
          <p:cNvSpPr/>
          <p:nvPr/>
        </p:nvSpPr>
        <p:spPr>
          <a:xfrm>
            <a:off x="4608576" y="2889504"/>
            <a:ext cx="146304" cy="146304"/>
          </a:xfrm>
          <a:prstGeom prst="ellipse">
            <a:avLst/>
          </a:prstGeom>
          <a:solidFill>
            <a:srgbClr val="1B75BB"/>
          </a:solidFill>
          <a:ln w="12700">
            <a:solidFill>
              <a:srgbClr val="1B75BB"/>
            </a:solidFill>
            <a:prstDash val="solid"/>
          </a:ln>
        </p:spPr>
      </p:sp>
      <p:sp>
        <p:nvSpPr>
          <p:cNvPr id="21" name="Text 16"/>
          <p:cNvSpPr txBox="1"/>
          <p:nvPr/>
        </p:nvSpPr>
        <p:spPr>
          <a:xfrm>
            <a:off x="4928616" y="2834640"/>
            <a:ext cx="2743200" cy="822960"/>
          </a:xfrm>
          <a:prstGeom prst="rect">
            <a:avLst/>
          </a:prstGeom>
          <a:noFill/>
          <a:ln/>
        </p:spPr>
        <p:txBody>
          <a:bodyPr wrap="square" lIns="0" tIns="0" rIns="0" bIns="0" rtlCol="0" anchor="t"/>
          <a:lstStyle/>
          <a:p>
            <a:pPr indent="0" marL="0">
              <a:buNone/>
            </a:pPr>
            <a:r>
              <a:rPr lang="en-US" sz="1350" dirty="0">
                <a:solidFill>
                  <a:srgbClr val="1B2333"/>
                </a:solidFill>
                <a:latin typeface="Arial" pitchFamily="34" charset="0"/>
                <a:ea typeface="Arial" pitchFamily="34" charset="-122"/>
                <a:cs typeface="Arial" pitchFamily="34" charset="-120"/>
              </a:rPr>
              <a:t>Optimize the S-box for the chosen FPGA or ASIC technology</a:t>
            </a:r>
            <a:endParaRPr lang="en-US" sz="1350" dirty="0"/>
          </a:p>
        </p:txBody>
      </p:sp>
      <p:sp>
        <p:nvSpPr>
          <p:cNvPr id="22" name="Shape 17"/>
          <p:cNvSpPr/>
          <p:nvPr/>
        </p:nvSpPr>
        <p:spPr>
          <a:xfrm>
            <a:off x="4608576" y="3785616"/>
            <a:ext cx="146304" cy="146304"/>
          </a:xfrm>
          <a:prstGeom prst="ellipse">
            <a:avLst/>
          </a:prstGeom>
          <a:solidFill>
            <a:srgbClr val="1B75BB"/>
          </a:solidFill>
          <a:ln w="12700">
            <a:solidFill>
              <a:srgbClr val="1B75BB"/>
            </a:solidFill>
            <a:prstDash val="solid"/>
          </a:ln>
        </p:spPr>
      </p:sp>
      <p:sp>
        <p:nvSpPr>
          <p:cNvPr id="23" name="Text 18"/>
          <p:cNvSpPr txBox="1"/>
          <p:nvPr/>
        </p:nvSpPr>
        <p:spPr>
          <a:xfrm>
            <a:off x="4928616" y="3730752"/>
            <a:ext cx="2743200" cy="822960"/>
          </a:xfrm>
          <a:prstGeom prst="rect">
            <a:avLst/>
          </a:prstGeom>
          <a:noFill/>
          <a:ln/>
        </p:spPr>
        <p:txBody>
          <a:bodyPr wrap="square" lIns="0" tIns="0" rIns="0" bIns="0" rtlCol="0" anchor="t"/>
          <a:lstStyle/>
          <a:p>
            <a:pPr indent="0" marL="0">
              <a:buNone/>
            </a:pPr>
            <a:r>
              <a:rPr lang="en-US" sz="1350" dirty="0">
                <a:solidFill>
                  <a:srgbClr val="1B2333"/>
                </a:solidFill>
                <a:latin typeface="Arial" pitchFamily="34" charset="0"/>
                <a:ea typeface="Arial" pitchFamily="34" charset="-122"/>
                <a:cs typeface="Arial" pitchFamily="34" charset="-120"/>
              </a:rPr>
              <a:t>Post-synthesis timing analysis: report area, power and maximum frequency</a:t>
            </a:r>
            <a:endParaRPr lang="en-US" sz="1350" dirty="0"/>
          </a:p>
        </p:txBody>
      </p:sp>
      <p:sp>
        <p:nvSpPr>
          <p:cNvPr id="24" name="Shape 19"/>
          <p:cNvSpPr/>
          <p:nvPr/>
        </p:nvSpPr>
        <p:spPr>
          <a:xfrm>
            <a:off x="8119872" y="1554480"/>
            <a:ext cx="3520440" cy="3931920"/>
          </a:xfrm>
          <a:prstGeom prst="roundRect">
            <a:avLst>
              <a:gd name="adj" fmla="val 3117"/>
            </a:avLst>
          </a:prstGeom>
          <a:solidFill>
            <a:srgbClr val="F5F8FD"/>
          </a:solidFill>
          <a:ln w="9525">
            <a:solidFill>
              <a:srgbClr val="D5DEEC"/>
            </a:solidFill>
            <a:prstDash val="solid"/>
          </a:ln>
          <a:effectLst>
            <a:outerShdw sx="100000" sy="100000" kx="0" ky="0" algn="bl" rotWithShape="0" blurRad="101600" dist="25400" dir="5400000">
              <a:srgbClr val="000000">
                <a:alpha val="10000"/>
              </a:srgbClr>
            </a:outerShdw>
          </a:effectLst>
        </p:spPr>
      </p:sp>
      <p:sp>
        <p:nvSpPr>
          <p:cNvPr id="25" name="Shape 20"/>
          <p:cNvSpPr/>
          <p:nvPr/>
        </p:nvSpPr>
        <p:spPr>
          <a:xfrm>
            <a:off x="8394192" y="1828800"/>
            <a:ext cx="685800" cy="685800"/>
          </a:xfrm>
          <a:prstGeom prst="ellipse">
            <a:avLst/>
          </a:prstGeom>
          <a:solidFill>
            <a:srgbClr val="FF5757"/>
          </a:solidFill>
          <a:ln w="12700">
            <a:solidFill>
              <a:srgbClr val="FF5757"/>
            </a:solidFill>
            <a:prstDash val="solid"/>
          </a:ln>
        </p:spPr>
      </p:sp>
      <p:pic>
        <p:nvPicPr>
          <p:cNvPr id="26" name="Image 3" descr="preencoded.png">    </p:cNvPr>
          <p:cNvPicPr>
            <a:picLocks noChangeAspect="1"/>
          </p:cNvPicPr>
          <p:nvPr/>
        </p:nvPicPr>
        <p:blipFill>
          <a:blip r:embed="rId4"/>
          <a:stretch>
            <a:fillRect/>
          </a:stretch>
        </p:blipFill>
        <p:spPr>
          <a:xfrm>
            <a:off x="8572500" y="2007108"/>
            <a:ext cx="329184" cy="329184"/>
          </a:xfrm>
          <a:prstGeom prst="rect">
            <a:avLst/>
          </a:prstGeom>
        </p:spPr>
      </p:pic>
      <p:sp>
        <p:nvSpPr>
          <p:cNvPr id="27" name="Text 21"/>
          <p:cNvSpPr txBox="1"/>
          <p:nvPr/>
        </p:nvSpPr>
        <p:spPr>
          <a:xfrm>
            <a:off x="9217152" y="1828800"/>
            <a:ext cx="2286000" cy="685800"/>
          </a:xfrm>
          <a:prstGeom prst="rect">
            <a:avLst/>
          </a:prstGeom>
          <a:noFill/>
          <a:ln/>
        </p:spPr>
        <p:txBody>
          <a:bodyPr wrap="square" lIns="0" tIns="0" rIns="0" bIns="0" rtlCol="0" anchor="ctr"/>
          <a:lstStyle/>
          <a:p>
            <a:pPr indent="0" marL="0">
              <a:buNone/>
            </a:pPr>
            <a:r>
              <a:rPr lang="en-US" sz="1900" b="1" dirty="0">
                <a:solidFill>
                  <a:srgbClr val="0B1F44"/>
                </a:solidFill>
                <a:latin typeface="Arial" pitchFamily="34" charset="0"/>
                <a:ea typeface="Arial" pitchFamily="34" charset="-122"/>
                <a:cs typeface="Arial" pitchFamily="34" charset="-120"/>
              </a:rPr>
              <a:t>Verification</a:t>
            </a:r>
            <a:endParaRPr lang="en-US" sz="1900" dirty="0"/>
          </a:p>
        </p:txBody>
      </p:sp>
      <p:sp>
        <p:nvSpPr>
          <p:cNvPr id="28" name="Shape 22"/>
          <p:cNvSpPr/>
          <p:nvPr/>
        </p:nvSpPr>
        <p:spPr>
          <a:xfrm>
            <a:off x="8394192" y="2889504"/>
            <a:ext cx="146304" cy="146304"/>
          </a:xfrm>
          <a:prstGeom prst="ellipse">
            <a:avLst/>
          </a:prstGeom>
          <a:solidFill>
            <a:srgbClr val="FF5757"/>
          </a:solidFill>
          <a:ln w="12700">
            <a:solidFill>
              <a:srgbClr val="FF5757"/>
            </a:solidFill>
            <a:prstDash val="solid"/>
          </a:ln>
        </p:spPr>
      </p:sp>
      <p:sp>
        <p:nvSpPr>
          <p:cNvPr id="29" name="Text 23"/>
          <p:cNvSpPr txBox="1"/>
          <p:nvPr/>
        </p:nvSpPr>
        <p:spPr>
          <a:xfrm>
            <a:off x="8714232" y="2834640"/>
            <a:ext cx="2743200" cy="822960"/>
          </a:xfrm>
          <a:prstGeom prst="rect">
            <a:avLst/>
          </a:prstGeom>
          <a:noFill/>
          <a:ln/>
        </p:spPr>
        <p:txBody>
          <a:bodyPr wrap="square" lIns="0" tIns="0" rIns="0" bIns="0" rtlCol="0" anchor="t"/>
          <a:lstStyle/>
          <a:p>
            <a:pPr indent="0" marL="0">
              <a:buNone/>
            </a:pPr>
            <a:r>
              <a:rPr lang="en-US" sz="1350" dirty="0">
                <a:solidFill>
                  <a:srgbClr val="1B2333"/>
                </a:solidFill>
                <a:latin typeface="Arial" pitchFamily="34" charset="0"/>
                <a:ea typeface="Arial" pitchFamily="34" charset="-122"/>
                <a:cs typeface="Arial" pitchFamily="34" charset="-120"/>
              </a:rPr>
              <a:t>Assertions and formal checks: busy exclusivity, state transitions</a:t>
            </a:r>
            <a:endParaRPr lang="en-US" sz="1350" dirty="0"/>
          </a:p>
        </p:txBody>
      </p:sp>
      <p:sp>
        <p:nvSpPr>
          <p:cNvPr id="30" name="Shape 24"/>
          <p:cNvSpPr/>
          <p:nvPr/>
        </p:nvSpPr>
        <p:spPr>
          <a:xfrm>
            <a:off x="8394192" y="3785616"/>
            <a:ext cx="146304" cy="146304"/>
          </a:xfrm>
          <a:prstGeom prst="ellipse">
            <a:avLst/>
          </a:prstGeom>
          <a:solidFill>
            <a:srgbClr val="FF5757"/>
          </a:solidFill>
          <a:ln w="12700">
            <a:solidFill>
              <a:srgbClr val="FF5757"/>
            </a:solidFill>
            <a:prstDash val="solid"/>
          </a:ln>
        </p:spPr>
      </p:sp>
      <p:sp>
        <p:nvSpPr>
          <p:cNvPr id="31" name="Text 25"/>
          <p:cNvSpPr txBox="1"/>
          <p:nvPr/>
        </p:nvSpPr>
        <p:spPr>
          <a:xfrm>
            <a:off x="8714232" y="3730752"/>
            <a:ext cx="2743200" cy="822960"/>
          </a:xfrm>
          <a:prstGeom prst="rect">
            <a:avLst/>
          </a:prstGeom>
          <a:noFill/>
          <a:ln/>
        </p:spPr>
        <p:txBody>
          <a:bodyPr wrap="square" lIns="0" tIns="0" rIns="0" bIns="0" rtlCol="0" anchor="t"/>
          <a:lstStyle/>
          <a:p>
            <a:pPr indent="0" marL="0">
              <a:buNone/>
            </a:pPr>
            <a:r>
              <a:rPr lang="en-US" sz="1350" dirty="0">
                <a:solidFill>
                  <a:srgbClr val="1B2333"/>
                </a:solidFill>
                <a:latin typeface="Arial" pitchFamily="34" charset="0"/>
                <a:ea typeface="Arial" pitchFamily="34" charset="-122"/>
                <a:cs typeface="Arial" pitchFamily="34" charset="-120"/>
              </a:rPr>
              <a:t>Randomized constrained verification with functional coverage</a:t>
            </a:r>
            <a:endParaRPr lang="en-US" sz="1350" dirty="0"/>
          </a:p>
        </p:txBody>
      </p:sp>
      <p:sp>
        <p:nvSpPr>
          <p:cNvPr id="32" name="Shape 26"/>
          <p:cNvSpPr/>
          <p:nvPr/>
        </p:nvSpPr>
        <p:spPr>
          <a:xfrm>
            <a:off x="548640" y="5623560"/>
            <a:ext cx="11091672" cy="594360"/>
          </a:xfrm>
          <a:prstGeom prst="roundRect">
            <a:avLst>
              <a:gd name="adj" fmla="val 18462"/>
            </a:avLst>
          </a:prstGeom>
          <a:solidFill>
            <a:srgbClr val="0B1F44"/>
          </a:solidFill>
          <a:ln w="12700">
            <a:solidFill>
              <a:srgbClr val="0B1F44"/>
            </a:solidFill>
            <a:prstDash val="solid"/>
          </a:ln>
        </p:spPr>
      </p:sp>
      <p:sp>
        <p:nvSpPr>
          <p:cNvPr id="33" name="Text 27"/>
          <p:cNvSpPr txBox="1"/>
          <p:nvPr/>
        </p:nvSpPr>
        <p:spPr>
          <a:xfrm>
            <a:off x="822960" y="5623560"/>
            <a:ext cx="10607040" cy="594360"/>
          </a:xfrm>
          <a:prstGeom prst="rect">
            <a:avLst/>
          </a:prstGeom>
          <a:noFill/>
          <a:ln/>
        </p:spPr>
        <p:txBody>
          <a:bodyPr wrap="square" lIns="0" tIns="0" rIns="0" bIns="0" rtlCol="0" anchor="ctr"/>
          <a:lstStyle/>
          <a:p>
            <a:pPr indent="0" marL="0">
              <a:buNone/>
            </a:pPr>
            <a:r>
              <a:rPr lang="en-US" sz="1400" b="1" dirty="0">
                <a:solidFill>
                  <a:srgbClr val="FF5757"/>
                </a:solidFill>
                <a:latin typeface="Arial" pitchFamily="34" charset="0"/>
                <a:ea typeface="Arial" pitchFamily="34" charset="-122"/>
                <a:cs typeface="Arial" pitchFamily="34" charset="-120"/>
              </a:rPr>
              <a:t>Next milestone: </a:t>
            </a:r>
            <a:pPr indent="0" marL="0">
              <a:buNone/>
            </a:pPr>
            <a:r>
              <a:rPr lang="en-US" sz="1400" dirty="0">
                <a:solidFill>
                  <a:srgbClr val="FFFFFF"/>
                </a:solidFill>
                <a:latin typeface="Arial" pitchFamily="34" charset="0"/>
                <a:ea typeface="Arial" pitchFamily="34" charset="-122"/>
                <a:cs typeface="Arial" pitchFamily="34" charset="-120"/>
              </a:rPr>
              <a:t>a complete bidirectional secure link with AES decryption, receiver-side CRC checking and retransmission.</a:t>
            </a:r>
            <a:endParaRPr lang="en-US"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F44"/>
        </a:solidFill>
      </p:bgPr>
    </p:bg>
    <p:spTree>
      <p:nvGrpSpPr>
        <p:cNvPr id="1" name=""/>
        <p:cNvGrpSpPr/>
        <p:nvPr/>
      </p:nvGrpSpPr>
      <p:grpSpPr>
        <a:xfrm>
          <a:off x="0" y="0"/>
          <a:ext cx="0" cy="0"/>
          <a:chOff x="0" y="0"/>
          <a:chExt cx="0" cy="0"/>
        </a:xfrm>
      </p:grpSpPr>
      <p:sp>
        <p:nvSpPr>
          <p:cNvPr id="2" name="Shape 0"/>
          <p:cNvSpPr/>
          <p:nvPr/>
        </p:nvSpPr>
        <p:spPr>
          <a:xfrm>
            <a:off x="731520" y="731520"/>
            <a:ext cx="2194560" cy="1337310"/>
          </a:xfrm>
          <a:prstGeom prst="roundRect">
            <a:avLst>
              <a:gd name="adj" fmla="val 8205"/>
            </a:avLst>
          </a:prstGeom>
          <a:solidFill>
            <a:srgbClr val="FFFFFF"/>
          </a:solidFill>
          <a:ln w="12700">
            <a:solidFill>
              <a:srgbClr val="FFFFFF"/>
            </a:solidFill>
            <a:prstDash val="solid"/>
          </a:ln>
        </p:spPr>
      </p:sp>
      <p:pic>
        <p:nvPicPr>
          <p:cNvPr id="3" name="Image 0" descr="/home/claude/assets/logo.png">    </p:cNvPr>
          <p:cNvPicPr>
            <a:picLocks noChangeAspect="1"/>
          </p:cNvPicPr>
          <p:nvPr/>
        </p:nvPicPr>
        <p:blipFill>
          <a:blip r:embed="rId1"/>
          <a:stretch>
            <a:fillRect/>
          </a:stretch>
        </p:blipFill>
        <p:spPr>
          <a:xfrm>
            <a:off x="868680" y="868680"/>
            <a:ext cx="1920240" cy="930116"/>
          </a:xfrm>
          <a:prstGeom prst="rect">
            <a:avLst/>
          </a:prstGeom>
        </p:spPr>
      </p:pic>
      <p:sp>
        <p:nvSpPr>
          <p:cNvPr id="4" name="Text 1"/>
          <p:cNvSpPr txBox="1"/>
          <p:nvPr/>
        </p:nvSpPr>
        <p:spPr>
          <a:xfrm>
            <a:off x="731520" y="2377440"/>
            <a:ext cx="8229600" cy="1188720"/>
          </a:xfrm>
          <a:prstGeom prst="rect">
            <a:avLst/>
          </a:prstGeom>
          <a:noFill/>
          <a:ln/>
        </p:spPr>
        <p:txBody>
          <a:bodyPr wrap="square" lIns="0" tIns="0" rIns="0" bIns="0" rtlCol="0" anchor="t"/>
          <a:lstStyle/>
          <a:p>
            <a:pPr indent="0" marL="0">
              <a:buNone/>
            </a:pPr>
            <a:r>
              <a:rPr lang="en-US" sz="6000" b="1" dirty="0">
                <a:solidFill>
                  <a:srgbClr val="FFFFFF"/>
                </a:solidFill>
                <a:latin typeface="Arial" pitchFamily="34" charset="0"/>
                <a:ea typeface="Arial" pitchFamily="34" charset="-122"/>
                <a:cs typeface="Arial" pitchFamily="34" charset="-120"/>
              </a:rPr>
              <a:t>Thank you</a:t>
            </a:r>
            <a:endParaRPr lang="en-US" sz="6000" dirty="0"/>
          </a:p>
        </p:txBody>
      </p:sp>
      <p:sp>
        <p:nvSpPr>
          <p:cNvPr id="5" name="Text 2"/>
          <p:cNvSpPr txBox="1"/>
          <p:nvPr/>
        </p:nvSpPr>
        <p:spPr>
          <a:xfrm>
            <a:off x="731520" y="3611880"/>
            <a:ext cx="8229600" cy="548640"/>
          </a:xfrm>
          <a:prstGeom prst="rect">
            <a:avLst/>
          </a:prstGeom>
          <a:noFill/>
          <a:ln/>
        </p:spPr>
        <p:txBody>
          <a:bodyPr wrap="square" lIns="0" tIns="0" rIns="0" bIns="0" rtlCol="0" anchor="t"/>
          <a:lstStyle/>
          <a:p>
            <a:pPr indent="0" marL="0">
              <a:buNone/>
            </a:pPr>
            <a:r>
              <a:rPr lang="en-US" sz="2400" b="1" dirty="0">
                <a:solidFill>
                  <a:srgbClr val="FF5757"/>
                </a:solidFill>
                <a:latin typeface="Arial" pitchFamily="34" charset="0"/>
                <a:ea typeface="Arial" pitchFamily="34" charset="-122"/>
                <a:cs typeface="Arial" pitchFamily="34" charset="-120"/>
              </a:rPr>
              <a:t>Questions and discussion</a:t>
            </a:r>
            <a:endParaRPr lang="en-US" sz="2400" dirty="0"/>
          </a:p>
        </p:txBody>
      </p:sp>
      <p:sp>
        <p:nvSpPr>
          <p:cNvPr id="6" name="Text 3"/>
          <p:cNvSpPr txBox="1"/>
          <p:nvPr/>
        </p:nvSpPr>
        <p:spPr>
          <a:xfrm>
            <a:off x="731520" y="4343400"/>
            <a:ext cx="7498080" cy="731520"/>
          </a:xfrm>
          <a:prstGeom prst="rect">
            <a:avLst/>
          </a:prstGeom>
          <a:noFill/>
          <a:ln/>
        </p:spPr>
        <p:txBody>
          <a:bodyPr wrap="square" lIns="0" tIns="0" rIns="0" bIns="0" rtlCol="0" anchor="t"/>
          <a:lstStyle/>
          <a:p>
            <a:pPr indent="0" marL="0">
              <a:buNone/>
            </a:pPr>
            <a:r>
              <a:rPr lang="en-US" sz="1600" dirty="0">
                <a:solidFill>
                  <a:srgbClr val="CADCFC"/>
                </a:solidFill>
                <a:latin typeface="Arial" pitchFamily="34" charset="0"/>
                <a:ea typeface="Arial" pitchFamily="34" charset="-122"/>
                <a:cs typeface="Arial" pitchFamily="34" charset="-120"/>
              </a:rPr>
              <a:t>Secure UART Communication System: UART with hardware AES-128 encryption and CRC-16/XMODEM error detection</a:t>
            </a:r>
            <a:endParaRPr lang="en-US" sz="1600" dirty="0"/>
          </a:p>
        </p:txBody>
      </p:sp>
      <p:sp>
        <p:nvSpPr>
          <p:cNvPr id="7" name="Text 4"/>
          <p:cNvSpPr txBox="1"/>
          <p:nvPr/>
        </p:nvSpPr>
        <p:spPr>
          <a:xfrm>
            <a:off x="731520" y="5760720"/>
            <a:ext cx="8229600" cy="36576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Mina Moawad  ·  Mohammed Afifi  ·  Hoda Ayman</a:t>
            </a:r>
            <a:endParaRPr lang="en-US" sz="1600" dirty="0"/>
          </a:p>
        </p:txBody>
      </p:sp>
      <p:sp>
        <p:nvSpPr>
          <p:cNvPr id="8" name="Shape 5"/>
          <p:cNvSpPr/>
          <p:nvPr/>
        </p:nvSpPr>
        <p:spPr>
          <a:xfrm>
            <a:off x="9509760" y="1280160"/>
            <a:ext cx="1097280" cy="1097280"/>
          </a:xfrm>
          <a:prstGeom prst="ellipse">
            <a:avLst/>
          </a:prstGeom>
          <a:solidFill>
            <a:srgbClr val="004AAD"/>
          </a:solidFill>
          <a:ln w="12700">
            <a:solidFill>
              <a:srgbClr val="004AAD"/>
            </a:solidFill>
            <a:prstDash val="solid"/>
          </a:ln>
        </p:spPr>
      </p:sp>
      <p:pic>
        <p:nvPicPr>
          <p:cNvPr id="9" name="Image 1" descr="preencoded.png">    </p:cNvPr>
          <p:cNvPicPr>
            <a:picLocks noChangeAspect="1"/>
          </p:cNvPicPr>
          <p:nvPr/>
        </p:nvPicPr>
        <p:blipFill>
          <a:blip r:embed="rId2"/>
          <a:stretch>
            <a:fillRect/>
          </a:stretch>
        </p:blipFill>
        <p:spPr>
          <a:xfrm>
            <a:off x="9795053" y="1565453"/>
            <a:ext cx="526694" cy="526694"/>
          </a:xfrm>
          <a:prstGeom prst="rect">
            <a:avLst/>
          </a:prstGeom>
        </p:spPr>
      </p:pic>
      <p:sp>
        <p:nvSpPr>
          <p:cNvPr id="10" name="Shape 6"/>
          <p:cNvSpPr/>
          <p:nvPr/>
        </p:nvSpPr>
        <p:spPr>
          <a:xfrm>
            <a:off x="9509760" y="2834640"/>
            <a:ext cx="1097280" cy="1097280"/>
          </a:xfrm>
          <a:prstGeom prst="ellipse">
            <a:avLst/>
          </a:prstGeom>
          <a:solidFill>
            <a:srgbClr val="1B75BB"/>
          </a:solidFill>
          <a:ln w="12700">
            <a:solidFill>
              <a:srgbClr val="1B75BB"/>
            </a:solidFill>
            <a:prstDash val="solid"/>
          </a:ln>
        </p:spPr>
      </p:sp>
      <p:pic>
        <p:nvPicPr>
          <p:cNvPr id="11" name="Image 2" descr="preencoded.png">    </p:cNvPr>
          <p:cNvPicPr>
            <a:picLocks noChangeAspect="1"/>
          </p:cNvPicPr>
          <p:nvPr/>
        </p:nvPicPr>
        <p:blipFill>
          <a:blip r:embed="rId3"/>
          <a:stretch>
            <a:fillRect/>
          </a:stretch>
        </p:blipFill>
        <p:spPr>
          <a:xfrm>
            <a:off x="9795053" y="3119933"/>
            <a:ext cx="526694" cy="526694"/>
          </a:xfrm>
          <a:prstGeom prst="rect">
            <a:avLst/>
          </a:prstGeom>
        </p:spPr>
      </p:pic>
      <p:sp>
        <p:nvSpPr>
          <p:cNvPr id="12" name="Shape 7"/>
          <p:cNvSpPr/>
          <p:nvPr/>
        </p:nvSpPr>
        <p:spPr>
          <a:xfrm>
            <a:off x="9509760" y="4389120"/>
            <a:ext cx="1097280" cy="1097280"/>
          </a:xfrm>
          <a:prstGeom prst="ellipse">
            <a:avLst/>
          </a:prstGeom>
          <a:solidFill>
            <a:srgbClr val="FF5757"/>
          </a:solidFill>
          <a:ln w="12700">
            <a:solidFill>
              <a:srgbClr val="FF5757"/>
            </a:solidFill>
            <a:prstDash val="solid"/>
          </a:ln>
        </p:spPr>
      </p:sp>
      <p:pic>
        <p:nvPicPr>
          <p:cNvPr id="13" name="Image 3" descr="preencoded.png">    </p:cNvPr>
          <p:cNvPicPr>
            <a:picLocks noChangeAspect="1"/>
          </p:cNvPicPr>
          <p:nvPr/>
        </p:nvPicPr>
        <p:blipFill>
          <a:blip r:embed="rId4"/>
          <a:stretch>
            <a:fillRect/>
          </a:stretch>
        </p:blipFill>
        <p:spPr>
          <a:xfrm>
            <a:off x="9795053" y="4674413"/>
            <a:ext cx="526694" cy="52669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Secure UART Communication System</dc:title>
  <dc:subject>PptxGenJS Presentation</dc:subject>
  <dc:creator>Mina Moawad, Mohammed Afifi, Hoda Ayman</dc:creator>
  <cp:lastModifiedBy>Mina Moawad, Mohammed Afifi, Hoda Ayman</cp:lastModifiedBy>
  <cp:revision>1</cp:revision>
  <dcterms:created xsi:type="dcterms:W3CDTF">2026-09-21T20:35:33Z</dcterms:created>
  <dcterms:modified xsi:type="dcterms:W3CDTF">2026-09-21T20:35:33Z</dcterms:modified>
</cp:coreProperties>
</file>